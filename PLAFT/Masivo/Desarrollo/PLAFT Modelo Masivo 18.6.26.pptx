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8" r:id="rId2"/>
    <p:sldId id="261" r:id="rId3"/>
    <p:sldId id="266" r:id="rId4"/>
    <p:sldId id="352" r:id="rId5"/>
    <p:sldId id="357" r:id="rId6"/>
    <p:sldId id="341" r:id="rId7"/>
    <p:sldId id="353" r:id="rId8"/>
    <p:sldId id="354" r:id="rId9"/>
    <p:sldId id="355" r:id="rId10"/>
    <p:sldId id="356" r:id="rId1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C95C56-3781-4C23-8681-1D5343091698}" v="72" dt="2026-06-16T12:59:48.428"/>
    <p1510:client id="{8C43C971-8ABA-4407-9C6B-D04E2C106F06}" v="6" dt="2026-06-16T17:47:38.974"/>
    <p1510:client id="{D9CFB8E2-F04F-4295-B999-72E255AC8B98}" v="4" dt="2026-06-16T19:52:56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BD727-AA33-460D-BEB3-1016E3EC1957}" type="datetimeFigureOut">
              <a:rPr lang="es-PE" smtClean="0"/>
              <a:t>22/06/2026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84EEA0-70A4-4E27-A122-D3DB103B40E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41457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4EEA0-70A4-4E27-A122-D3DB103B40E2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88946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59503-6C8B-44A5-3611-8185AEAD6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243A2-F66A-8C00-4A34-54E34FB24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59DEEA-F067-9CF9-9306-796289EF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22/06/2026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BBC394-5172-265C-DC52-010D72EB6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20AC0F-D013-7827-1C7A-4761EF8D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0447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3F9D7-6FA6-F620-0202-8C6EACB0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182EF1-8A4A-7591-993E-82D24D28C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DFF2A2-A7CC-E5B1-FD28-D6B401FE4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22/06/2026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C64B74-BCCA-A11E-82F1-422D50D87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D8213A-9931-01F4-1353-1C06C7D9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0868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24ABF-0D6D-47F9-19B4-4F3F4647B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616FA9-2C3F-24BF-B5EB-E401ECF0C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43069B-5893-D37A-A7FF-A8F90A3D2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22/06/2026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0A7D7A-8306-257C-2D86-304257DB9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B9DF20-3A78-B65D-3588-8C3B5D29F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9646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92E7C3-61A7-9C16-0E03-C80B87AA5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AD42D5-8EFB-214F-619A-00A076255E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B33AC89-21D2-61F2-94F7-58E872796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1576E3-FD65-699E-81BE-0B180C278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22/06/2026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9F2418-1C3F-27B4-7AE2-DC83BF5A2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28AB4D-CA65-48B2-B227-26D44A2C0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7208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F2DF56-1CF7-A732-F445-D0D01A1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4C3D7F-974F-1982-966F-F5F020413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7268664-D1B1-634B-BE32-B0647B86A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25515F-90BF-D9F9-6877-4B96AC51E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13DBD96-3198-FE6E-7A23-515E61F38B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35C9B4C-B8BE-50A0-C3A1-21D999EC1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22/06/2026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1F67092-81DC-1E40-3C8E-B17D5A27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4B4204-C0B0-82B4-E420-2B7E9BC81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68209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BBDFB-CC80-31DE-5F57-63A909FBD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647C40B-E215-88C0-ADFB-0ED120D95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22/06/2026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7A33F6C-C2A5-5A3F-9E69-7ABD9348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DAB3F2F-1B99-C132-80C2-5C167181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752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4176BDE-0A28-59FC-C850-8BB3B2571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22/06/2026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3F0F8DE-1BE4-D543-CBFB-9B1085FA8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B388FE-A273-DFC0-7813-409178FE3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21882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225F2-792E-ECCA-9ED9-11D5F0E1E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373735-77CB-6B0A-C0D2-84209D74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AE4961-2189-4FB8-C38C-969101CAE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D299DA-F886-8E91-0C37-E5D40BAA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22/06/2026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09A86-37D8-5EE6-06CD-4F92389A2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0ABE0B-5097-31D0-B42E-8E4273DCF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26781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1A9C6-3456-84EF-0FF5-747956D5E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C2FF5AF-112D-4805-657E-9BCD8C5DE0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6D4211-59E0-EF36-E688-21886D071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3A9CBE-EFF1-9AC5-8449-A5017CC6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22/06/2026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8744A4-904D-7EFD-3DCB-D6C57777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18FE0E-858E-BB6D-C00E-8CF613635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2580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80240A-E99B-A679-FEAC-B1B4BEA3C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F9A97A6-B8A8-D6AC-667B-DE4A2CD73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F5DCC5-FDDA-86F5-BAA2-E7F42E33D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22/06/2026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892C93-B332-97CA-A5ED-FABF5663D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7AF25-0D59-445C-C938-69F11379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16645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8423A1-DC73-A023-5FC5-0952CC85FC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1D2F22-04EF-E8E4-BB4C-66CC08E9C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766A14-48CE-767C-3209-4173A4332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22/06/2026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9C5091-1D6B-80FF-FFF7-0A3B30C9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8FFBE9-F851-C4A7-6DBC-E0D6CE74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759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_ver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51A84-9BB3-7C26-A4CA-CF46567D57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38400"/>
            <a:ext cx="9144000" cy="1905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r>
              <a:rPr lang="es-ES" dirty="0"/>
              <a:t>Títulos</a:t>
            </a:r>
            <a:endParaRPr lang="es-PE" dirty="0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2A5C5461-7945-A1EC-B771-683D8FE508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375" y="460375"/>
            <a:ext cx="460375" cy="46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478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3058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54102EA-B88B-C557-C9BD-36CBF1553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9F1AEF-C21D-6D0E-CEED-161CA903C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260B8C-B8AA-49BE-D14C-A3945EDA5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F753FD-DA10-4A11-B2BC-335A50143F0B}" type="datetimeFigureOut">
              <a:rPr lang="es-PE" smtClean="0"/>
              <a:t>22/06/2026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4C335D-33BD-6129-48BB-80FBE186EC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9F4EEE-DCFE-AE54-7C8A-1DF29C1CB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42083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microsoft.com/office/2007/relationships/hdphoto" Target="../media/hdphoto1.wdp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microsoft.com/office/2007/relationships/hdphoto" Target="../media/hdphoto1.wdp"/><Relationship Id="rId9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F6812-5402-9C8F-2AC8-AD5925584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106706"/>
            <a:ext cx="10479741" cy="1905000"/>
          </a:xfrm>
        </p:spPr>
        <p:txBody>
          <a:bodyPr>
            <a:normAutofit fontScale="90000"/>
          </a:bodyPr>
          <a:lstStyle/>
          <a:p>
            <a:r>
              <a:rPr lang="es-MX" dirty="0">
                <a:solidFill>
                  <a:schemeClr val="bg1"/>
                </a:solidFill>
              </a:rPr>
              <a:t>Modelo predictivo PLAFT </a:t>
            </a:r>
            <a:br>
              <a:rPr lang="es-MX" dirty="0"/>
            </a:br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51DE468-A161-DF96-A07E-25D86E37ADCD}"/>
              </a:ext>
            </a:extLst>
          </p:cNvPr>
          <p:cNvSpPr txBox="1"/>
          <p:nvPr/>
        </p:nvSpPr>
        <p:spPr>
          <a:xfrm>
            <a:off x="1102659" y="3136612"/>
            <a:ext cx="95655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Segmento PN Masivo</a:t>
            </a:r>
            <a:endParaRPr lang="es-PE" sz="3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C942764-A464-E93E-96D8-EE2534E137F1}"/>
              </a:ext>
            </a:extLst>
          </p:cNvPr>
          <p:cNvSpPr txBox="1"/>
          <p:nvPr/>
        </p:nvSpPr>
        <p:spPr>
          <a:xfrm>
            <a:off x="-89114" y="487233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Junio 2026</a:t>
            </a:r>
            <a:endParaRPr lang="es-PE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717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FC4F-CB3C-C36D-EBCC-3FEC674C3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Rectángulo">
            <a:extLst>
              <a:ext uri="{FF2B5EF4-FFF2-40B4-BE49-F238E27FC236}">
                <a16:creationId xmlns:a16="http://schemas.microsoft.com/office/drawing/2014/main" id="{BCD2F6F6-B823-426A-DB3A-54BE9717179A}"/>
              </a:ext>
            </a:extLst>
          </p:cNvPr>
          <p:cNvSpPr/>
          <p:nvPr/>
        </p:nvSpPr>
        <p:spPr>
          <a:xfrm>
            <a:off x="4268656" y="1001855"/>
            <a:ext cx="4121116" cy="504000"/>
          </a:xfrm>
          <a:prstGeom prst="rect">
            <a:avLst/>
          </a:prstGeom>
          <a:solidFill>
            <a:srgbClr val="00D03C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465" tIns="34289" rIns="68465" bIns="34289" rtlCol="0" anchor="ctr"/>
          <a:lstStyle/>
          <a:p>
            <a:pPr marL="0" marR="0" lvl="0" indent="0" algn="ctr" defTabSz="6844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Resultados</a:t>
            </a:r>
          </a:p>
        </p:txBody>
      </p:sp>
      <p:sp>
        <p:nvSpPr>
          <p:cNvPr id="3" name="10 Rectángulo">
            <a:extLst>
              <a:ext uri="{FF2B5EF4-FFF2-40B4-BE49-F238E27FC236}">
                <a16:creationId xmlns:a16="http://schemas.microsoft.com/office/drawing/2014/main" id="{EAFB92FD-8A4E-7B15-6B45-A9F3DA767D40}"/>
              </a:ext>
            </a:extLst>
          </p:cNvPr>
          <p:cNvSpPr/>
          <p:nvPr/>
        </p:nvSpPr>
        <p:spPr>
          <a:xfrm>
            <a:off x="4279861" y="1540968"/>
            <a:ext cx="4121116" cy="457279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t" anchorCtr="0"/>
          <a:lstStyle/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,Sans-Serif"/>
              <a:buChar char="•"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Arial"/>
            </a:endParaRPr>
          </a:p>
        </p:txBody>
      </p:sp>
      <p:sp>
        <p:nvSpPr>
          <p:cNvPr id="4" name="8 Rectángulo">
            <a:extLst>
              <a:ext uri="{FF2B5EF4-FFF2-40B4-BE49-F238E27FC236}">
                <a16:creationId xmlns:a16="http://schemas.microsoft.com/office/drawing/2014/main" id="{EBEF080C-ECB6-DC99-7B66-0CFC11C54B7F}"/>
              </a:ext>
            </a:extLst>
          </p:cNvPr>
          <p:cNvSpPr/>
          <p:nvPr/>
        </p:nvSpPr>
        <p:spPr>
          <a:xfrm>
            <a:off x="8501499" y="990120"/>
            <a:ext cx="3602480" cy="504000"/>
          </a:xfrm>
          <a:prstGeom prst="rect">
            <a:avLst/>
          </a:prstGeom>
          <a:solidFill>
            <a:srgbClr val="00D03C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465" tIns="34289" rIns="68465" bIns="34289" rtlCol="0" anchor="ctr"/>
          <a:lstStyle/>
          <a:p>
            <a:pPr marL="0" marR="0" lvl="0" indent="0" algn="ctr" defTabSz="6844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Limitaciones</a:t>
            </a:r>
          </a:p>
        </p:txBody>
      </p:sp>
      <p:sp>
        <p:nvSpPr>
          <p:cNvPr id="8" name="Rectángulo 1041">
            <a:extLst>
              <a:ext uri="{FF2B5EF4-FFF2-40B4-BE49-F238E27FC236}">
                <a16:creationId xmlns:a16="http://schemas.microsoft.com/office/drawing/2014/main" id="{5E3088B0-09BD-74A0-80B5-F92262D4169B}"/>
              </a:ext>
            </a:extLst>
          </p:cNvPr>
          <p:cNvSpPr/>
          <p:nvPr/>
        </p:nvSpPr>
        <p:spPr>
          <a:xfrm>
            <a:off x="4998041" y="2048025"/>
            <a:ext cx="1523241" cy="276999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 pitchFamily="34" charset="0"/>
                <a:ea typeface="Geometria" panose="020B0503020204020204" pitchFamily="34" charset="0"/>
                <a:cs typeface="+mn-cs"/>
              </a:rPr>
              <a:t>Entrenamiento</a:t>
            </a:r>
            <a:endParaRPr kumimoji="0" lang="es-PE" sz="1400" b="0" i="0" u="none" strike="noStrike" kern="1200" cap="none" spc="0" normalizeH="0" baseline="0" noProof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 panose="020B05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9" name="Rectángulo: una sola esquina redondeada 1042">
            <a:extLst>
              <a:ext uri="{FF2B5EF4-FFF2-40B4-BE49-F238E27FC236}">
                <a16:creationId xmlns:a16="http://schemas.microsoft.com/office/drawing/2014/main" id="{D87B1B9F-A9BB-2D8D-09E7-49F6B1C3D653}"/>
              </a:ext>
            </a:extLst>
          </p:cNvPr>
          <p:cNvSpPr/>
          <p:nvPr/>
        </p:nvSpPr>
        <p:spPr>
          <a:xfrm>
            <a:off x="4966892" y="2050619"/>
            <a:ext cx="45719" cy="274714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Elipse 1043">
            <a:extLst>
              <a:ext uri="{FF2B5EF4-FFF2-40B4-BE49-F238E27FC236}">
                <a16:creationId xmlns:a16="http://schemas.microsoft.com/office/drawing/2014/main" id="{7F25ADEC-B119-C849-EBFF-58646A047BA9}"/>
              </a:ext>
            </a:extLst>
          </p:cNvPr>
          <p:cNvSpPr/>
          <p:nvPr/>
        </p:nvSpPr>
        <p:spPr>
          <a:xfrm>
            <a:off x="6577646" y="2096414"/>
            <a:ext cx="146295" cy="14462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7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Conector recto 1045">
            <a:extLst>
              <a:ext uri="{FF2B5EF4-FFF2-40B4-BE49-F238E27FC236}">
                <a16:creationId xmlns:a16="http://schemas.microsoft.com/office/drawing/2014/main" id="{47C8ADAE-8A95-D791-E502-7A050A6C92D3}"/>
              </a:ext>
            </a:extLst>
          </p:cNvPr>
          <p:cNvCxnSpPr>
            <a:cxnSpLocks/>
          </p:cNvCxnSpPr>
          <p:nvPr/>
        </p:nvCxnSpPr>
        <p:spPr>
          <a:xfrm flipV="1">
            <a:off x="6723941" y="2166796"/>
            <a:ext cx="261708" cy="1932"/>
          </a:xfrm>
          <a:prstGeom prst="lin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Freeform 29">
            <a:extLst>
              <a:ext uri="{FF2B5EF4-FFF2-40B4-BE49-F238E27FC236}">
                <a16:creationId xmlns:a16="http://schemas.microsoft.com/office/drawing/2014/main" id="{209297FD-E522-B3D7-4E80-2460D59BD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9008" y="1562307"/>
            <a:ext cx="718513" cy="897158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lIns="34290" tIns="17145" rIns="34290" bIns="17145" anchor="ctr"/>
          <a:lstStyle>
            <a:defPPr>
              <a:defRPr lang="ru-RU"/>
            </a:defPPr>
            <a:lvl1pPr marL="0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09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017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526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034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543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051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0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069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CuadroTexto 1063">
            <a:extLst>
              <a:ext uri="{FF2B5EF4-FFF2-40B4-BE49-F238E27FC236}">
                <a16:creationId xmlns:a16="http://schemas.microsoft.com/office/drawing/2014/main" id="{393805AA-74B1-4A36-7D36-1CC08FB7CFAF}"/>
              </a:ext>
            </a:extLst>
          </p:cNvPr>
          <p:cNvSpPr txBox="1"/>
          <p:nvPr/>
        </p:nvSpPr>
        <p:spPr>
          <a:xfrm>
            <a:off x="6919246" y="1984074"/>
            <a:ext cx="106572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000" b="1" dirty="0">
                <a:solidFill>
                  <a:srgbClr val="08BD4F"/>
                </a:solidFill>
                <a:latin typeface="Geometria Medium"/>
                <a:ea typeface="Geometria" panose="020B0503020204020204" pitchFamily="34" charset="0"/>
              </a:rPr>
              <a:t>50</a:t>
            </a: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08BD4F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%</a:t>
            </a: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srgbClr val="08BD4F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37" name="Rectángulo 1065">
            <a:extLst>
              <a:ext uri="{FF2B5EF4-FFF2-40B4-BE49-F238E27FC236}">
                <a16:creationId xmlns:a16="http://schemas.microsoft.com/office/drawing/2014/main" id="{E0705B27-F8F0-A21A-697C-22EC3398E073}"/>
              </a:ext>
            </a:extLst>
          </p:cNvPr>
          <p:cNvSpPr/>
          <p:nvPr/>
        </p:nvSpPr>
        <p:spPr>
          <a:xfrm>
            <a:off x="4998041" y="2871927"/>
            <a:ext cx="1523241" cy="40011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/>
                <a:ea typeface="Geometria" panose="020B0503020204020204" pitchFamily="34" charset="0"/>
                <a:cs typeface="+mn-cs"/>
              </a:rPr>
              <a:t>Backtest</a:t>
            </a:r>
            <a:b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metria" panose="020B0503020204020204" pitchFamily="34" charset="0"/>
                <a:ea typeface="Geometria" panose="020B0503020204020204" pitchFamily="34" charset="0"/>
                <a:cs typeface="+mn-cs"/>
              </a:rPr>
            </a:b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/>
                <a:ea typeface="Geometria" panose="020B0503020204020204" pitchFamily="34" charset="0"/>
                <a:cs typeface="+mn-cs"/>
              </a:rPr>
              <a:t>(3 meses OOT)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38" name="Rectángulo: una sola esquina redondeada 1066">
            <a:extLst>
              <a:ext uri="{FF2B5EF4-FFF2-40B4-BE49-F238E27FC236}">
                <a16:creationId xmlns:a16="http://schemas.microsoft.com/office/drawing/2014/main" id="{165E4A05-4953-DFC8-7576-CF93848806D6}"/>
              </a:ext>
            </a:extLst>
          </p:cNvPr>
          <p:cNvSpPr/>
          <p:nvPr/>
        </p:nvSpPr>
        <p:spPr>
          <a:xfrm>
            <a:off x="4966892" y="2874521"/>
            <a:ext cx="45719" cy="396000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Elipse 1067">
            <a:extLst>
              <a:ext uri="{FF2B5EF4-FFF2-40B4-BE49-F238E27FC236}">
                <a16:creationId xmlns:a16="http://schemas.microsoft.com/office/drawing/2014/main" id="{E569392C-11D0-874E-9781-02B6E1272007}"/>
              </a:ext>
            </a:extLst>
          </p:cNvPr>
          <p:cNvSpPr/>
          <p:nvPr/>
        </p:nvSpPr>
        <p:spPr>
          <a:xfrm>
            <a:off x="6569309" y="2993526"/>
            <a:ext cx="146295" cy="14462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7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" name="Conector recto 1068">
            <a:extLst>
              <a:ext uri="{FF2B5EF4-FFF2-40B4-BE49-F238E27FC236}">
                <a16:creationId xmlns:a16="http://schemas.microsoft.com/office/drawing/2014/main" id="{C5505928-1EC6-C1F1-F2F3-3E31C5ABE086}"/>
              </a:ext>
            </a:extLst>
          </p:cNvPr>
          <p:cNvCxnSpPr>
            <a:cxnSpLocks/>
          </p:cNvCxnSpPr>
          <p:nvPr/>
        </p:nvCxnSpPr>
        <p:spPr>
          <a:xfrm flipV="1">
            <a:off x="6715604" y="3063383"/>
            <a:ext cx="234933" cy="2457"/>
          </a:xfrm>
          <a:prstGeom prst="lin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Freeform 29">
            <a:extLst>
              <a:ext uri="{FF2B5EF4-FFF2-40B4-BE49-F238E27FC236}">
                <a16:creationId xmlns:a16="http://schemas.microsoft.com/office/drawing/2014/main" id="{20EE96FE-90F9-8F03-9FDF-1E6C47913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3642" y="2568283"/>
            <a:ext cx="389242" cy="411403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lIns="34290" tIns="17145" rIns="34290" bIns="17145" anchor="ctr"/>
          <a:lstStyle>
            <a:defPPr>
              <a:defRPr lang="ru-RU"/>
            </a:defPPr>
            <a:lvl1pPr marL="0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09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017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526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034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543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051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0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069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CuadroTexto 1081">
            <a:extLst>
              <a:ext uri="{FF2B5EF4-FFF2-40B4-BE49-F238E27FC236}">
                <a16:creationId xmlns:a16="http://schemas.microsoft.com/office/drawing/2014/main" id="{40DAA150-0A69-2C31-DA51-64DF4FD138E4}"/>
              </a:ext>
            </a:extLst>
          </p:cNvPr>
          <p:cNvSpPr txBox="1"/>
          <p:nvPr/>
        </p:nvSpPr>
        <p:spPr>
          <a:xfrm>
            <a:off x="6920447" y="2893681"/>
            <a:ext cx="106572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solidFill>
                  <a:srgbClr val="08BD4F"/>
                </a:solidFill>
                <a:latin typeface="Geometria Medium"/>
              </a:rPr>
              <a:t>52</a:t>
            </a: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08BD4F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%</a:t>
            </a: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srgbClr val="08BD4F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43" name="Rectángulo 1082">
            <a:extLst>
              <a:ext uri="{FF2B5EF4-FFF2-40B4-BE49-F238E27FC236}">
                <a16:creationId xmlns:a16="http://schemas.microsoft.com/office/drawing/2014/main" id="{E8838777-1D63-0D7F-4BF0-FA550DB25A82}"/>
              </a:ext>
            </a:extLst>
          </p:cNvPr>
          <p:cNvSpPr/>
          <p:nvPr/>
        </p:nvSpPr>
        <p:spPr>
          <a:xfrm>
            <a:off x="4916066" y="3411368"/>
            <a:ext cx="286403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 w="0"/>
                <a:solidFill>
                  <a:srgbClr val="196B2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Poppins"/>
                <a:ea typeface="+mn-ea"/>
                <a:cs typeface="Poppins"/>
              </a:rPr>
              <a:t>Calidad</a:t>
            </a:r>
            <a:r>
              <a:rPr kumimoji="0" lang="es-ES" sz="2400" b="0" i="0" u="none" strike="noStrike" kern="1200" cap="none" spc="0" normalizeH="0" baseline="0" noProof="0" dirty="0">
                <a:ln w="0"/>
                <a:solidFill>
                  <a:srgbClr val="08BD4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Poppins"/>
                <a:ea typeface="+mn-ea"/>
                <a:cs typeface="Poppins"/>
              </a:rPr>
              <a:t> Satisfactorio</a:t>
            </a:r>
          </a:p>
        </p:txBody>
      </p:sp>
      <p:sp>
        <p:nvSpPr>
          <p:cNvPr id="56" name="Rectángulo 1130">
            <a:extLst>
              <a:ext uri="{FF2B5EF4-FFF2-40B4-BE49-F238E27FC236}">
                <a16:creationId xmlns:a16="http://schemas.microsoft.com/office/drawing/2014/main" id="{F5F502F5-2FEF-DAAA-F597-7B2AA5932CEA}"/>
              </a:ext>
            </a:extLst>
          </p:cNvPr>
          <p:cNvSpPr/>
          <p:nvPr/>
        </p:nvSpPr>
        <p:spPr>
          <a:xfrm>
            <a:off x="4476726" y="4309797"/>
            <a:ext cx="299312" cy="1545661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 pitchFamily="34" charset="0"/>
                <a:ea typeface="Geometria" panose="020B0503020204020204" pitchFamily="34" charset="0"/>
                <a:cs typeface="+mn-cs"/>
              </a:rPr>
              <a:t>Fuentes</a:t>
            </a:r>
            <a:endParaRPr kumimoji="0" lang="es-PE" sz="1100" b="0" i="0" u="none" strike="noStrike" kern="1200" cap="none" spc="0" normalizeH="0" baseline="0" noProof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 panose="020B05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57" name="Rectángulo: una sola esquina redondeada 1131">
            <a:extLst>
              <a:ext uri="{FF2B5EF4-FFF2-40B4-BE49-F238E27FC236}">
                <a16:creationId xmlns:a16="http://schemas.microsoft.com/office/drawing/2014/main" id="{FF65305D-1D6A-1F9C-D5DA-D1D534B92985}"/>
              </a:ext>
            </a:extLst>
          </p:cNvPr>
          <p:cNvSpPr/>
          <p:nvPr/>
        </p:nvSpPr>
        <p:spPr>
          <a:xfrm>
            <a:off x="4443036" y="4334797"/>
            <a:ext cx="45719" cy="1538844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ángulo 1132">
            <a:extLst>
              <a:ext uri="{FF2B5EF4-FFF2-40B4-BE49-F238E27FC236}">
                <a16:creationId xmlns:a16="http://schemas.microsoft.com/office/drawing/2014/main" id="{7179425D-AE03-30B5-63BF-FE55DC1A7D7D}"/>
              </a:ext>
            </a:extLst>
          </p:cNvPr>
          <p:cNvSpPr/>
          <p:nvPr/>
        </p:nvSpPr>
        <p:spPr>
          <a:xfrm>
            <a:off x="4393427" y="3981703"/>
            <a:ext cx="3886542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ángulo 2">
            <a:extLst>
              <a:ext uri="{FF2B5EF4-FFF2-40B4-BE49-F238E27FC236}">
                <a16:creationId xmlns:a16="http://schemas.microsoft.com/office/drawing/2014/main" id="{CE8E92A9-95C9-CD93-F340-BB560F67F437}"/>
              </a:ext>
            </a:extLst>
          </p:cNvPr>
          <p:cNvSpPr/>
          <p:nvPr/>
        </p:nvSpPr>
        <p:spPr>
          <a:xfrm>
            <a:off x="351642" y="4940089"/>
            <a:ext cx="3607787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ectángulo: una sola esquina redondeada 3">
            <a:extLst>
              <a:ext uri="{FF2B5EF4-FFF2-40B4-BE49-F238E27FC236}">
                <a16:creationId xmlns:a16="http://schemas.microsoft.com/office/drawing/2014/main" id="{0338B31E-F684-A1CB-4AC8-6DB62966432A}"/>
              </a:ext>
            </a:extLst>
          </p:cNvPr>
          <p:cNvSpPr/>
          <p:nvPr/>
        </p:nvSpPr>
        <p:spPr>
          <a:xfrm>
            <a:off x="293262" y="4944830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ángulo 9">
            <a:extLst>
              <a:ext uri="{FF2B5EF4-FFF2-40B4-BE49-F238E27FC236}">
                <a16:creationId xmlns:a16="http://schemas.microsoft.com/office/drawing/2014/main" id="{5108C851-3D00-F36E-1F1A-84AC3AB345F0}"/>
              </a:ext>
            </a:extLst>
          </p:cNvPr>
          <p:cNvSpPr/>
          <p:nvPr/>
        </p:nvSpPr>
        <p:spPr>
          <a:xfrm>
            <a:off x="352473" y="3826206"/>
            <a:ext cx="3607787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ángulo: una sola esquina redondeada 14">
            <a:extLst>
              <a:ext uri="{FF2B5EF4-FFF2-40B4-BE49-F238E27FC236}">
                <a16:creationId xmlns:a16="http://schemas.microsoft.com/office/drawing/2014/main" id="{9CD414C7-B4FD-AC80-99F1-F0FCB1984161}"/>
              </a:ext>
            </a:extLst>
          </p:cNvPr>
          <p:cNvSpPr/>
          <p:nvPr/>
        </p:nvSpPr>
        <p:spPr>
          <a:xfrm>
            <a:off x="294093" y="3830947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ángulo 15">
            <a:extLst>
              <a:ext uri="{FF2B5EF4-FFF2-40B4-BE49-F238E27FC236}">
                <a16:creationId xmlns:a16="http://schemas.microsoft.com/office/drawing/2014/main" id="{62B41E9B-5674-5CA5-198B-0100E5C0247C}"/>
              </a:ext>
            </a:extLst>
          </p:cNvPr>
          <p:cNvSpPr/>
          <p:nvPr/>
        </p:nvSpPr>
        <p:spPr>
          <a:xfrm>
            <a:off x="352473" y="2692022"/>
            <a:ext cx="3607787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Rectángulo: una sola esquina redondeada 16">
            <a:extLst>
              <a:ext uri="{FF2B5EF4-FFF2-40B4-BE49-F238E27FC236}">
                <a16:creationId xmlns:a16="http://schemas.microsoft.com/office/drawing/2014/main" id="{A1579D2D-40AC-A94D-A6A6-EA996C52B12E}"/>
              </a:ext>
            </a:extLst>
          </p:cNvPr>
          <p:cNvSpPr/>
          <p:nvPr/>
        </p:nvSpPr>
        <p:spPr>
          <a:xfrm>
            <a:off x="294093" y="2696763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ángulo 17">
            <a:extLst>
              <a:ext uri="{FF2B5EF4-FFF2-40B4-BE49-F238E27FC236}">
                <a16:creationId xmlns:a16="http://schemas.microsoft.com/office/drawing/2014/main" id="{63222806-F663-9A19-D2DE-89676C0C4369}"/>
              </a:ext>
            </a:extLst>
          </p:cNvPr>
          <p:cNvSpPr/>
          <p:nvPr/>
        </p:nvSpPr>
        <p:spPr>
          <a:xfrm>
            <a:off x="361167" y="1576816"/>
            <a:ext cx="3607787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9 Rectángulo">
            <a:extLst>
              <a:ext uri="{FF2B5EF4-FFF2-40B4-BE49-F238E27FC236}">
                <a16:creationId xmlns:a16="http://schemas.microsoft.com/office/drawing/2014/main" id="{6A6AEF72-7742-ABB9-94D5-FDCA25C9E35C}"/>
              </a:ext>
            </a:extLst>
          </p:cNvPr>
          <p:cNvSpPr/>
          <p:nvPr/>
        </p:nvSpPr>
        <p:spPr>
          <a:xfrm>
            <a:off x="111184" y="1001855"/>
            <a:ext cx="3935913" cy="504000"/>
          </a:xfrm>
          <a:prstGeom prst="rect">
            <a:avLst/>
          </a:prstGeom>
          <a:solidFill>
            <a:srgbClr val="00D03C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lIns="68465" tIns="34289" rIns="68465" bIns="34289" rtlCol="0" anchor="ctr"/>
          <a:lstStyle/>
          <a:p>
            <a:pPr marL="0" marR="0" lvl="0" indent="0" algn="ctr" defTabSz="684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Ficha técnica</a:t>
            </a:r>
          </a:p>
        </p:txBody>
      </p:sp>
      <p:sp>
        <p:nvSpPr>
          <p:cNvPr id="67" name="11 Rectángulo">
            <a:extLst>
              <a:ext uri="{FF2B5EF4-FFF2-40B4-BE49-F238E27FC236}">
                <a16:creationId xmlns:a16="http://schemas.microsoft.com/office/drawing/2014/main" id="{69A0932F-6F3C-52E8-06EB-2B2BEDF82C89}"/>
              </a:ext>
            </a:extLst>
          </p:cNvPr>
          <p:cNvSpPr/>
          <p:nvPr/>
        </p:nvSpPr>
        <p:spPr>
          <a:xfrm>
            <a:off x="111184" y="1505853"/>
            <a:ext cx="3935913" cy="4561403"/>
          </a:xfrm>
          <a:prstGeom prst="rect">
            <a:avLst/>
          </a:prstGeom>
          <a:noFill/>
          <a:ln w="635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lIns="72000" tIns="0" rIns="72000" bIns="0" rtlCol="0" anchor="t" anchorCtr="0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CuadroTexto 21">
            <a:extLst>
              <a:ext uri="{FF2B5EF4-FFF2-40B4-BE49-F238E27FC236}">
                <a16:creationId xmlns:a16="http://schemas.microsoft.com/office/drawing/2014/main" id="{4631C449-3939-54F4-D932-123A776851B1}"/>
              </a:ext>
            </a:extLst>
          </p:cNvPr>
          <p:cNvSpPr txBox="1"/>
          <p:nvPr/>
        </p:nvSpPr>
        <p:spPr>
          <a:xfrm>
            <a:off x="171671" y="2336915"/>
            <a:ext cx="1224000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120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 Bold"/>
                <a:ea typeface="+mn-ea"/>
                <a:cs typeface="Poppins Bold"/>
              </a:rPr>
              <a:t>Población</a:t>
            </a:r>
          </a:p>
        </p:txBody>
      </p:sp>
      <p:sp>
        <p:nvSpPr>
          <p:cNvPr id="69" name="Rectángulo 22">
            <a:extLst>
              <a:ext uri="{FF2B5EF4-FFF2-40B4-BE49-F238E27FC236}">
                <a16:creationId xmlns:a16="http://schemas.microsoft.com/office/drawing/2014/main" id="{4557B75D-5336-E4C1-6A16-06888320E89C}"/>
              </a:ext>
            </a:extLst>
          </p:cNvPr>
          <p:cNvSpPr/>
          <p:nvPr/>
        </p:nvSpPr>
        <p:spPr>
          <a:xfrm>
            <a:off x="1361640" y="1755548"/>
            <a:ext cx="20866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0" name="Rectángulo 23">
            <a:extLst>
              <a:ext uri="{FF2B5EF4-FFF2-40B4-BE49-F238E27FC236}">
                <a16:creationId xmlns:a16="http://schemas.microsoft.com/office/drawing/2014/main" id="{FB1949B7-66CD-D49D-780B-3C992781DF34}"/>
              </a:ext>
            </a:extLst>
          </p:cNvPr>
          <p:cNvSpPr/>
          <p:nvPr/>
        </p:nvSpPr>
        <p:spPr>
          <a:xfrm>
            <a:off x="1230287" y="1838301"/>
            <a:ext cx="2634056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Persona Natural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dirty="0">
                <a:solidFill>
                  <a:srgbClr val="0038A6"/>
                </a:solidFill>
                <a:latin typeface="Poppins"/>
                <a:cs typeface="Arial"/>
              </a:rPr>
              <a:t>Masivo</a:t>
            </a: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Arial"/>
            </a:endParaRPr>
          </a:p>
        </p:txBody>
      </p:sp>
      <p:pic>
        <p:nvPicPr>
          <p:cNvPr id="71" name="Picture 2" descr="Machine learning icon artificial intelligence Vector Image">
            <a:extLst>
              <a:ext uri="{FF2B5EF4-FFF2-40B4-BE49-F238E27FC236}">
                <a16:creationId xmlns:a16="http://schemas.microsoft.com/office/drawing/2014/main" id="{E49EB01D-928F-8A87-346A-7ED5FF6367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1" t="13144" r="18671" b="38124"/>
          <a:stretch/>
        </p:blipFill>
        <p:spPr bwMode="auto">
          <a:xfrm>
            <a:off x="508779" y="5105500"/>
            <a:ext cx="549784" cy="48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CuadroTexto 26">
            <a:extLst>
              <a:ext uri="{FF2B5EF4-FFF2-40B4-BE49-F238E27FC236}">
                <a16:creationId xmlns:a16="http://schemas.microsoft.com/office/drawing/2014/main" id="{ECFF0B6B-9EA8-064B-12CC-CE66F7466ADD}"/>
              </a:ext>
            </a:extLst>
          </p:cNvPr>
          <p:cNvSpPr txBox="1"/>
          <p:nvPr/>
        </p:nvSpPr>
        <p:spPr>
          <a:xfrm>
            <a:off x="216668" y="3306770"/>
            <a:ext cx="1116000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Variable Objetivo</a:t>
            </a:r>
          </a:p>
        </p:txBody>
      </p:sp>
      <p:pic>
        <p:nvPicPr>
          <p:cNvPr id="73" name="Gráfico 111" descr="Diana con relleno sólido">
            <a:extLst>
              <a:ext uri="{FF2B5EF4-FFF2-40B4-BE49-F238E27FC236}">
                <a16:creationId xmlns:a16="http://schemas.microsoft.com/office/drawing/2014/main" id="{98AEC450-B94F-8A3B-7EC4-8F430B602DCD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7769" y="2741420"/>
            <a:ext cx="596707" cy="596707"/>
          </a:xfrm>
          <a:prstGeom prst="rect">
            <a:avLst/>
          </a:prstGeom>
        </p:spPr>
      </p:pic>
      <p:sp>
        <p:nvSpPr>
          <p:cNvPr id="74" name="Rectángulo 29">
            <a:extLst>
              <a:ext uri="{FF2B5EF4-FFF2-40B4-BE49-F238E27FC236}">
                <a16:creationId xmlns:a16="http://schemas.microsoft.com/office/drawing/2014/main" id="{C336FFF2-4B5A-6BAE-EF57-8E50DFCC9C4F}"/>
              </a:ext>
            </a:extLst>
          </p:cNvPr>
          <p:cNvSpPr/>
          <p:nvPr/>
        </p:nvSpPr>
        <p:spPr>
          <a:xfrm>
            <a:off x="1190746" y="2891628"/>
            <a:ext cx="2673597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Horizonte en 30 días: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Alertas con riesgo identificadas por el equipo de monitoreo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Arial"/>
            </a:endParaRPr>
          </a:p>
        </p:txBody>
      </p:sp>
      <p:pic>
        <p:nvPicPr>
          <p:cNvPr id="75" name="Gráfico 30" descr="Hombre con relleno sólido">
            <a:extLst>
              <a:ext uri="{FF2B5EF4-FFF2-40B4-BE49-F238E27FC236}">
                <a16:creationId xmlns:a16="http://schemas.microsoft.com/office/drawing/2014/main" id="{6842244A-9A13-432F-6191-001F5CD723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235" y="1714205"/>
            <a:ext cx="641777" cy="641777"/>
          </a:xfrm>
          <a:prstGeom prst="rect">
            <a:avLst/>
          </a:prstGeom>
        </p:spPr>
      </p:pic>
      <p:sp>
        <p:nvSpPr>
          <p:cNvPr id="76" name="CuadroTexto 1143">
            <a:extLst>
              <a:ext uri="{FF2B5EF4-FFF2-40B4-BE49-F238E27FC236}">
                <a16:creationId xmlns:a16="http://schemas.microsoft.com/office/drawing/2014/main" id="{2A7DF34A-4018-42A6-68FF-0BE7F277D929}"/>
              </a:ext>
            </a:extLst>
          </p:cNvPr>
          <p:cNvSpPr txBox="1"/>
          <p:nvPr/>
        </p:nvSpPr>
        <p:spPr>
          <a:xfrm>
            <a:off x="255897" y="5626537"/>
            <a:ext cx="1161104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 Bold"/>
                <a:ea typeface="+mn-ea"/>
                <a:cs typeface="Poppins Bold"/>
              </a:rPr>
              <a:t>Metodología</a:t>
            </a:r>
          </a:p>
        </p:txBody>
      </p:sp>
      <p:sp>
        <p:nvSpPr>
          <p:cNvPr id="77" name="Rectángulo: una sola esquina redondeada 1144">
            <a:extLst>
              <a:ext uri="{FF2B5EF4-FFF2-40B4-BE49-F238E27FC236}">
                <a16:creationId xmlns:a16="http://schemas.microsoft.com/office/drawing/2014/main" id="{355ED737-1906-FF41-86D2-61853839D4D2}"/>
              </a:ext>
            </a:extLst>
          </p:cNvPr>
          <p:cNvSpPr/>
          <p:nvPr/>
        </p:nvSpPr>
        <p:spPr>
          <a:xfrm>
            <a:off x="302787" y="1581557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Rectángulo 1145">
            <a:extLst>
              <a:ext uri="{FF2B5EF4-FFF2-40B4-BE49-F238E27FC236}">
                <a16:creationId xmlns:a16="http://schemas.microsoft.com/office/drawing/2014/main" id="{9FF84BBC-E8AC-875E-40BD-1552629394BD}"/>
              </a:ext>
            </a:extLst>
          </p:cNvPr>
          <p:cNvSpPr/>
          <p:nvPr/>
        </p:nvSpPr>
        <p:spPr>
          <a:xfrm>
            <a:off x="1384911" y="5174949"/>
            <a:ext cx="2416541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Modelo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de Machine </a:t>
            </a: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Learning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XGBoost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79" name="CuadroTexto 42">
            <a:extLst>
              <a:ext uri="{FF2B5EF4-FFF2-40B4-BE49-F238E27FC236}">
                <a16:creationId xmlns:a16="http://schemas.microsoft.com/office/drawing/2014/main" id="{3D12C594-559F-DC31-67EF-80ABBEB2EAEE}"/>
              </a:ext>
            </a:extLst>
          </p:cNvPr>
          <p:cNvSpPr txBox="1"/>
          <p:nvPr/>
        </p:nvSpPr>
        <p:spPr>
          <a:xfrm>
            <a:off x="7097088" y="1575960"/>
            <a:ext cx="70246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Geometria" panose="020B0503020204020204" pitchFamily="34" charset="0"/>
                <a:cs typeface="Poppins"/>
              </a:rPr>
              <a:t>Gini</a:t>
            </a:r>
          </a:p>
        </p:txBody>
      </p:sp>
      <p:pic>
        <p:nvPicPr>
          <p:cNvPr id="80" name="Picture 75" descr="calendar-icon - BCSM">
            <a:extLst>
              <a:ext uri="{FF2B5EF4-FFF2-40B4-BE49-F238E27FC236}">
                <a16:creationId xmlns:a16="http://schemas.microsoft.com/office/drawing/2014/main" id="{20A2B342-FEF1-3D5C-2472-32335AB70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rgbClr val="08BD4F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42" y="3997257"/>
            <a:ext cx="459747" cy="459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CuadroTexto 62">
            <a:extLst>
              <a:ext uri="{FF2B5EF4-FFF2-40B4-BE49-F238E27FC236}">
                <a16:creationId xmlns:a16="http://schemas.microsoft.com/office/drawing/2014/main" id="{2A3C3E4F-CB8B-44E3-64C0-A72531B04EAF}"/>
              </a:ext>
            </a:extLst>
          </p:cNvPr>
          <p:cNvSpPr txBox="1"/>
          <p:nvPr/>
        </p:nvSpPr>
        <p:spPr>
          <a:xfrm>
            <a:off x="338285" y="4473120"/>
            <a:ext cx="89752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1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Periodos</a:t>
            </a:r>
          </a:p>
        </p:txBody>
      </p:sp>
      <p:sp>
        <p:nvSpPr>
          <p:cNvPr id="82" name="Rectángulo 66">
            <a:extLst>
              <a:ext uri="{FF2B5EF4-FFF2-40B4-BE49-F238E27FC236}">
                <a16:creationId xmlns:a16="http://schemas.microsoft.com/office/drawing/2014/main" id="{83E37E4F-29EE-43F9-81D9-B900B8AEA29E}"/>
              </a:ext>
            </a:extLst>
          </p:cNvPr>
          <p:cNvSpPr/>
          <p:nvPr/>
        </p:nvSpPr>
        <p:spPr>
          <a:xfrm>
            <a:off x="1486721" y="4092273"/>
            <a:ext cx="2168541" cy="56067"/>
          </a:xfrm>
          <a:prstGeom prst="rect">
            <a:avLst/>
          </a:prstGeom>
          <a:solidFill>
            <a:srgbClr val="08BD4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CuadroTexto 71">
            <a:extLst>
              <a:ext uri="{FF2B5EF4-FFF2-40B4-BE49-F238E27FC236}">
                <a16:creationId xmlns:a16="http://schemas.microsoft.com/office/drawing/2014/main" id="{AC1D00B8-42DB-1E13-5AA9-A31FABF7DE20}"/>
              </a:ext>
            </a:extLst>
          </p:cNvPr>
          <p:cNvSpPr txBox="1"/>
          <p:nvPr/>
        </p:nvSpPr>
        <p:spPr>
          <a:xfrm>
            <a:off x="1283638" y="4178411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Ene. 25</a:t>
            </a:r>
          </a:p>
        </p:txBody>
      </p:sp>
      <p:sp>
        <p:nvSpPr>
          <p:cNvPr id="85" name="CuadroTexto 75">
            <a:extLst>
              <a:ext uri="{FF2B5EF4-FFF2-40B4-BE49-F238E27FC236}">
                <a16:creationId xmlns:a16="http://schemas.microsoft.com/office/drawing/2014/main" id="{F7F0F150-A939-B44C-0AC1-3BEFFC8984F7}"/>
              </a:ext>
            </a:extLst>
          </p:cNvPr>
          <p:cNvSpPr txBox="1"/>
          <p:nvPr/>
        </p:nvSpPr>
        <p:spPr>
          <a:xfrm>
            <a:off x="1807071" y="4503006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Train</a:t>
            </a:r>
          </a:p>
        </p:txBody>
      </p:sp>
      <p:sp>
        <p:nvSpPr>
          <p:cNvPr id="86" name="Cerrar llave 76">
            <a:extLst>
              <a:ext uri="{FF2B5EF4-FFF2-40B4-BE49-F238E27FC236}">
                <a16:creationId xmlns:a16="http://schemas.microsoft.com/office/drawing/2014/main" id="{70089CB4-A939-4834-BE32-A3B6F056EC7D}"/>
              </a:ext>
            </a:extLst>
          </p:cNvPr>
          <p:cNvSpPr/>
          <p:nvPr/>
        </p:nvSpPr>
        <p:spPr>
          <a:xfrm rot="16200000" flipH="1">
            <a:off x="1950681" y="3935410"/>
            <a:ext cx="143438" cy="985777"/>
          </a:xfrm>
          <a:prstGeom prst="rightBrace">
            <a:avLst>
              <a:gd name="adj1" fmla="val 44325"/>
              <a:gd name="adj2" fmla="val 50000"/>
            </a:avLst>
          </a:prstGeom>
          <a:noFill/>
          <a:ln w="19050" cap="flat" cmpd="sng" algn="ctr">
            <a:solidFill>
              <a:srgbClr val="EB004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CuadroTexto 78">
            <a:extLst>
              <a:ext uri="{FF2B5EF4-FFF2-40B4-BE49-F238E27FC236}">
                <a16:creationId xmlns:a16="http://schemas.microsoft.com/office/drawing/2014/main" id="{1AE7BEC7-B481-0272-7F61-0D95BC832A32}"/>
              </a:ext>
            </a:extLst>
          </p:cNvPr>
          <p:cNvSpPr txBox="1"/>
          <p:nvPr/>
        </p:nvSpPr>
        <p:spPr>
          <a:xfrm>
            <a:off x="2943012" y="4493031"/>
            <a:ext cx="100405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700" b="1" i="0" u="none" strike="noStrike" kern="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B</a:t>
            </a:r>
            <a:r>
              <a:rPr kumimoji="0" lang="es-PE" sz="700" b="1" i="0" u="none" strike="noStrike" kern="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acktest (OOT)</a:t>
            </a:r>
          </a:p>
        </p:txBody>
      </p:sp>
      <p:sp>
        <p:nvSpPr>
          <p:cNvPr id="88" name="CuadroTexto 79">
            <a:extLst>
              <a:ext uri="{FF2B5EF4-FFF2-40B4-BE49-F238E27FC236}">
                <a16:creationId xmlns:a16="http://schemas.microsoft.com/office/drawing/2014/main" id="{30D7FCAE-8AE5-A5A1-5A41-CF59046729D1}"/>
              </a:ext>
            </a:extLst>
          </p:cNvPr>
          <p:cNvSpPr txBox="1"/>
          <p:nvPr/>
        </p:nvSpPr>
        <p:spPr>
          <a:xfrm>
            <a:off x="1773796" y="3892701"/>
            <a:ext cx="687443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800" kern="0" dirty="0">
                <a:solidFill>
                  <a:srgbClr val="FFFFFF">
                    <a:lumMod val="65000"/>
                  </a:srgbClr>
                </a:solidFill>
              </a:rPr>
              <a:t>7</a:t>
            </a:r>
            <a:r>
              <a:rPr kumimoji="0" lang="es-PE" sz="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 meses</a:t>
            </a:r>
          </a:p>
        </p:txBody>
      </p:sp>
      <p:sp>
        <p:nvSpPr>
          <p:cNvPr id="89" name="CuadroTexto 80">
            <a:extLst>
              <a:ext uri="{FF2B5EF4-FFF2-40B4-BE49-F238E27FC236}">
                <a16:creationId xmlns:a16="http://schemas.microsoft.com/office/drawing/2014/main" id="{28D902BB-4E97-1EC4-9929-C33083C7F674}"/>
              </a:ext>
            </a:extLst>
          </p:cNvPr>
          <p:cNvSpPr txBox="1"/>
          <p:nvPr/>
        </p:nvSpPr>
        <p:spPr>
          <a:xfrm>
            <a:off x="3019127" y="3899902"/>
            <a:ext cx="687443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1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4 meses</a:t>
            </a:r>
          </a:p>
        </p:txBody>
      </p:sp>
      <p:sp>
        <p:nvSpPr>
          <p:cNvPr id="90" name="CuadroTexto 42">
            <a:extLst>
              <a:ext uri="{FF2B5EF4-FFF2-40B4-BE49-F238E27FC236}">
                <a16:creationId xmlns:a16="http://schemas.microsoft.com/office/drawing/2014/main" id="{D188462A-1E5F-93B9-501B-FF71361B63FA}"/>
              </a:ext>
            </a:extLst>
          </p:cNvPr>
          <p:cNvSpPr txBox="1"/>
          <p:nvPr/>
        </p:nvSpPr>
        <p:spPr>
          <a:xfrm>
            <a:off x="2943012" y="4132428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Oct25</a:t>
            </a:r>
          </a:p>
        </p:txBody>
      </p:sp>
      <p:sp>
        <p:nvSpPr>
          <p:cNvPr id="91" name="Cerrar llave 76">
            <a:extLst>
              <a:ext uri="{FF2B5EF4-FFF2-40B4-BE49-F238E27FC236}">
                <a16:creationId xmlns:a16="http://schemas.microsoft.com/office/drawing/2014/main" id="{2251E806-0A4A-8532-073F-DE90D3A34443}"/>
              </a:ext>
            </a:extLst>
          </p:cNvPr>
          <p:cNvSpPr/>
          <p:nvPr/>
        </p:nvSpPr>
        <p:spPr>
          <a:xfrm rot="16200000" flipH="1">
            <a:off x="3407716" y="4083054"/>
            <a:ext cx="135832" cy="675274"/>
          </a:xfrm>
          <a:prstGeom prst="rightBrace">
            <a:avLst>
              <a:gd name="adj1" fmla="val 44325"/>
              <a:gd name="adj2" fmla="val 50000"/>
            </a:avLst>
          </a:prstGeom>
          <a:noFill/>
          <a:ln w="19050" cap="flat" cmpd="sng" algn="ctr">
            <a:solidFill>
              <a:srgbClr val="EB004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CuadroTexto 72">
            <a:extLst>
              <a:ext uri="{FF2B5EF4-FFF2-40B4-BE49-F238E27FC236}">
                <a16:creationId xmlns:a16="http://schemas.microsoft.com/office/drawing/2014/main" id="{2F210863-1416-7F39-0772-0636FCE9956F}"/>
              </a:ext>
            </a:extLst>
          </p:cNvPr>
          <p:cNvSpPr txBox="1"/>
          <p:nvPr/>
        </p:nvSpPr>
        <p:spPr>
          <a:xfrm>
            <a:off x="2116406" y="4163136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Jul 25</a:t>
            </a:r>
          </a:p>
        </p:txBody>
      </p:sp>
      <p:sp>
        <p:nvSpPr>
          <p:cNvPr id="95" name="Rectángulo 1041">
            <a:extLst>
              <a:ext uri="{FF2B5EF4-FFF2-40B4-BE49-F238E27FC236}">
                <a16:creationId xmlns:a16="http://schemas.microsoft.com/office/drawing/2014/main" id="{0683EDAC-E509-4D36-4EB8-D56E55DBC289}"/>
              </a:ext>
            </a:extLst>
          </p:cNvPr>
          <p:cNvSpPr/>
          <p:nvPr/>
        </p:nvSpPr>
        <p:spPr>
          <a:xfrm>
            <a:off x="5007002" y="2478329"/>
            <a:ext cx="1523241" cy="276999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 pitchFamily="34" charset="0"/>
                <a:ea typeface="Geometria" panose="020B0503020204020204" pitchFamily="34" charset="0"/>
                <a:cs typeface="+mn-cs"/>
              </a:rPr>
              <a:t>Validación</a:t>
            </a:r>
            <a:endParaRPr kumimoji="0" lang="es-PE" sz="1400" b="0" i="0" u="none" strike="noStrike" kern="1200" cap="none" spc="0" normalizeH="0" baseline="0" noProof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 panose="020B05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96" name="Rectángulo: una sola esquina redondeada 1042">
            <a:extLst>
              <a:ext uri="{FF2B5EF4-FFF2-40B4-BE49-F238E27FC236}">
                <a16:creationId xmlns:a16="http://schemas.microsoft.com/office/drawing/2014/main" id="{CA6D2E5A-1377-D329-3148-2A92F69AAC4C}"/>
              </a:ext>
            </a:extLst>
          </p:cNvPr>
          <p:cNvSpPr/>
          <p:nvPr/>
        </p:nvSpPr>
        <p:spPr>
          <a:xfrm>
            <a:off x="4975853" y="2480923"/>
            <a:ext cx="45719" cy="274714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Elipse 1043">
            <a:extLst>
              <a:ext uri="{FF2B5EF4-FFF2-40B4-BE49-F238E27FC236}">
                <a16:creationId xmlns:a16="http://schemas.microsoft.com/office/drawing/2014/main" id="{EE8CF475-A27C-8C30-0148-79033182B5BE}"/>
              </a:ext>
            </a:extLst>
          </p:cNvPr>
          <p:cNvSpPr/>
          <p:nvPr/>
        </p:nvSpPr>
        <p:spPr>
          <a:xfrm>
            <a:off x="6586607" y="2526718"/>
            <a:ext cx="146295" cy="14462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7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8" name="Conector recto 1045">
            <a:extLst>
              <a:ext uri="{FF2B5EF4-FFF2-40B4-BE49-F238E27FC236}">
                <a16:creationId xmlns:a16="http://schemas.microsoft.com/office/drawing/2014/main" id="{1DDC5DD5-6CAD-4DFA-D1EA-7C79363FEA97}"/>
              </a:ext>
            </a:extLst>
          </p:cNvPr>
          <p:cNvCxnSpPr>
            <a:cxnSpLocks/>
          </p:cNvCxnSpPr>
          <p:nvPr/>
        </p:nvCxnSpPr>
        <p:spPr>
          <a:xfrm flipV="1">
            <a:off x="6732902" y="2597100"/>
            <a:ext cx="261708" cy="1932"/>
          </a:xfrm>
          <a:prstGeom prst="lin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9" name="CuadroTexto 1063">
            <a:extLst>
              <a:ext uri="{FF2B5EF4-FFF2-40B4-BE49-F238E27FC236}">
                <a16:creationId xmlns:a16="http://schemas.microsoft.com/office/drawing/2014/main" id="{F9C71AB9-B8AF-6803-0048-70472A47C4F7}"/>
              </a:ext>
            </a:extLst>
          </p:cNvPr>
          <p:cNvSpPr txBox="1"/>
          <p:nvPr/>
        </p:nvSpPr>
        <p:spPr>
          <a:xfrm>
            <a:off x="6928207" y="2432666"/>
            <a:ext cx="106572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000" b="1" dirty="0">
                <a:solidFill>
                  <a:srgbClr val="08BD4F"/>
                </a:solidFill>
                <a:latin typeface="Geometria Medium"/>
                <a:ea typeface="Geometria" panose="020B0503020204020204" pitchFamily="34" charset="0"/>
              </a:rPr>
              <a:t>49</a:t>
            </a: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08BD4F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%</a:t>
            </a: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srgbClr val="08BD4F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100" name="Rectángulo 2">
            <a:extLst>
              <a:ext uri="{FF2B5EF4-FFF2-40B4-BE49-F238E27FC236}">
                <a16:creationId xmlns:a16="http://schemas.microsoft.com/office/drawing/2014/main" id="{84E29605-BA85-7E60-B42A-65E68C79D840}"/>
              </a:ext>
            </a:extLst>
          </p:cNvPr>
          <p:cNvSpPr/>
          <p:nvPr/>
        </p:nvSpPr>
        <p:spPr>
          <a:xfrm>
            <a:off x="8567655" y="4645737"/>
            <a:ext cx="3513161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Rectángulo: una sola esquina redondeada 3">
            <a:extLst>
              <a:ext uri="{FF2B5EF4-FFF2-40B4-BE49-F238E27FC236}">
                <a16:creationId xmlns:a16="http://schemas.microsoft.com/office/drawing/2014/main" id="{D152AD97-F3DF-C197-EC60-6BF9E2B9549F}"/>
              </a:ext>
            </a:extLst>
          </p:cNvPr>
          <p:cNvSpPr/>
          <p:nvPr/>
        </p:nvSpPr>
        <p:spPr>
          <a:xfrm>
            <a:off x="8509275" y="4650478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" name="Picture 2" descr="Machine learning icon artificial intelligence Vector Image">
            <a:extLst>
              <a:ext uri="{FF2B5EF4-FFF2-40B4-BE49-F238E27FC236}">
                <a16:creationId xmlns:a16="http://schemas.microsoft.com/office/drawing/2014/main" id="{A88D6460-8326-2464-7B68-CC0503A266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1" t="13144" r="18671" b="38124"/>
          <a:stretch/>
        </p:blipFill>
        <p:spPr bwMode="auto">
          <a:xfrm>
            <a:off x="8724792" y="4811148"/>
            <a:ext cx="549784" cy="48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CuadroTexto 1143">
            <a:extLst>
              <a:ext uri="{FF2B5EF4-FFF2-40B4-BE49-F238E27FC236}">
                <a16:creationId xmlns:a16="http://schemas.microsoft.com/office/drawing/2014/main" id="{40583258-711E-F292-8AB9-5DA43C6D44E1}"/>
              </a:ext>
            </a:extLst>
          </p:cNvPr>
          <p:cNvSpPr txBox="1"/>
          <p:nvPr/>
        </p:nvSpPr>
        <p:spPr>
          <a:xfrm>
            <a:off x="8471910" y="5332185"/>
            <a:ext cx="1161104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 Bold"/>
                <a:ea typeface="+mn-ea"/>
                <a:cs typeface="Poppins Bold"/>
              </a:rPr>
              <a:t>TIER</a:t>
            </a:r>
          </a:p>
        </p:txBody>
      </p:sp>
      <p:sp>
        <p:nvSpPr>
          <p:cNvPr id="104" name="Rectángulo 1145">
            <a:extLst>
              <a:ext uri="{FF2B5EF4-FFF2-40B4-BE49-F238E27FC236}">
                <a16:creationId xmlns:a16="http://schemas.microsoft.com/office/drawing/2014/main" id="{16BFE12D-7EE7-2482-C937-4DA4AB87B9CD}"/>
              </a:ext>
            </a:extLst>
          </p:cNvPr>
          <p:cNvSpPr/>
          <p:nvPr/>
        </p:nvSpPr>
        <p:spPr>
          <a:xfrm>
            <a:off x="9226017" y="5018432"/>
            <a:ext cx="2416541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Laboratorio</a:t>
            </a:r>
          </a:p>
        </p:txBody>
      </p:sp>
      <p:sp>
        <p:nvSpPr>
          <p:cNvPr id="105" name="Text Placeholder 2">
            <a:extLst>
              <a:ext uri="{FF2B5EF4-FFF2-40B4-BE49-F238E27FC236}">
                <a16:creationId xmlns:a16="http://schemas.microsoft.com/office/drawing/2014/main" id="{5DAD3E96-3F05-187D-6064-ABD7BFDC5771}"/>
              </a:ext>
            </a:extLst>
          </p:cNvPr>
          <p:cNvSpPr txBox="1">
            <a:spLocks/>
          </p:cNvSpPr>
          <p:nvPr/>
        </p:nvSpPr>
        <p:spPr>
          <a:xfrm>
            <a:off x="8589520" y="1562986"/>
            <a:ext cx="3602480" cy="19774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Fechas de ejecución: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</a:t>
            </a: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Ejecución mensual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De uso: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Identificar de nuevas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alertas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de Riesgo generadas por el modelo</a:t>
            </a:r>
            <a:endParaRPr kumimoji="0" lang="es-P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Entrega de predicción: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 Ejecución </a:t>
            </a: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manual durante la fase de piloto. 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P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endParaRPr kumimoji="0" lang="es-P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8" name="CuadroTexto 80">
            <a:extLst>
              <a:ext uri="{FF2B5EF4-FFF2-40B4-BE49-F238E27FC236}">
                <a16:creationId xmlns:a16="http://schemas.microsoft.com/office/drawing/2014/main" id="{2D4E8BC5-2D7E-447C-7B5C-F9F46FF32B5F}"/>
              </a:ext>
            </a:extLst>
          </p:cNvPr>
          <p:cNvSpPr txBox="1"/>
          <p:nvPr/>
        </p:nvSpPr>
        <p:spPr>
          <a:xfrm>
            <a:off x="2517103" y="3908867"/>
            <a:ext cx="687443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800" kern="0" dirty="0">
                <a:solidFill>
                  <a:srgbClr val="FFFFFF">
                    <a:lumMod val="65000"/>
                  </a:srgbClr>
                </a:solidFill>
              </a:rPr>
              <a:t>2</a:t>
            </a:r>
            <a:r>
              <a:rPr kumimoji="0" lang="es-PE" sz="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 meses</a:t>
            </a:r>
          </a:p>
        </p:txBody>
      </p:sp>
      <p:sp>
        <p:nvSpPr>
          <p:cNvPr id="109" name="CuadroTexto 78">
            <a:extLst>
              <a:ext uri="{FF2B5EF4-FFF2-40B4-BE49-F238E27FC236}">
                <a16:creationId xmlns:a16="http://schemas.microsoft.com/office/drawing/2014/main" id="{A1775404-331D-30F2-0856-C7CF18F561AF}"/>
              </a:ext>
            </a:extLst>
          </p:cNvPr>
          <p:cNvSpPr txBox="1"/>
          <p:nvPr/>
        </p:nvSpPr>
        <p:spPr>
          <a:xfrm>
            <a:off x="2494776" y="4510960"/>
            <a:ext cx="600643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700" b="1" i="0" u="none" strike="noStrike" kern="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Val</a:t>
            </a:r>
            <a:endParaRPr kumimoji="0" lang="es-PE" sz="700" b="1" i="0" u="none" strike="noStrike" kern="0" cap="none" spc="0" normalizeH="0" baseline="0" noProof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 panose="020B0503020204020204"/>
              <a:ea typeface="+mn-ea"/>
              <a:cs typeface="+mn-cs"/>
            </a:endParaRPr>
          </a:p>
        </p:txBody>
      </p:sp>
      <p:sp>
        <p:nvSpPr>
          <p:cNvPr id="110" name="CuadroTexto 72">
            <a:extLst>
              <a:ext uri="{FF2B5EF4-FFF2-40B4-BE49-F238E27FC236}">
                <a16:creationId xmlns:a16="http://schemas.microsoft.com/office/drawing/2014/main" id="{FFD68378-7974-9AEA-6A96-00FF233532E8}"/>
              </a:ext>
            </a:extLst>
          </p:cNvPr>
          <p:cNvSpPr txBox="1"/>
          <p:nvPr/>
        </p:nvSpPr>
        <p:spPr>
          <a:xfrm>
            <a:off x="2531977" y="4140656"/>
            <a:ext cx="600643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Ago-</a:t>
            </a:r>
            <a:r>
              <a:rPr kumimoji="0" lang="es-PE" sz="700" b="1" i="0" u="none" strike="noStrike" kern="0" cap="none" spc="0" normalizeH="0" baseline="0" noProof="0" dirty="0" err="1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Sep</a:t>
            </a: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 25</a:t>
            </a:r>
          </a:p>
        </p:txBody>
      </p:sp>
      <p:sp>
        <p:nvSpPr>
          <p:cNvPr id="111" name="Cerrar llave 76">
            <a:extLst>
              <a:ext uri="{FF2B5EF4-FFF2-40B4-BE49-F238E27FC236}">
                <a16:creationId xmlns:a16="http://schemas.microsoft.com/office/drawing/2014/main" id="{E144FEC1-3D0A-49F1-B164-AE94AF0067D6}"/>
              </a:ext>
            </a:extLst>
          </p:cNvPr>
          <p:cNvSpPr/>
          <p:nvPr/>
        </p:nvSpPr>
        <p:spPr>
          <a:xfrm rot="16200000" flipH="1">
            <a:off x="2766739" y="4168219"/>
            <a:ext cx="126867" cy="531839"/>
          </a:xfrm>
          <a:prstGeom prst="rightBrace">
            <a:avLst>
              <a:gd name="adj1" fmla="val 44325"/>
              <a:gd name="adj2" fmla="val 50000"/>
            </a:avLst>
          </a:prstGeom>
          <a:noFill/>
          <a:ln w="19050" cap="flat" cmpd="sng" algn="ctr">
            <a:solidFill>
              <a:srgbClr val="EB004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Marcador de texto 1">
            <a:extLst>
              <a:ext uri="{FF2B5EF4-FFF2-40B4-BE49-F238E27FC236}">
                <a16:creationId xmlns:a16="http://schemas.microsoft.com/office/drawing/2014/main" id="{08BA5FD9-4B7A-62B8-30E8-98018E4437F8}"/>
              </a:ext>
            </a:extLst>
          </p:cNvPr>
          <p:cNvSpPr txBox="1">
            <a:spLocks/>
          </p:cNvSpPr>
          <p:nvPr/>
        </p:nvSpPr>
        <p:spPr>
          <a:xfrm>
            <a:off x="171671" y="330086"/>
            <a:ext cx="10873827" cy="68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Ficha técnica del Modelo PLAFT PN Masivo</a:t>
            </a:r>
          </a:p>
        </p:txBody>
      </p:sp>
      <p:sp>
        <p:nvSpPr>
          <p:cNvPr id="117" name="CuadroTexto 42">
            <a:extLst>
              <a:ext uri="{FF2B5EF4-FFF2-40B4-BE49-F238E27FC236}">
                <a16:creationId xmlns:a16="http://schemas.microsoft.com/office/drawing/2014/main" id="{EC053CFD-662A-4084-289F-0B06791FAF3F}"/>
              </a:ext>
            </a:extLst>
          </p:cNvPr>
          <p:cNvSpPr txBox="1"/>
          <p:nvPr/>
        </p:nvSpPr>
        <p:spPr>
          <a:xfrm>
            <a:off x="3514336" y="4123334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 Abri26</a:t>
            </a:r>
          </a:p>
        </p:txBody>
      </p:sp>
      <p:sp>
        <p:nvSpPr>
          <p:cNvPr id="120" name="Diagrama de flujo: preparación 1106">
            <a:extLst>
              <a:ext uri="{FF2B5EF4-FFF2-40B4-BE49-F238E27FC236}">
                <a16:creationId xmlns:a16="http://schemas.microsoft.com/office/drawing/2014/main" id="{C4D9AB03-B410-3920-C7A3-DF2DB2403151}"/>
              </a:ext>
            </a:extLst>
          </p:cNvPr>
          <p:cNvSpPr/>
          <p:nvPr/>
        </p:nvSpPr>
        <p:spPr>
          <a:xfrm>
            <a:off x="5930370" y="4457513"/>
            <a:ext cx="718514" cy="617033"/>
          </a:xfrm>
          <a:prstGeom prst="flowChartPreparation">
            <a:avLst/>
          </a:prstGeom>
          <a:solidFill>
            <a:schemeClr val="bg1"/>
          </a:solidFill>
          <a:ln>
            <a:solidFill>
              <a:srgbClr val="00B050"/>
            </a:solidFill>
            <a:prstDash val="sys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CuadroTexto 1091">
            <a:extLst>
              <a:ext uri="{FF2B5EF4-FFF2-40B4-BE49-F238E27FC236}">
                <a16:creationId xmlns:a16="http://schemas.microsoft.com/office/drawing/2014/main" id="{1B31AC09-373F-C6E6-22AC-C86F1808CB5B}"/>
              </a:ext>
            </a:extLst>
          </p:cNvPr>
          <p:cNvSpPr txBox="1"/>
          <p:nvPr/>
        </p:nvSpPr>
        <p:spPr>
          <a:xfrm>
            <a:off x="5920620" y="4743180"/>
            <a:ext cx="718926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/>
                <a:ea typeface="+mn-ea"/>
                <a:cs typeface="Calibri"/>
              </a:rPr>
              <a:t>Perfil del Cliente</a:t>
            </a:r>
            <a:endParaRPr kumimoji="0" lang="es-ES" sz="8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"/>
              <a:ea typeface="+mn-ea"/>
              <a:cs typeface="Calibri"/>
            </a:endParaRPr>
          </a:p>
        </p:txBody>
      </p:sp>
      <p:sp>
        <p:nvSpPr>
          <p:cNvPr id="122" name="Diagrama de flujo: preparación 1107">
            <a:extLst>
              <a:ext uri="{FF2B5EF4-FFF2-40B4-BE49-F238E27FC236}">
                <a16:creationId xmlns:a16="http://schemas.microsoft.com/office/drawing/2014/main" id="{D3962096-495A-68F7-FF50-8EF3BF51B47F}"/>
              </a:ext>
            </a:extLst>
          </p:cNvPr>
          <p:cNvSpPr/>
          <p:nvPr/>
        </p:nvSpPr>
        <p:spPr>
          <a:xfrm>
            <a:off x="5922648" y="5137859"/>
            <a:ext cx="718514" cy="617033"/>
          </a:xfrm>
          <a:prstGeom prst="flowChartPreparation">
            <a:avLst/>
          </a:prstGeom>
          <a:solidFill>
            <a:schemeClr val="bg1"/>
          </a:solidFill>
          <a:ln>
            <a:solidFill>
              <a:srgbClr val="00B050"/>
            </a:solidFill>
            <a:prstDash val="sys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CuadroTexto 1109">
            <a:extLst>
              <a:ext uri="{FF2B5EF4-FFF2-40B4-BE49-F238E27FC236}">
                <a16:creationId xmlns:a16="http://schemas.microsoft.com/office/drawing/2014/main" id="{9606A2E7-9CC4-F2A5-91D1-9D1E4D05D170}"/>
              </a:ext>
            </a:extLst>
          </p:cNvPr>
          <p:cNvSpPr txBox="1"/>
          <p:nvPr/>
        </p:nvSpPr>
        <p:spPr>
          <a:xfrm>
            <a:off x="5920591" y="5500411"/>
            <a:ext cx="713921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/>
                <a:ea typeface="+mn-ea"/>
                <a:cs typeface="Calibri"/>
              </a:rPr>
              <a:t>Contexto</a:t>
            </a:r>
          </a:p>
        </p:txBody>
      </p:sp>
      <p:sp>
        <p:nvSpPr>
          <p:cNvPr id="124" name="CuadroTexto 1117">
            <a:extLst>
              <a:ext uri="{FF2B5EF4-FFF2-40B4-BE49-F238E27FC236}">
                <a16:creationId xmlns:a16="http://schemas.microsoft.com/office/drawing/2014/main" id="{D3CE0CFF-CBFB-ABA1-7088-95FDA65AD975}"/>
              </a:ext>
            </a:extLst>
          </p:cNvPr>
          <p:cNvSpPr txBox="1"/>
          <p:nvPr/>
        </p:nvSpPr>
        <p:spPr>
          <a:xfrm>
            <a:off x="5920591" y="4169919"/>
            <a:ext cx="83493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rgbClr val="0038A6"/>
                </a:solidFill>
                <a:latin typeface="Geometria Medium"/>
              </a:rPr>
              <a:t>6</a:t>
            </a: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 %</a:t>
            </a:r>
            <a:endParaRPr kumimoji="0" lang="es-PE" sz="1400" b="1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125" name="CuadroTexto 1121">
            <a:extLst>
              <a:ext uri="{FF2B5EF4-FFF2-40B4-BE49-F238E27FC236}">
                <a16:creationId xmlns:a16="http://schemas.microsoft.com/office/drawing/2014/main" id="{B8CC97E4-8297-F769-C4E8-19BD7D4ACB91}"/>
              </a:ext>
            </a:extLst>
          </p:cNvPr>
          <p:cNvSpPr txBox="1"/>
          <p:nvPr/>
        </p:nvSpPr>
        <p:spPr>
          <a:xfrm>
            <a:off x="5877062" y="5736222"/>
            <a:ext cx="91575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rgbClr val="0038A6"/>
                </a:solidFill>
                <a:latin typeface="Geometria Medium"/>
              </a:rPr>
              <a:t>6</a:t>
            </a: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 %</a:t>
            </a:r>
            <a:endParaRPr kumimoji="0" lang="es-PE" sz="1400" b="1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 Medium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127" name="Diagrama de flujo: preparación 1107">
            <a:extLst>
              <a:ext uri="{FF2B5EF4-FFF2-40B4-BE49-F238E27FC236}">
                <a16:creationId xmlns:a16="http://schemas.microsoft.com/office/drawing/2014/main" id="{55C4AF9C-1615-479A-A76F-B6F63F88211C}"/>
              </a:ext>
            </a:extLst>
          </p:cNvPr>
          <p:cNvSpPr/>
          <p:nvPr/>
        </p:nvSpPr>
        <p:spPr>
          <a:xfrm>
            <a:off x="5328831" y="4781796"/>
            <a:ext cx="718514" cy="617033"/>
          </a:xfrm>
          <a:prstGeom prst="flowChartPreparation">
            <a:avLst/>
          </a:prstGeom>
          <a:solidFill>
            <a:schemeClr val="bg1"/>
          </a:solidFill>
          <a:ln>
            <a:solidFill>
              <a:srgbClr val="00B050"/>
            </a:solidFill>
            <a:prstDash val="sys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8" name="CuadroTexto 1121">
            <a:extLst>
              <a:ext uri="{FF2B5EF4-FFF2-40B4-BE49-F238E27FC236}">
                <a16:creationId xmlns:a16="http://schemas.microsoft.com/office/drawing/2014/main" id="{6A7A431E-C617-85C0-19CD-9790DD24DE13}"/>
              </a:ext>
            </a:extLst>
          </p:cNvPr>
          <p:cNvSpPr txBox="1"/>
          <p:nvPr/>
        </p:nvSpPr>
        <p:spPr>
          <a:xfrm>
            <a:off x="5230641" y="5449710"/>
            <a:ext cx="91575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58 %</a:t>
            </a:r>
            <a:endParaRPr kumimoji="0" lang="es-PE" sz="1400" b="1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 Medium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129" name="CuadroTexto 1112">
            <a:extLst>
              <a:ext uri="{FF2B5EF4-FFF2-40B4-BE49-F238E27FC236}">
                <a16:creationId xmlns:a16="http://schemas.microsoft.com/office/drawing/2014/main" id="{3D7283B4-C17A-8290-0906-16CAF754FC9D}"/>
              </a:ext>
            </a:extLst>
          </p:cNvPr>
          <p:cNvSpPr txBox="1"/>
          <p:nvPr/>
        </p:nvSpPr>
        <p:spPr>
          <a:xfrm>
            <a:off x="5371850" y="5132334"/>
            <a:ext cx="633239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0" i="0" u="none" strike="noStrike" kern="120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/>
                <a:ea typeface="Geometria" panose="020B0503020204020204" pitchFamily="34" charset="0"/>
                <a:cs typeface="Calibri"/>
              </a:rPr>
              <a:t>TRX</a:t>
            </a:r>
            <a:endParaRPr kumimoji="0" lang="es-PE" sz="8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" panose="020B0503020204020204" pitchFamily="34" charset="0"/>
              <a:ea typeface="Geometria" panose="020B0503020204020204" pitchFamily="34" charset="0"/>
              <a:cs typeface="Calibri"/>
            </a:endParaRPr>
          </a:p>
        </p:txBody>
      </p:sp>
      <p:pic>
        <p:nvPicPr>
          <p:cNvPr id="130" name="Picture 7">
            <a:extLst>
              <a:ext uri="{FF2B5EF4-FFF2-40B4-BE49-F238E27FC236}">
                <a16:creationId xmlns:a16="http://schemas.microsoft.com/office/drawing/2014/main" id="{B613697B-B011-85C5-0F2E-BDA4C9B00F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808" y="4834238"/>
            <a:ext cx="270164" cy="316346"/>
          </a:xfrm>
          <a:prstGeom prst="rect">
            <a:avLst/>
          </a:prstGeom>
        </p:spPr>
      </p:pic>
      <p:pic>
        <p:nvPicPr>
          <p:cNvPr id="132" name="Picture 2" descr="Empresa - Iconos gratis de edificios">
            <a:extLst>
              <a:ext uri="{FF2B5EF4-FFF2-40B4-BE49-F238E27FC236}">
                <a16:creationId xmlns:a16="http://schemas.microsoft.com/office/drawing/2014/main" id="{55DB95D6-4815-D4C0-7487-E7BD25C6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272" y="4441351"/>
            <a:ext cx="301829" cy="301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Picture 6" descr="254.100+ Bank Ilustraciones de Stock, gráficos vectoriales ...">
            <a:extLst>
              <a:ext uri="{FF2B5EF4-FFF2-40B4-BE49-F238E27FC236}">
                <a16:creationId xmlns:a16="http://schemas.microsoft.com/office/drawing/2014/main" id="{CDC67940-9AF8-AF0C-C3A1-79F5CE11C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576" y="5221732"/>
            <a:ext cx="308605" cy="30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iagrama de flujo: preparación 1105">
            <a:extLst>
              <a:ext uri="{FF2B5EF4-FFF2-40B4-BE49-F238E27FC236}">
                <a16:creationId xmlns:a16="http://schemas.microsoft.com/office/drawing/2014/main" id="{1A2BC0FC-84BF-F7CF-7BED-573F9164FB88}"/>
              </a:ext>
            </a:extLst>
          </p:cNvPr>
          <p:cNvSpPr/>
          <p:nvPr/>
        </p:nvSpPr>
        <p:spPr>
          <a:xfrm>
            <a:off x="6512306" y="4777511"/>
            <a:ext cx="718514" cy="612000"/>
          </a:xfrm>
          <a:prstGeom prst="flowChartPreparation">
            <a:avLst/>
          </a:prstGeom>
          <a:solidFill>
            <a:schemeClr val="bg1"/>
          </a:solidFill>
          <a:ln>
            <a:solidFill>
              <a:srgbClr val="00B050"/>
            </a:solidFill>
            <a:prstDash val="sysDot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1100">
            <a:extLst>
              <a:ext uri="{FF2B5EF4-FFF2-40B4-BE49-F238E27FC236}">
                <a16:creationId xmlns:a16="http://schemas.microsoft.com/office/drawing/2014/main" id="{8C65375B-86F7-6E61-E301-0135E4D2BBF0}"/>
              </a:ext>
            </a:extLst>
          </p:cNvPr>
          <p:cNvSpPr txBox="1"/>
          <p:nvPr/>
        </p:nvSpPr>
        <p:spPr>
          <a:xfrm>
            <a:off x="6503716" y="5045448"/>
            <a:ext cx="75633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PE" sz="800" dirty="0">
                <a:solidFill>
                  <a:srgbClr val="0038A6"/>
                </a:solidFill>
                <a:latin typeface="Geometria"/>
                <a:cs typeface="Calibri"/>
              </a:rPr>
              <a:t>Comportamental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CuadroTexto 1122">
            <a:extLst>
              <a:ext uri="{FF2B5EF4-FFF2-40B4-BE49-F238E27FC236}">
                <a16:creationId xmlns:a16="http://schemas.microsoft.com/office/drawing/2014/main" id="{65B0119C-10A5-F888-ABB3-606EE009E316}"/>
              </a:ext>
            </a:extLst>
          </p:cNvPr>
          <p:cNvSpPr txBox="1"/>
          <p:nvPr/>
        </p:nvSpPr>
        <p:spPr>
          <a:xfrm>
            <a:off x="6587859" y="5399517"/>
            <a:ext cx="615575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30 %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pic>
        <p:nvPicPr>
          <p:cNvPr id="14" name="Image 8" descr="preencoded.png">
            <a:extLst>
              <a:ext uri="{FF2B5EF4-FFF2-40B4-BE49-F238E27FC236}">
                <a16:creationId xmlns:a16="http://schemas.microsoft.com/office/drawing/2014/main" id="{5FCF4A8E-650B-B7F7-3B9C-210F2EDDB162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727718" y="4806656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35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9CFFA-AA7E-EAA1-856B-12960F80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35">
            <a:extLst>
              <a:ext uri="{FF2B5EF4-FFF2-40B4-BE49-F238E27FC236}">
                <a16:creationId xmlns:a16="http://schemas.microsoft.com/office/drawing/2014/main" id="{E22C4B07-60CD-1366-2860-99346F80B0D9}"/>
              </a:ext>
            </a:extLst>
          </p:cNvPr>
          <p:cNvSpPr/>
          <p:nvPr/>
        </p:nvSpPr>
        <p:spPr>
          <a:xfrm>
            <a:off x="7152079" y="1229329"/>
            <a:ext cx="4435021" cy="291144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7.6%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</p:txBody>
      </p:sp>
      <p:sp>
        <p:nvSpPr>
          <p:cNvPr id="12" name="Freeform: Shape 35">
            <a:extLst>
              <a:ext uri="{FF2B5EF4-FFF2-40B4-BE49-F238E27FC236}">
                <a16:creationId xmlns:a16="http://schemas.microsoft.com/office/drawing/2014/main" id="{7F1FBBB8-89D5-4CE8-8EE3-0A70FB828134}"/>
              </a:ext>
            </a:extLst>
          </p:cNvPr>
          <p:cNvSpPr/>
          <p:nvPr/>
        </p:nvSpPr>
        <p:spPr>
          <a:xfrm>
            <a:off x="7152079" y="1746446"/>
            <a:ext cx="3634407" cy="271604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7%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3" name="Freeform: Shape 35">
            <a:extLst>
              <a:ext uri="{FF2B5EF4-FFF2-40B4-BE49-F238E27FC236}">
                <a16:creationId xmlns:a16="http://schemas.microsoft.com/office/drawing/2014/main" id="{BAF13AFD-9449-D5BE-A055-DD33B425E815}"/>
              </a:ext>
            </a:extLst>
          </p:cNvPr>
          <p:cNvSpPr/>
          <p:nvPr/>
        </p:nvSpPr>
        <p:spPr>
          <a:xfrm>
            <a:off x="7152079" y="2247380"/>
            <a:ext cx="3265127" cy="271604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6.8%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5" name="Freeform: Shape 35">
            <a:extLst>
              <a:ext uri="{FF2B5EF4-FFF2-40B4-BE49-F238E27FC236}">
                <a16:creationId xmlns:a16="http://schemas.microsoft.com/office/drawing/2014/main" id="{B17199AD-9DBD-12D8-5401-5E3AD78878E4}"/>
              </a:ext>
            </a:extLst>
          </p:cNvPr>
          <p:cNvSpPr/>
          <p:nvPr/>
        </p:nvSpPr>
        <p:spPr>
          <a:xfrm>
            <a:off x="7152079" y="2741628"/>
            <a:ext cx="2784296" cy="271604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5.2%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16" name="Freeform: Shape 35">
            <a:extLst>
              <a:ext uri="{FF2B5EF4-FFF2-40B4-BE49-F238E27FC236}">
                <a16:creationId xmlns:a16="http://schemas.microsoft.com/office/drawing/2014/main" id="{457660AA-6AE1-4A16-0D0A-28CB97CFF143}"/>
              </a:ext>
            </a:extLst>
          </p:cNvPr>
          <p:cNvSpPr/>
          <p:nvPr/>
        </p:nvSpPr>
        <p:spPr>
          <a:xfrm>
            <a:off x="7152079" y="4264700"/>
            <a:ext cx="1908322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2.38%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7" name="Freeform: Shape 35">
            <a:extLst>
              <a:ext uri="{FF2B5EF4-FFF2-40B4-BE49-F238E27FC236}">
                <a16:creationId xmlns:a16="http://schemas.microsoft.com/office/drawing/2014/main" id="{54446162-4902-D264-87E1-B385C299268D}"/>
              </a:ext>
            </a:extLst>
          </p:cNvPr>
          <p:cNvSpPr/>
          <p:nvPr/>
        </p:nvSpPr>
        <p:spPr>
          <a:xfrm>
            <a:off x="7152079" y="4781417"/>
            <a:ext cx="1727464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2.19%</a:t>
            </a:r>
          </a:p>
        </p:txBody>
      </p:sp>
      <p:cxnSp>
        <p:nvCxnSpPr>
          <p:cNvPr id="18" name="Conector recto de flecha 18">
            <a:extLst>
              <a:ext uri="{FF2B5EF4-FFF2-40B4-BE49-F238E27FC236}">
                <a16:creationId xmlns:a16="http://schemas.microsoft.com/office/drawing/2014/main" id="{2E06C865-D005-998B-96E0-7AF3C99A14FC}"/>
              </a:ext>
            </a:extLst>
          </p:cNvPr>
          <p:cNvCxnSpPr>
            <a:cxnSpLocks/>
          </p:cNvCxnSpPr>
          <p:nvPr/>
        </p:nvCxnSpPr>
        <p:spPr>
          <a:xfrm flipV="1">
            <a:off x="7132855" y="6172276"/>
            <a:ext cx="4042397" cy="27704"/>
          </a:xfrm>
          <a:prstGeom prst="straightConnector1">
            <a:avLst/>
          </a:prstGeom>
          <a:noFill/>
          <a:ln w="571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19" name="CuadroTexto 22">
            <a:extLst>
              <a:ext uri="{FF2B5EF4-FFF2-40B4-BE49-F238E27FC236}">
                <a16:creationId xmlns:a16="http://schemas.microsoft.com/office/drawing/2014/main" id="{EE103699-F1C1-4379-4DDA-75399D1E1B76}"/>
              </a:ext>
            </a:extLst>
          </p:cNvPr>
          <p:cNvSpPr txBox="1"/>
          <p:nvPr/>
        </p:nvSpPr>
        <p:spPr>
          <a:xfrm>
            <a:off x="1945518" y="1161445"/>
            <a:ext cx="5068043" cy="408623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/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Monto</a:t>
            </a:r>
            <a:r>
              <a:rPr lang="es-PE" dirty="0"/>
              <a:t> </a:t>
            </a: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total</a:t>
            </a:r>
            <a:r>
              <a:rPr lang="es-PE" dirty="0"/>
              <a:t> </a:t>
            </a: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depósitos en efectivo (12 meses)</a:t>
            </a:r>
          </a:p>
        </p:txBody>
      </p:sp>
      <p:sp>
        <p:nvSpPr>
          <p:cNvPr id="24" name="CuadroTexto 24">
            <a:extLst>
              <a:ext uri="{FF2B5EF4-FFF2-40B4-BE49-F238E27FC236}">
                <a16:creationId xmlns:a16="http://schemas.microsoft.com/office/drawing/2014/main" id="{6D3189BB-0E02-0CFB-F70F-4FD5CCC2DD61}"/>
              </a:ext>
            </a:extLst>
          </p:cNvPr>
          <p:cNvSpPr txBox="1"/>
          <p:nvPr/>
        </p:nvSpPr>
        <p:spPr>
          <a:xfrm>
            <a:off x="1945518" y="1707695"/>
            <a:ext cx="5068042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Monto total de egresos del último mes</a:t>
            </a:r>
          </a:p>
        </p:txBody>
      </p:sp>
      <p:sp>
        <p:nvSpPr>
          <p:cNvPr id="25" name="CuadroTexto 26">
            <a:extLst>
              <a:ext uri="{FF2B5EF4-FFF2-40B4-BE49-F238E27FC236}">
                <a16:creationId xmlns:a16="http://schemas.microsoft.com/office/drawing/2014/main" id="{3018A6D3-FE0A-9161-E048-7118AFC07707}"/>
              </a:ext>
            </a:extLst>
          </p:cNvPr>
          <p:cNvSpPr txBox="1"/>
          <p:nvPr/>
        </p:nvSpPr>
        <p:spPr>
          <a:xfrm>
            <a:off x="1945518" y="2244539"/>
            <a:ext cx="5068042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Número de egresos realizados (12 meses)</a:t>
            </a:r>
          </a:p>
        </p:txBody>
      </p:sp>
      <p:sp>
        <p:nvSpPr>
          <p:cNvPr id="27" name="CuadroTexto 30">
            <a:extLst>
              <a:ext uri="{FF2B5EF4-FFF2-40B4-BE49-F238E27FC236}">
                <a16:creationId xmlns:a16="http://schemas.microsoft.com/office/drawing/2014/main" id="{6B55DFCC-50BB-39C8-3C6F-A55D8A3BD12C}"/>
              </a:ext>
            </a:extLst>
          </p:cNvPr>
          <p:cNvSpPr txBox="1"/>
          <p:nvPr/>
        </p:nvSpPr>
        <p:spPr>
          <a:xfrm>
            <a:off x="2084037" y="2703533"/>
            <a:ext cx="5068042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Comportamiento atípico de egresos recientes</a:t>
            </a:r>
          </a:p>
        </p:txBody>
      </p:sp>
      <p:sp>
        <p:nvSpPr>
          <p:cNvPr id="28" name="CuadroTexto 1120">
            <a:extLst>
              <a:ext uri="{FF2B5EF4-FFF2-40B4-BE49-F238E27FC236}">
                <a16:creationId xmlns:a16="http://schemas.microsoft.com/office/drawing/2014/main" id="{34A4735D-87F7-C2DE-9704-4B4339A55528}"/>
              </a:ext>
            </a:extLst>
          </p:cNvPr>
          <p:cNvSpPr txBox="1"/>
          <p:nvPr/>
        </p:nvSpPr>
        <p:spPr>
          <a:xfrm>
            <a:off x="1946495" y="3251175"/>
            <a:ext cx="5068041" cy="289441"/>
          </a:xfrm>
          <a:prstGeom prst="round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Incremento reciente de depósitos</a:t>
            </a:r>
          </a:p>
        </p:txBody>
      </p:sp>
      <p:sp>
        <p:nvSpPr>
          <p:cNvPr id="29" name="CuadroTexto 1122">
            <a:extLst>
              <a:ext uri="{FF2B5EF4-FFF2-40B4-BE49-F238E27FC236}">
                <a16:creationId xmlns:a16="http://schemas.microsoft.com/office/drawing/2014/main" id="{98CA5E92-A1D6-3D48-8736-405A5381B069}"/>
              </a:ext>
            </a:extLst>
          </p:cNvPr>
          <p:cNvSpPr txBox="1"/>
          <p:nvPr/>
        </p:nvSpPr>
        <p:spPr>
          <a:xfrm>
            <a:off x="1980881" y="3714910"/>
            <a:ext cx="5068041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>
              <a:defRPr/>
            </a:pP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Monto anual de egresos en efectivo</a:t>
            </a:r>
          </a:p>
        </p:txBody>
      </p:sp>
      <p:sp>
        <p:nvSpPr>
          <p:cNvPr id="30" name="CuadroTexto 1124">
            <a:extLst>
              <a:ext uri="{FF2B5EF4-FFF2-40B4-BE49-F238E27FC236}">
                <a16:creationId xmlns:a16="http://schemas.microsoft.com/office/drawing/2014/main" id="{E0A400D3-D43F-459E-234D-B2FEBED39691}"/>
              </a:ext>
            </a:extLst>
          </p:cNvPr>
          <p:cNvSpPr txBox="1"/>
          <p:nvPr/>
        </p:nvSpPr>
        <p:spPr>
          <a:xfrm>
            <a:off x="1946495" y="4245221"/>
            <a:ext cx="5068041" cy="289441"/>
          </a:xfrm>
          <a:prstGeom prst="round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>
              <a:defRPr/>
            </a:pP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Concentración máxima de transacciones en un día</a:t>
            </a:r>
          </a:p>
        </p:txBody>
      </p:sp>
      <p:sp>
        <p:nvSpPr>
          <p:cNvPr id="31" name="CuadroTexto 1127">
            <a:extLst>
              <a:ext uri="{FF2B5EF4-FFF2-40B4-BE49-F238E27FC236}">
                <a16:creationId xmlns:a16="http://schemas.microsoft.com/office/drawing/2014/main" id="{8003E7A1-641E-1C42-223F-E975ED1902B8}"/>
              </a:ext>
            </a:extLst>
          </p:cNvPr>
          <p:cNvSpPr txBox="1"/>
          <p:nvPr/>
        </p:nvSpPr>
        <p:spPr>
          <a:xfrm>
            <a:off x="1946495" y="5306584"/>
            <a:ext cx="5068039" cy="289441"/>
          </a:xfrm>
          <a:prstGeom prst="round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>
              <a:defRPr/>
            </a:pP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Diferencia de montos: depósitos vs egresos en efectivo (6m)</a:t>
            </a:r>
          </a:p>
        </p:txBody>
      </p:sp>
      <p:sp>
        <p:nvSpPr>
          <p:cNvPr id="32" name="CuadroTexto 1129">
            <a:extLst>
              <a:ext uri="{FF2B5EF4-FFF2-40B4-BE49-F238E27FC236}">
                <a16:creationId xmlns:a16="http://schemas.microsoft.com/office/drawing/2014/main" id="{B01BD706-B8FF-B9B1-645E-049F3616A2BC}"/>
              </a:ext>
            </a:extLst>
          </p:cNvPr>
          <p:cNvSpPr txBox="1"/>
          <p:nvPr/>
        </p:nvSpPr>
        <p:spPr>
          <a:xfrm>
            <a:off x="1945518" y="4741680"/>
            <a:ext cx="5068040" cy="306467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r">
              <a:defRPr sz="1200"/>
            </a:lvl1pPr>
          </a:lstStyle>
          <a:p>
            <a:pPr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Intensidad de uso de fondos (rotación</a:t>
            </a:r>
            <a:r>
              <a:rPr lang="es-PE" dirty="0"/>
              <a:t>)</a:t>
            </a:r>
          </a:p>
        </p:txBody>
      </p:sp>
      <p:sp>
        <p:nvSpPr>
          <p:cNvPr id="118" name="Freeform: Shape 35">
            <a:extLst>
              <a:ext uri="{FF2B5EF4-FFF2-40B4-BE49-F238E27FC236}">
                <a16:creationId xmlns:a16="http://schemas.microsoft.com/office/drawing/2014/main" id="{BDCB71A7-36F7-7FBF-31A8-0281C7EBD04C}"/>
              </a:ext>
            </a:extLst>
          </p:cNvPr>
          <p:cNvSpPr/>
          <p:nvPr/>
        </p:nvSpPr>
        <p:spPr>
          <a:xfrm>
            <a:off x="7152079" y="3743900"/>
            <a:ext cx="2095192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4.1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%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05BE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Freeform: Shape 35">
            <a:extLst>
              <a:ext uri="{FF2B5EF4-FFF2-40B4-BE49-F238E27FC236}">
                <a16:creationId xmlns:a16="http://schemas.microsoft.com/office/drawing/2014/main" id="{B569240D-1D20-F56B-B00E-4FE68B690227}"/>
              </a:ext>
            </a:extLst>
          </p:cNvPr>
          <p:cNvSpPr/>
          <p:nvPr/>
        </p:nvSpPr>
        <p:spPr>
          <a:xfrm>
            <a:off x="7152079" y="3255254"/>
            <a:ext cx="2272637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4.12%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0" name="Freeform: Shape 35">
            <a:extLst>
              <a:ext uri="{FF2B5EF4-FFF2-40B4-BE49-F238E27FC236}">
                <a16:creationId xmlns:a16="http://schemas.microsoft.com/office/drawing/2014/main" id="{C0DD65F0-2393-37CF-6328-9A9684735599}"/>
              </a:ext>
            </a:extLst>
          </p:cNvPr>
          <p:cNvSpPr/>
          <p:nvPr/>
        </p:nvSpPr>
        <p:spPr>
          <a:xfrm>
            <a:off x="7152079" y="5287269"/>
            <a:ext cx="1575462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1.78%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1" name="CuadroTexto 38">
            <a:extLst>
              <a:ext uri="{FF2B5EF4-FFF2-40B4-BE49-F238E27FC236}">
                <a16:creationId xmlns:a16="http://schemas.microsoft.com/office/drawing/2014/main" id="{EA609676-C7F0-DE3A-9FF4-E3C36F3AFD55}"/>
              </a:ext>
            </a:extLst>
          </p:cNvPr>
          <p:cNvSpPr txBox="1"/>
          <p:nvPr/>
        </p:nvSpPr>
        <p:spPr>
          <a:xfrm>
            <a:off x="7799906" y="905325"/>
            <a:ext cx="309732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63B4E5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% importancia</a:t>
            </a:r>
          </a:p>
        </p:txBody>
      </p:sp>
      <p:sp>
        <p:nvSpPr>
          <p:cNvPr id="122" name="CuadroTexto 38">
            <a:extLst>
              <a:ext uri="{FF2B5EF4-FFF2-40B4-BE49-F238E27FC236}">
                <a16:creationId xmlns:a16="http://schemas.microsoft.com/office/drawing/2014/main" id="{2AFDF0D3-63BB-FE14-0E0B-FF1103D83883}"/>
              </a:ext>
            </a:extLst>
          </p:cNvPr>
          <p:cNvSpPr txBox="1"/>
          <p:nvPr/>
        </p:nvSpPr>
        <p:spPr>
          <a:xfrm>
            <a:off x="3530619" y="905324"/>
            <a:ext cx="309732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63B4E5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Nombre de la variable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3" name="CuadroTexto 38">
            <a:extLst>
              <a:ext uri="{FF2B5EF4-FFF2-40B4-BE49-F238E27FC236}">
                <a16:creationId xmlns:a16="http://schemas.microsoft.com/office/drawing/2014/main" id="{91F1DEBA-AA8C-A472-B447-D16C1C042B64}"/>
              </a:ext>
            </a:extLst>
          </p:cNvPr>
          <p:cNvSpPr txBox="1"/>
          <p:nvPr/>
        </p:nvSpPr>
        <p:spPr>
          <a:xfrm>
            <a:off x="284289" y="884446"/>
            <a:ext cx="1479382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63B4E5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Fuentes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30" name="Title 2">
            <a:extLst>
              <a:ext uri="{FF2B5EF4-FFF2-40B4-BE49-F238E27FC236}">
                <a16:creationId xmlns:a16="http://schemas.microsoft.com/office/drawing/2014/main" id="{65DB6501-90EC-61D4-664C-0F8639E2D478}"/>
              </a:ext>
            </a:extLst>
          </p:cNvPr>
          <p:cNvSpPr txBox="1">
            <a:spLocks/>
          </p:cNvSpPr>
          <p:nvPr/>
        </p:nvSpPr>
        <p:spPr>
          <a:xfrm>
            <a:off x="218399" y="127615"/>
            <a:ext cx="11044112" cy="795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dirty="0"/>
              <a:t>Top 10 variables del Modelo PLAFT PN Masivo</a:t>
            </a:r>
          </a:p>
        </p:txBody>
      </p:sp>
      <p:sp>
        <p:nvSpPr>
          <p:cNvPr id="2" name="Freeform: Shape 35">
            <a:extLst>
              <a:ext uri="{FF2B5EF4-FFF2-40B4-BE49-F238E27FC236}">
                <a16:creationId xmlns:a16="http://schemas.microsoft.com/office/drawing/2014/main" id="{524B6D74-BF1D-39AA-2056-211321A99505}"/>
              </a:ext>
            </a:extLst>
          </p:cNvPr>
          <p:cNvSpPr/>
          <p:nvPr/>
        </p:nvSpPr>
        <p:spPr>
          <a:xfrm>
            <a:off x="7157825" y="5793121"/>
            <a:ext cx="1569716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1.78%</a:t>
            </a:r>
          </a:p>
        </p:txBody>
      </p:sp>
      <p:sp>
        <p:nvSpPr>
          <p:cNvPr id="3" name="CuadroTexto 1127">
            <a:extLst>
              <a:ext uri="{FF2B5EF4-FFF2-40B4-BE49-F238E27FC236}">
                <a16:creationId xmlns:a16="http://schemas.microsoft.com/office/drawing/2014/main" id="{B1DDBCED-CA6C-F69D-02B9-030B37108102}"/>
              </a:ext>
            </a:extLst>
          </p:cNvPr>
          <p:cNvSpPr txBox="1"/>
          <p:nvPr/>
        </p:nvSpPr>
        <p:spPr>
          <a:xfrm>
            <a:off x="1946495" y="5793121"/>
            <a:ext cx="5068039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>
              <a:defRPr/>
            </a:pP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Ratio de débitos vs créditos</a:t>
            </a:r>
          </a:p>
        </p:txBody>
      </p:sp>
      <p:sp>
        <p:nvSpPr>
          <p:cNvPr id="6" name="Arrow: Pentagon 1095">
            <a:extLst>
              <a:ext uri="{FF2B5EF4-FFF2-40B4-BE49-F238E27FC236}">
                <a16:creationId xmlns:a16="http://schemas.microsoft.com/office/drawing/2014/main" id="{ED8F58A2-AA7D-076E-BA14-611A0A81C0FC}"/>
              </a:ext>
            </a:extLst>
          </p:cNvPr>
          <p:cNvSpPr/>
          <p:nvPr/>
        </p:nvSpPr>
        <p:spPr>
          <a:xfrm>
            <a:off x="264524" y="1707695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2" name="Arrow: Pentagon 1095">
            <a:extLst>
              <a:ext uri="{FF2B5EF4-FFF2-40B4-BE49-F238E27FC236}">
                <a16:creationId xmlns:a16="http://schemas.microsoft.com/office/drawing/2014/main" id="{1DF84CA6-8F06-43DD-B9D4-5C009CF69307}"/>
              </a:ext>
            </a:extLst>
          </p:cNvPr>
          <p:cNvSpPr/>
          <p:nvPr/>
        </p:nvSpPr>
        <p:spPr>
          <a:xfrm>
            <a:off x="264524" y="2249913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3" name="Arrow: Pentagon 1095">
            <a:extLst>
              <a:ext uri="{FF2B5EF4-FFF2-40B4-BE49-F238E27FC236}">
                <a16:creationId xmlns:a16="http://schemas.microsoft.com/office/drawing/2014/main" id="{80A58956-14C7-09F5-7206-151CF2BB928D}"/>
              </a:ext>
            </a:extLst>
          </p:cNvPr>
          <p:cNvSpPr/>
          <p:nvPr/>
        </p:nvSpPr>
        <p:spPr>
          <a:xfrm>
            <a:off x="261579" y="3734981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6" name="Arrow: Pentagon 1095">
            <a:extLst>
              <a:ext uri="{FF2B5EF4-FFF2-40B4-BE49-F238E27FC236}">
                <a16:creationId xmlns:a16="http://schemas.microsoft.com/office/drawing/2014/main" id="{C355FA39-BB63-B0E5-D368-604FA236926E}"/>
              </a:ext>
            </a:extLst>
          </p:cNvPr>
          <p:cNvSpPr/>
          <p:nvPr/>
        </p:nvSpPr>
        <p:spPr>
          <a:xfrm>
            <a:off x="282226" y="5793120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5" name="Arrow: Pentagon 1095">
            <a:extLst>
              <a:ext uri="{FF2B5EF4-FFF2-40B4-BE49-F238E27FC236}">
                <a16:creationId xmlns:a16="http://schemas.microsoft.com/office/drawing/2014/main" id="{B600CA25-9BC5-8838-2F3C-0D50F73D7652}"/>
              </a:ext>
            </a:extLst>
          </p:cNvPr>
          <p:cNvSpPr/>
          <p:nvPr/>
        </p:nvSpPr>
        <p:spPr>
          <a:xfrm>
            <a:off x="326825" y="1228960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9" name="Arrow: Pentagon 1095">
            <a:extLst>
              <a:ext uri="{FF2B5EF4-FFF2-40B4-BE49-F238E27FC236}">
                <a16:creationId xmlns:a16="http://schemas.microsoft.com/office/drawing/2014/main" id="{0D123A2A-0F58-4184-1C33-B17F488D6376}"/>
              </a:ext>
            </a:extLst>
          </p:cNvPr>
          <p:cNvSpPr/>
          <p:nvPr/>
        </p:nvSpPr>
        <p:spPr>
          <a:xfrm>
            <a:off x="204251" y="2667974"/>
            <a:ext cx="1713169" cy="289441"/>
          </a:xfrm>
          <a:prstGeom prst="homePlate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s-PE" sz="1000" dirty="0">
                <a:solidFill>
                  <a:srgbClr val="0038A6"/>
                </a:solidFill>
                <a:latin typeface="Geometria"/>
                <a:cs typeface="Calibri"/>
              </a:rPr>
              <a:t>Comportamental</a:t>
            </a:r>
          </a:p>
        </p:txBody>
      </p:sp>
      <p:sp>
        <p:nvSpPr>
          <p:cNvPr id="41" name="Arrow: Pentagon 1095">
            <a:extLst>
              <a:ext uri="{FF2B5EF4-FFF2-40B4-BE49-F238E27FC236}">
                <a16:creationId xmlns:a16="http://schemas.microsoft.com/office/drawing/2014/main" id="{648562A4-2892-7181-10A8-D9653435EFC7}"/>
              </a:ext>
            </a:extLst>
          </p:cNvPr>
          <p:cNvSpPr/>
          <p:nvPr/>
        </p:nvSpPr>
        <p:spPr>
          <a:xfrm>
            <a:off x="264524" y="5287269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7" name="Arrow: Pentagon 1095">
            <a:extLst>
              <a:ext uri="{FF2B5EF4-FFF2-40B4-BE49-F238E27FC236}">
                <a16:creationId xmlns:a16="http://schemas.microsoft.com/office/drawing/2014/main" id="{F014575D-9940-66C7-CBE8-8746A4544657}"/>
              </a:ext>
            </a:extLst>
          </p:cNvPr>
          <p:cNvSpPr/>
          <p:nvPr/>
        </p:nvSpPr>
        <p:spPr>
          <a:xfrm>
            <a:off x="220846" y="3229130"/>
            <a:ext cx="1713169" cy="289441"/>
          </a:xfrm>
          <a:prstGeom prst="homePlate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s-PE" sz="1000" dirty="0">
                <a:solidFill>
                  <a:srgbClr val="0038A6"/>
                </a:solidFill>
                <a:latin typeface="Geometria"/>
                <a:cs typeface="Calibri"/>
              </a:rPr>
              <a:t>Comportamental</a:t>
            </a:r>
          </a:p>
        </p:txBody>
      </p:sp>
      <p:sp>
        <p:nvSpPr>
          <p:cNvPr id="10" name="Arrow: Pentagon 1095">
            <a:extLst>
              <a:ext uri="{FF2B5EF4-FFF2-40B4-BE49-F238E27FC236}">
                <a16:creationId xmlns:a16="http://schemas.microsoft.com/office/drawing/2014/main" id="{C50B9433-1385-6FEA-76E3-7D3FBEA17BDC}"/>
              </a:ext>
            </a:extLst>
          </p:cNvPr>
          <p:cNvSpPr/>
          <p:nvPr/>
        </p:nvSpPr>
        <p:spPr>
          <a:xfrm>
            <a:off x="219746" y="4262659"/>
            <a:ext cx="1713169" cy="289441"/>
          </a:xfrm>
          <a:prstGeom prst="homePlate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s-PE" sz="1000" dirty="0">
                <a:solidFill>
                  <a:srgbClr val="0038A6"/>
                </a:solidFill>
                <a:latin typeface="Geometria"/>
                <a:cs typeface="Calibri"/>
              </a:rPr>
              <a:t>Comportamental</a:t>
            </a:r>
          </a:p>
        </p:txBody>
      </p:sp>
      <p:sp>
        <p:nvSpPr>
          <p:cNvPr id="21" name="Arrow: Pentagon 1095">
            <a:extLst>
              <a:ext uri="{FF2B5EF4-FFF2-40B4-BE49-F238E27FC236}">
                <a16:creationId xmlns:a16="http://schemas.microsoft.com/office/drawing/2014/main" id="{1AA638D7-D55F-5E33-AF69-AA7BCBCF42BC}"/>
              </a:ext>
            </a:extLst>
          </p:cNvPr>
          <p:cNvSpPr/>
          <p:nvPr/>
        </p:nvSpPr>
        <p:spPr>
          <a:xfrm>
            <a:off x="218399" y="4741394"/>
            <a:ext cx="1713169" cy="289441"/>
          </a:xfrm>
          <a:prstGeom prst="homePlate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s-PE" sz="1000" dirty="0">
                <a:solidFill>
                  <a:srgbClr val="0038A6"/>
                </a:solidFill>
                <a:latin typeface="Geometria"/>
                <a:cs typeface="Calibri"/>
              </a:rPr>
              <a:t>Comportamental</a:t>
            </a:r>
          </a:p>
        </p:txBody>
      </p:sp>
      <p:sp>
        <p:nvSpPr>
          <p:cNvPr id="33" name="Flecha: hacia arriba 32">
            <a:extLst>
              <a:ext uri="{FF2B5EF4-FFF2-40B4-BE49-F238E27FC236}">
                <a16:creationId xmlns:a16="http://schemas.microsoft.com/office/drawing/2014/main" id="{43879CC6-573B-1053-3433-1BE19B6F6133}"/>
              </a:ext>
            </a:extLst>
          </p:cNvPr>
          <p:cNvSpPr/>
          <p:nvPr/>
        </p:nvSpPr>
        <p:spPr>
          <a:xfrm>
            <a:off x="11686867" y="1235950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8" name="Flecha: hacia arriba 37">
            <a:extLst>
              <a:ext uri="{FF2B5EF4-FFF2-40B4-BE49-F238E27FC236}">
                <a16:creationId xmlns:a16="http://schemas.microsoft.com/office/drawing/2014/main" id="{512BF69E-3261-FECA-7170-253C724844F2}"/>
              </a:ext>
            </a:extLst>
          </p:cNvPr>
          <p:cNvSpPr/>
          <p:nvPr/>
        </p:nvSpPr>
        <p:spPr>
          <a:xfrm>
            <a:off x="10608178" y="2291894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Flecha: hacia arriba 7">
            <a:extLst>
              <a:ext uri="{FF2B5EF4-FFF2-40B4-BE49-F238E27FC236}">
                <a16:creationId xmlns:a16="http://schemas.microsoft.com/office/drawing/2014/main" id="{EE0E641A-F5FB-37FB-8ADC-9FC4D9C6649D}"/>
              </a:ext>
            </a:extLst>
          </p:cNvPr>
          <p:cNvSpPr/>
          <p:nvPr/>
        </p:nvSpPr>
        <p:spPr>
          <a:xfrm>
            <a:off x="10394432" y="2755156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Flecha: hacia arriba 19">
            <a:extLst>
              <a:ext uri="{FF2B5EF4-FFF2-40B4-BE49-F238E27FC236}">
                <a16:creationId xmlns:a16="http://schemas.microsoft.com/office/drawing/2014/main" id="{8D1740B9-4A7F-A0E9-1CAE-4E286A3CF952}"/>
              </a:ext>
            </a:extLst>
          </p:cNvPr>
          <p:cNvSpPr/>
          <p:nvPr/>
        </p:nvSpPr>
        <p:spPr>
          <a:xfrm rot="10800000">
            <a:off x="9068963" y="5262443"/>
            <a:ext cx="356616" cy="259611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Flecha: hacia arriba 35">
            <a:extLst>
              <a:ext uri="{FF2B5EF4-FFF2-40B4-BE49-F238E27FC236}">
                <a16:creationId xmlns:a16="http://schemas.microsoft.com/office/drawing/2014/main" id="{1C26E450-27EF-C1C1-9AC3-21E8B81B80DC}"/>
              </a:ext>
            </a:extLst>
          </p:cNvPr>
          <p:cNvSpPr/>
          <p:nvPr/>
        </p:nvSpPr>
        <p:spPr>
          <a:xfrm>
            <a:off x="10996944" y="1769118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9" name="Flecha: hacia arriba 38">
            <a:extLst>
              <a:ext uri="{FF2B5EF4-FFF2-40B4-BE49-F238E27FC236}">
                <a16:creationId xmlns:a16="http://schemas.microsoft.com/office/drawing/2014/main" id="{EDF29F2D-77D8-EDE8-7E84-8F80D9803699}"/>
              </a:ext>
            </a:extLst>
          </p:cNvPr>
          <p:cNvSpPr/>
          <p:nvPr/>
        </p:nvSpPr>
        <p:spPr>
          <a:xfrm>
            <a:off x="10113158" y="3169389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3" name="Flecha: hacia arriba 42">
            <a:extLst>
              <a:ext uri="{FF2B5EF4-FFF2-40B4-BE49-F238E27FC236}">
                <a16:creationId xmlns:a16="http://schemas.microsoft.com/office/drawing/2014/main" id="{47167E72-FBFA-3C1D-D338-ED1140D49132}"/>
              </a:ext>
            </a:extLst>
          </p:cNvPr>
          <p:cNvSpPr/>
          <p:nvPr/>
        </p:nvSpPr>
        <p:spPr>
          <a:xfrm>
            <a:off x="9799966" y="3749895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5" name="Flecha: hacia arriba 44">
            <a:extLst>
              <a:ext uri="{FF2B5EF4-FFF2-40B4-BE49-F238E27FC236}">
                <a16:creationId xmlns:a16="http://schemas.microsoft.com/office/drawing/2014/main" id="{AAA14260-E057-0A5D-F521-680103A8E0B6}"/>
              </a:ext>
            </a:extLst>
          </p:cNvPr>
          <p:cNvSpPr/>
          <p:nvPr/>
        </p:nvSpPr>
        <p:spPr>
          <a:xfrm>
            <a:off x="9486428" y="4270696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7" name="Flecha: hacia arriba 46">
            <a:extLst>
              <a:ext uri="{FF2B5EF4-FFF2-40B4-BE49-F238E27FC236}">
                <a16:creationId xmlns:a16="http://schemas.microsoft.com/office/drawing/2014/main" id="{B3F2FE95-A317-7369-146D-BE1AB690EB44}"/>
              </a:ext>
            </a:extLst>
          </p:cNvPr>
          <p:cNvSpPr/>
          <p:nvPr/>
        </p:nvSpPr>
        <p:spPr>
          <a:xfrm>
            <a:off x="9129812" y="4724618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1816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7DA57-0497-0C25-1B85-778BBC7E5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13B98CD8-DFD9-CCBA-94C1-27C353B5F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606" y="4296728"/>
            <a:ext cx="8898730" cy="2430704"/>
          </a:xfrm>
          <a:prstGeom prst="rect">
            <a:avLst/>
          </a:prstGeom>
        </p:spPr>
      </p:pic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3F8E66EC-67C3-EE54-2569-BBB275DD25C4}"/>
              </a:ext>
            </a:extLst>
          </p:cNvPr>
          <p:cNvSpPr/>
          <p:nvPr/>
        </p:nvSpPr>
        <p:spPr>
          <a:xfrm>
            <a:off x="380396" y="5038836"/>
            <a:ext cx="938049" cy="450206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AE46206D-6220-ECF0-4E36-220BC5E71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97" y="143927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dirty="0"/>
              <a:t>Backtesting</a:t>
            </a:r>
          </a:p>
          <a:p>
            <a:r>
              <a:rPr lang="es-PE" altLang="es-PE" sz="1800" dirty="0"/>
              <a:t>El modelo clasifica las alertas con riesgo en niveles de prioridad-Alertas Automáticas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9F5373D-CD8A-0A73-FF37-AACAB4188439}"/>
              </a:ext>
            </a:extLst>
          </p:cNvPr>
          <p:cNvSpPr/>
          <p:nvPr/>
        </p:nvSpPr>
        <p:spPr>
          <a:xfrm>
            <a:off x="1859082" y="6058424"/>
            <a:ext cx="8743720" cy="300578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18705FA-8F88-4842-A387-03687B319C3F}"/>
              </a:ext>
            </a:extLst>
          </p:cNvPr>
          <p:cNvSpPr/>
          <p:nvPr/>
        </p:nvSpPr>
        <p:spPr>
          <a:xfrm>
            <a:off x="1810526" y="4847056"/>
            <a:ext cx="8792276" cy="917825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Marcador de texto 3">
            <a:extLst>
              <a:ext uri="{FF2B5EF4-FFF2-40B4-BE49-F238E27FC236}">
                <a16:creationId xmlns:a16="http://schemas.microsoft.com/office/drawing/2014/main" id="{60C3746E-A105-A6EF-DC50-1593C3E4D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49" y="5125173"/>
            <a:ext cx="83801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sz="1800" dirty="0">
                <a:solidFill>
                  <a:schemeClr val="bg1"/>
                </a:solidFill>
              </a:rPr>
              <a:t>85%</a:t>
            </a:r>
          </a:p>
        </p:txBody>
      </p:sp>
      <p:sp>
        <p:nvSpPr>
          <p:cNvPr id="16" name="Marcador de texto 3">
            <a:extLst>
              <a:ext uri="{FF2B5EF4-FFF2-40B4-BE49-F238E27FC236}">
                <a16:creationId xmlns:a16="http://schemas.microsoft.com/office/drawing/2014/main" id="{47522DFE-147E-28C6-8E9D-CA0F56F64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376" y="4606184"/>
            <a:ext cx="124702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pPr algn="ctr"/>
            <a:r>
              <a:rPr lang="es-PE" altLang="es-PE" sz="1200" dirty="0"/>
              <a:t>%</a:t>
            </a:r>
            <a:r>
              <a:rPr lang="es-PE" altLang="es-PE" sz="1200" dirty="0" err="1"/>
              <a:t>Recall</a:t>
            </a:r>
            <a:endParaRPr lang="es-PE" altLang="es-PE" sz="1200" dirty="0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FC451A8A-4662-C5DE-E501-8E393C76427D}"/>
              </a:ext>
            </a:extLst>
          </p:cNvPr>
          <p:cNvSpPr/>
          <p:nvPr/>
        </p:nvSpPr>
        <p:spPr>
          <a:xfrm>
            <a:off x="1384516" y="5128178"/>
            <a:ext cx="410854" cy="310922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907B8D17-2332-B936-4261-9031BA340AA6}"/>
              </a:ext>
            </a:extLst>
          </p:cNvPr>
          <p:cNvSpPr/>
          <p:nvPr/>
        </p:nvSpPr>
        <p:spPr>
          <a:xfrm>
            <a:off x="1384516" y="6053328"/>
            <a:ext cx="410854" cy="31092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23">
            <a:extLst>
              <a:ext uri="{FF2B5EF4-FFF2-40B4-BE49-F238E27FC236}">
                <a16:creationId xmlns:a16="http://schemas.microsoft.com/office/drawing/2014/main" id="{2EAC2ED4-85C6-7638-39D4-723D6327AB58}"/>
              </a:ext>
            </a:extLst>
          </p:cNvPr>
          <p:cNvSpPr/>
          <p:nvPr/>
        </p:nvSpPr>
        <p:spPr>
          <a:xfrm>
            <a:off x="4836482" y="759078"/>
            <a:ext cx="183794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dirty="0">
                <a:solidFill>
                  <a:srgbClr val="0038A6"/>
                </a:solidFill>
                <a:latin typeface="Poppins"/>
                <a:cs typeface="Arial"/>
              </a:rPr>
              <a:t>Corte 08-2025</a:t>
            </a:r>
            <a:endParaRPr kumimoji="0" lang="es-ES" sz="16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Arial"/>
            </a:endParaRPr>
          </a:p>
        </p:txBody>
      </p:sp>
      <p:sp>
        <p:nvSpPr>
          <p:cNvPr id="21" name="Marcador de texto 3">
            <a:extLst>
              <a:ext uri="{FF2B5EF4-FFF2-40B4-BE49-F238E27FC236}">
                <a16:creationId xmlns:a16="http://schemas.microsoft.com/office/drawing/2014/main" id="{06B0FA7B-BA9C-C859-F5CD-DD50F4D1D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015" y="5764882"/>
            <a:ext cx="1368455" cy="760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pPr algn="ctr"/>
            <a:endParaRPr lang="es-PE" altLang="es-PE" sz="1200" dirty="0"/>
          </a:p>
        </p:txBody>
      </p:sp>
      <p:sp>
        <p:nvSpPr>
          <p:cNvPr id="23" name="Marcador de texto 3">
            <a:extLst>
              <a:ext uri="{FF2B5EF4-FFF2-40B4-BE49-F238E27FC236}">
                <a16:creationId xmlns:a16="http://schemas.microsoft.com/office/drawing/2014/main" id="{225F3411-CAE1-7478-317C-23574A5C0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54" y="6191019"/>
            <a:ext cx="83801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sz="1800" dirty="0">
                <a:solidFill>
                  <a:schemeClr val="bg1"/>
                </a:solidFill>
              </a:rPr>
              <a:t>85%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13E936FA-C608-9755-E6D8-7BC24454160F}"/>
              </a:ext>
            </a:extLst>
          </p:cNvPr>
          <p:cNvSpPr/>
          <p:nvPr/>
        </p:nvSpPr>
        <p:spPr>
          <a:xfrm>
            <a:off x="339469" y="5934456"/>
            <a:ext cx="938049" cy="45020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7" name="Marcador de texto 3">
            <a:extLst>
              <a:ext uri="{FF2B5EF4-FFF2-40B4-BE49-F238E27FC236}">
                <a16:creationId xmlns:a16="http://schemas.microsoft.com/office/drawing/2014/main" id="{2D807FB6-405E-83C6-3B16-2625DC637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022" y="5985295"/>
            <a:ext cx="83801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sz="1800" dirty="0">
                <a:solidFill>
                  <a:schemeClr val="bg1"/>
                </a:solidFill>
              </a:rPr>
              <a:t>1%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206ACF7-D7B6-49CE-1C1C-8A39D91D5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943" y="1126524"/>
            <a:ext cx="7418300" cy="305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5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ECCA2-8C51-B390-473D-12484FD72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7592C5CF-BBEC-EE3F-CAF2-66DAB923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606" y="4296728"/>
            <a:ext cx="8898730" cy="243070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C11DCE5-F7BC-BD41-90B0-042706CAA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69" y="1007525"/>
            <a:ext cx="11246810" cy="3332657"/>
          </a:xfrm>
          <a:prstGeom prst="rect">
            <a:avLst/>
          </a:prstGeom>
        </p:spPr>
      </p:pic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48EDD25-8EC2-DCA4-CC30-FFC5933033A9}"/>
              </a:ext>
            </a:extLst>
          </p:cNvPr>
          <p:cNvSpPr/>
          <p:nvPr/>
        </p:nvSpPr>
        <p:spPr>
          <a:xfrm>
            <a:off x="380396" y="5038836"/>
            <a:ext cx="938049" cy="450206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EAC41FC3-AC10-187A-CCB8-12A9282DB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97" y="143927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dirty="0"/>
              <a:t>Backtesting</a:t>
            </a:r>
          </a:p>
          <a:p>
            <a:r>
              <a:rPr lang="es-PE" altLang="es-PE" sz="1800" dirty="0"/>
              <a:t>El modelo clasifica las alertas con riesgo en niveles de prioridad-Alertas Automáticas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1F1AD03-A136-257B-F01B-4C6378767A7F}"/>
              </a:ext>
            </a:extLst>
          </p:cNvPr>
          <p:cNvSpPr/>
          <p:nvPr/>
        </p:nvSpPr>
        <p:spPr>
          <a:xfrm>
            <a:off x="1859082" y="6058424"/>
            <a:ext cx="8743720" cy="300578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87760E2-FA9B-6277-184D-C12DACD81FB6}"/>
              </a:ext>
            </a:extLst>
          </p:cNvPr>
          <p:cNvSpPr/>
          <p:nvPr/>
        </p:nvSpPr>
        <p:spPr>
          <a:xfrm>
            <a:off x="1810526" y="4847056"/>
            <a:ext cx="8792276" cy="917825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Marcador de texto 3">
            <a:extLst>
              <a:ext uri="{FF2B5EF4-FFF2-40B4-BE49-F238E27FC236}">
                <a16:creationId xmlns:a16="http://schemas.microsoft.com/office/drawing/2014/main" id="{BC58D320-CBE5-FDB4-8794-5D186CDD8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49" y="5125173"/>
            <a:ext cx="83801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sz="1800" dirty="0">
                <a:solidFill>
                  <a:schemeClr val="bg1"/>
                </a:solidFill>
              </a:rPr>
              <a:t>85%</a:t>
            </a:r>
          </a:p>
        </p:txBody>
      </p:sp>
      <p:sp>
        <p:nvSpPr>
          <p:cNvPr id="16" name="Marcador de texto 3">
            <a:extLst>
              <a:ext uri="{FF2B5EF4-FFF2-40B4-BE49-F238E27FC236}">
                <a16:creationId xmlns:a16="http://schemas.microsoft.com/office/drawing/2014/main" id="{3E5CFC73-1AA6-C615-335B-712B4CE44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376" y="4606184"/>
            <a:ext cx="124702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pPr algn="ctr"/>
            <a:r>
              <a:rPr lang="es-PE" altLang="es-PE" sz="1200" dirty="0"/>
              <a:t>%</a:t>
            </a:r>
            <a:r>
              <a:rPr lang="es-PE" altLang="es-PE" sz="1200" dirty="0" err="1"/>
              <a:t>Recall</a:t>
            </a:r>
            <a:endParaRPr lang="es-PE" altLang="es-PE" sz="1200" dirty="0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87EEC888-FB25-2A4A-B6C9-4DE7C791645D}"/>
              </a:ext>
            </a:extLst>
          </p:cNvPr>
          <p:cNvSpPr/>
          <p:nvPr/>
        </p:nvSpPr>
        <p:spPr>
          <a:xfrm>
            <a:off x="1384516" y="5128178"/>
            <a:ext cx="410854" cy="310922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5053105-762B-F2F1-1F28-591944609A34}"/>
              </a:ext>
            </a:extLst>
          </p:cNvPr>
          <p:cNvSpPr/>
          <p:nvPr/>
        </p:nvSpPr>
        <p:spPr>
          <a:xfrm>
            <a:off x="1384516" y="6053328"/>
            <a:ext cx="410854" cy="31092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23">
            <a:extLst>
              <a:ext uri="{FF2B5EF4-FFF2-40B4-BE49-F238E27FC236}">
                <a16:creationId xmlns:a16="http://schemas.microsoft.com/office/drawing/2014/main" id="{A8F2819F-4A10-E3F0-0FEB-8EC3EEC17EF0}"/>
              </a:ext>
            </a:extLst>
          </p:cNvPr>
          <p:cNvSpPr/>
          <p:nvPr/>
        </p:nvSpPr>
        <p:spPr>
          <a:xfrm>
            <a:off x="5106172" y="965120"/>
            <a:ext cx="183794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dirty="0">
                <a:solidFill>
                  <a:srgbClr val="0038A6"/>
                </a:solidFill>
                <a:latin typeface="Poppins"/>
                <a:cs typeface="Arial"/>
              </a:rPr>
              <a:t>Corte 08-2025</a:t>
            </a:r>
            <a:endParaRPr kumimoji="0" lang="es-ES" sz="16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Arial"/>
            </a:endParaRPr>
          </a:p>
        </p:txBody>
      </p:sp>
      <p:sp>
        <p:nvSpPr>
          <p:cNvPr id="21" name="Marcador de texto 3">
            <a:extLst>
              <a:ext uri="{FF2B5EF4-FFF2-40B4-BE49-F238E27FC236}">
                <a16:creationId xmlns:a16="http://schemas.microsoft.com/office/drawing/2014/main" id="{974D5F35-5DCD-50C2-BBDF-9CC217D5A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015" y="5764882"/>
            <a:ext cx="1368455" cy="760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pPr algn="ctr"/>
            <a:endParaRPr lang="es-PE" altLang="es-PE" sz="1200" dirty="0"/>
          </a:p>
        </p:txBody>
      </p:sp>
      <p:sp>
        <p:nvSpPr>
          <p:cNvPr id="23" name="Marcador de texto 3">
            <a:extLst>
              <a:ext uri="{FF2B5EF4-FFF2-40B4-BE49-F238E27FC236}">
                <a16:creationId xmlns:a16="http://schemas.microsoft.com/office/drawing/2014/main" id="{7EBF2A03-40BA-1A89-C4B8-9BE28B729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54" y="6191019"/>
            <a:ext cx="83801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sz="1800" dirty="0">
                <a:solidFill>
                  <a:schemeClr val="bg1"/>
                </a:solidFill>
              </a:rPr>
              <a:t>85%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F335196B-4A24-EB03-9495-A2573E340E0D}"/>
              </a:ext>
            </a:extLst>
          </p:cNvPr>
          <p:cNvSpPr/>
          <p:nvPr/>
        </p:nvSpPr>
        <p:spPr>
          <a:xfrm>
            <a:off x="339469" y="5934456"/>
            <a:ext cx="938049" cy="45020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7" name="Marcador de texto 3">
            <a:extLst>
              <a:ext uri="{FF2B5EF4-FFF2-40B4-BE49-F238E27FC236}">
                <a16:creationId xmlns:a16="http://schemas.microsoft.com/office/drawing/2014/main" id="{8C66F71F-8265-1F1F-B236-0BDFD4E35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022" y="5985295"/>
            <a:ext cx="83801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sz="1800" dirty="0">
                <a:solidFill>
                  <a:schemeClr val="bg1"/>
                </a:solidFill>
              </a:rPr>
              <a:t>1%</a:t>
            </a:r>
          </a:p>
        </p:txBody>
      </p:sp>
    </p:spTree>
    <p:extLst>
      <p:ext uri="{BB962C8B-B14F-4D97-AF65-F5344CB8AC3E}">
        <p14:creationId xmlns:p14="http://schemas.microsoft.com/office/powerpoint/2010/main" val="2589407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BE3B771F-4007-458C-649B-E64451ED4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06" y="2014006"/>
            <a:ext cx="2833796" cy="4215273"/>
          </a:xfrm>
          <a:prstGeom prst="rect">
            <a:avLst/>
          </a:prstGeom>
        </p:spPr>
      </p:pic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30AC34DD-C796-8B55-D8D2-2986EBFCCED2}"/>
              </a:ext>
            </a:extLst>
          </p:cNvPr>
          <p:cNvCxnSpPr>
            <a:cxnSpLocks/>
            <a:stCxn id="42" idx="0"/>
          </p:cNvCxnSpPr>
          <p:nvPr/>
        </p:nvCxnSpPr>
        <p:spPr>
          <a:xfrm flipV="1">
            <a:off x="4845084" y="4121643"/>
            <a:ext cx="3118892" cy="652498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ángulo redondeado 7">
            <a:extLst>
              <a:ext uri="{FF2B5EF4-FFF2-40B4-BE49-F238E27FC236}">
                <a16:creationId xmlns:a16="http://schemas.microsoft.com/office/drawing/2014/main" id="{B73275F1-97B2-4A1B-C677-9E3449ACA3EC}"/>
              </a:ext>
            </a:extLst>
          </p:cNvPr>
          <p:cNvSpPr/>
          <p:nvPr/>
        </p:nvSpPr>
        <p:spPr>
          <a:xfrm>
            <a:off x="289687" y="699500"/>
            <a:ext cx="5760000" cy="5898524"/>
          </a:xfrm>
          <a:prstGeom prst="roundRect">
            <a:avLst>
              <a:gd name="adj" fmla="val 4090"/>
            </a:avLst>
          </a:prstGeom>
          <a:noFill/>
          <a:ln w="12700">
            <a:solidFill>
              <a:srgbClr val="001E5F"/>
            </a:solidFill>
            <a:prstDash val="solid"/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50" charset="0"/>
              <a:ea typeface="+mn-ea"/>
              <a:cs typeface="+mn-cs"/>
            </a:endParaRPr>
          </a:p>
        </p:txBody>
      </p:sp>
      <p:sp>
        <p:nvSpPr>
          <p:cNvPr id="6" name="Rectángulo redondeado 7">
            <a:extLst>
              <a:ext uri="{FF2B5EF4-FFF2-40B4-BE49-F238E27FC236}">
                <a16:creationId xmlns:a16="http://schemas.microsoft.com/office/drawing/2014/main" id="{2CB775A5-DA53-EF6F-D66F-C1E0E64B88D7}"/>
              </a:ext>
            </a:extLst>
          </p:cNvPr>
          <p:cNvSpPr/>
          <p:nvPr/>
        </p:nvSpPr>
        <p:spPr>
          <a:xfrm>
            <a:off x="6160294" y="718882"/>
            <a:ext cx="5760000" cy="5879142"/>
          </a:xfrm>
          <a:prstGeom prst="roundRect">
            <a:avLst>
              <a:gd name="adj" fmla="val 4090"/>
            </a:avLst>
          </a:prstGeom>
          <a:noFill/>
          <a:ln w="12700">
            <a:solidFill>
              <a:srgbClr val="001E5F"/>
            </a:solidFill>
            <a:prstDash val="solid"/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50" charset="0"/>
              <a:ea typeface="+mn-ea"/>
              <a:cs typeface="+mn-cs"/>
            </a:endParaRPr>
          </a:p>
        </p:txBody>
      </p:sp>
      <p:sp>
        <p:nvSpPr>
          <p:cNvPr id="12" name="Marcador de texto 3">
            <a:extLst>
              <a:ext uri="{FF2B5EF4-FFF2-40B4-BE49-F238E27FC236}">
                <a16:creationId xmlns:a16="http://schemas.microsoft.com/office/drawing/2014/main" id="{E1693916-947A-B098-2697-F6E2363C2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05" y="136628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2800" b="0" i="0" u="none" strike="noStrike" kern="1200" cap="none" spc="0" normalizeH="0" baseline="0" noProof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Diseño de Piloto</a:t>
            </a:r>
          </a:p>
        </p:txBody>
      </p:sp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471F5121-C45B-DEA3-F30B-04CDE83FD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128" y="1337847"/>
            <a:ext cx="5165767" cy="100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PE" altLang="es-PE" sz="2400" dirty="0">
                <a:solidFill>
                  <a:srgbClr val="005F1E"/>
                </a:solidFill>
                <a:latin typeface="Poppins SemiBold"/>
                <a:ea typeface="Geometria" panose="020B0503020204020204" pitchFamily="34" charset="0"/>
                <a:cs typeface="Poppins SemiBold"/>
              </a:rPr>
              <a:t>401 Cliente</a:t>
            </a: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 con alertas automáticas</a:t>
            </a:r>
          </a:p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PE" altLang="es-PE" sz="1800" dirty="0">
                <a:solidFill>
                  <a:srgbClr val="005F1E"/>
                </a:solidFill>
                <a:latin typeface="Poppins SemiBold"/>
                <a:ea typeface="Geometria" panose="020B0503020204020204" pitchFamily="34" charset="0"/>
                <a:cs typeface="Poppins SemiBold"/>
              </a:rPr>
              <a:t> En Febrero - 26</a:t>
            </a:r>
            <a:endParaRPr kumimoji="0" lang="es-PE" altLang="es-PE" sz="1400" b="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 SemiBold"/>
              <a:ea typeface="Geometria" panose="020B0503020204020204" pitchFamily="34" charset="0"/>
              <a:cs typeface="Poppins SemiBold"/>
            </a:endParaRPr>
          </a:p>
        </p:txBody>
      </p:sp>
      <p:sp>
        <p:nvSpPr>
          <p:cNvPr id="19" name="Triángulo isósceles 18">
            <a:extLst>
              <a:ext uri="{FF2B5EF4-FFF2-40B4-BE49-F238E27FC236}">
                <a16:creationId xmlns:a16="http://schemas.microsoft.com/office/drawing/2014/main" id="{FA16BC4A-25AD-B76C-7293-71DF1DD64860}"/>
              </a:ext>
            </a:extLst>
          </p:cNvPr>
          <p:cNvSpPr/>
          <p:nvPr/>
        </p:nvSpPr>
        <p:spPr>
          <a:xfrm>
            <a:off x="7623914" y="4020504"/>
            <a:ext cx="1572328" cy="13274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990E49F5-FF47-2ACE-F14F-5662D25E83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861" t="5270" b="8177"/>
          <a:stretch>
            <a:fillRect/>
          </a:stretch>
        </p:blipFill>
        <p:spPr>
          <a:xfrm>
            <a:off x="7988605" y="3998554"/>
            <a:ext cx="974550" cy="643595"/>
          </a:xfrm>
          <a:prstGeom prst="rect">
            <a:avLst/>
          </a:prstGeom>
        </p:spPr>
      </p:pic>
      <p:pic>
        <p:nvPicPr>
          <p:cNvPr id="22" name="Picture 6" descr="Iconos Verdes de Inteligencia artificial - Descarga SVG, PNG, GIF Gratis">
            <a:extLst>
              <a:ext uri="{FF2B5EF4-FFF2-40B4-BE49-F238E27FC236}">
                <a16:creationId xmlns:a16="http://schemas.microsoft.com/office/drawing/2014/main" id="{2FB08F42-92C1-60C5-F836-F68479B68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1369" y="3606485"/>
            <a:ext cx="392070" cy="39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913F79D8-FB5D-A884-50E1-BCFF258E81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5" t="44059" r="-505" b="30543"/>
          <a:stretch>
            <a:fillRect/>
          </a:stretch>
        </p:blipFill>
        <p:spPr>
          <a:xfrm>
            <a:off x="7632303" y="4684217"/>
            <a:ext cx="1572904" cy="337552"/>
          </a:xfrm>
          <a:prstGeom prst="rect">
            <a:avLst/>
          </a:prstGeom>
        </p:spPr>
      </p:pic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848DDF55-0258-4C02-4496-DD33E2463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8477" y="3076178"/>
            <a:ext cx="3360658" cy="84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Oportunidad de nueva base potencial con riesgo</a:t>
            </a:r>
          </a:p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PE" altLang="es-PE" sz="1400" b="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 SemiBold"/>
              <a:ea typeface="Geometria" panose="020B0503020204020204" pitchFamily="34" charset="0"/>
              <a:cs typeface="Poppins SemiBold"/>
            </a:endParaRPr>
          </a:p>
        </p:txBody>
      </p:sp>
      <p:sp>
        <p:nvSpPr>
          <p:cNvPr id="28" name="Flecha: hacia abajo 27">
            <a:extLst>
              <a:ext uri="{FF2B5EF4-FFF2-40B4-BE49-F238E27FC236}">
                <a16:creationId xmlns:a16="http://schemas.microsoft.com/office/drawing/2014/main" id="{93176618-40D7-AD21-5858-C8E1FD339E53}"/>
              </a:ext>
            </a:extLst>
          </p:cNvPr>
          <p:cNvSpPr/>
          <p:nvPr/>
        </p:nvSpPr>
        <p:spPr>
          <a:xfrm rot="5400000">
            <a:off x="8931480" y="3982220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Flecha: hacia abajo 28">
            <a:extLst>
              <a:ext uri="{FF2B5EF4-FFF2-40B4-BE49-F238E27FC236}">
                <a16:creationId xmlns:a16="http://schemas.microsoft.com/office/drawing/2014/main" id="{765A62C1-F748-AEE8-D90D-7FA764DD0B10}"/>
              </a:ext>
            </a:extLst>
          </p:cNvPr>
          <p:cNvSpPr/>
          <p:nvPr/>
        </p:nvSpPr>
        <p:spPr>
          <a:xfrm rot="5400000">
            <a:off x="9092848" y="4343583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4E3681DF-41C1-BF08-0CAC-9439AF432AFC}"/>
              </a:ext>
            </a:extLst>
          </p:cNvPr>
          <p:cNvSpPr txBox="1"/>
          <p:nvPr/>
        </p:nvSpPr>
        <p:spPr>
          <a:xfrm>
            <a:off x="8945803" y="4360026"/>
            <a:ext cx="1795432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312</a:t>
            </a:r>
          </a:p>
        </p:txBody>
      </p:sp>
      <p:sp>
        <p:nvSpPr>
          <p:cNvPr id="31" name="Flecha: hacia abajo 30">
            <a:extLst>
              <a:ext uri="{FF2B5EF4-FFF2-40B4-BE49-F238E27FC236}">
                <a16:creationId xmlns:a16="http://schemas.microsoft.com/office/drawing/2014/main" id="{A75501D5-EABC-FC28-013C-B8BF8C85ED92}"/>
              </a:ext>
            </a:extLst>
          </p:cNvPr>
          <p:cNvSpPr/>
          <p:nvPr/>
        </p:nvSpPr>
        <p:spPr>
          <a:xfrm rot="5400000">
            <a:off x="9257116" y="4658798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object 4">
            <a:extLst>
              <a:ext uri="{FF2B5EF4-FFF2-40B4-BE49-F238E27FC236}">
                <a16:creationId xmlns:a16="http://schemas.microsoft.com/office/drawing/2014/main" id="{610BE978-A79B-9870-7051-8C5A8589708B}"/>
              </a:ext>
            </a:extLst>
          </p:cNvPr>
          <p:cNvSpPr txBox="1"/>
          <p:nvPr/>
        </p:nvSpPr>
        <p:spPr>
          <a:xfrm>
            <a:off x="9110071" y="4675241"/>
            <a:ext cx="1795432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1" dirty="0">
                <a:solidFill>
                  <a:srgbClr val="005F1E"/>
                </a:solidFill>
                <a:latin typeface="Poppins"/>
                <a:cs typeface="Poppins"/>
              </a:rPr>
              <a:t>993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0D0A043-9088-6167-C231-7E715EFBA8F3}"/>
              </a:ext>
            </a:extLst>
          </p:cNvPr>
          <p:cNvSpPr txBox="1"/>
          <p:nvPr/>
        </p:nvSpPr>
        <p:spPr>
          <a:xfrm>
            <a:off x="6962115" y="1366729"/>
            <a:ext cx="44615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alt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5M </a:t>
            </a:r>
            <a:r>
              <a:rPr lang="es-PE" altLang="es-PE" dirty="0">
                <a:solidFill>
                  <a:srgbClr val="005F1E"/>
                </a:solidFill>
                <a:latin typeface="Poppins SemiBold"/>
                <a:ea typeface="Geometria" panose="020B0503020204020204" pitchFamily="34" charset="0"/>
                <a:cs typeface="Poppins SemiBold"/>
              </a:rPr>
              <a:t>Clientes</a:t>
            </a: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 totales</a:t>
            </a: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Flecha: hacia abajo 33">
            <a:extLst>
              <a:ext uri="{FF2B5EF4-FFF2-40B4-BE49-F238E27FC236}">
                <a16:creationId xmlns:a16="http://schemas.microsoft.com/office/drawing/2014/main" id="{55692AA8-8161-5634-7F04-5FF7F35B4E8C}"/>
              </a:ext>
            </a:extLst>
          </p:cNvPr>
          <p:cNvSpPr/>
          <p:nvPr/>
        </p:nvSpPr>
        <p:spPr>
          <a:xfrm rot="5400000">
            <a:off x="9481725" y="4992082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object 4">
            <a:extLst>
              <a:ext uri="{FF2B5EF4-FFF2-40B4-BE49-F238E27FC236}">
                <a16:creationId xmlns:a16="http://schemas.microsoft.com/office/drawing/2014/main" id="{0A8F51C3-8237-BF86-1DC8-1F2080D2D9D2}"/>
              </a:ext>
            </a:extLst>
          </p:cNvPr>
          <p:cNvSpPr txBox="1"/>
          <p:nvPr/>
        </p:nvSpPr>
        <p:spPr>
          <a:xfrm>
            <a:off x="9334680" y="5008525"/>
            <a:ext cx="1795432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+5 </a:t>
            </a:r>
            <a:r>
              <a:rPr lang="es-ES" sz="1600" b="1" dirty="0">
                <a:solidFill>
                  <a:srgbClr val="005F1E"/>
                </a:solidFill>
                <a:latin typeface="Poppins"/>
                <a:cs typeface="Poppins"/>
              </a:rPr>
              <a:t>M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F3C4B968-EDB9-C877-202B-E37E582DBDC9}"/>
              </a:ext>
            </a:extLst>
          </p:cNvPr>
          <p:cNvSpPr txBox="1"/>
          <p:nvPr/>
        </p:nvSpPr>
        <p:spPr>
          <a:xfrm>
            <a:off x="10202488" y="4667384"/>
            <a:ext cx="1664976" cy="341141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(corte por score</a:t>
            </a:r>
            <a:r>
              <a:rPr lang="es-ES" sz="900" dirty="0">
                <a:solidFill>
                  <a:srgbClr val="005F1E"/>
                </a:solidFill>
                <a:latin typeface="Poppins"/>
                <a:cs typeface="Poppins"/>
              </a:rPr>
              <a:t>)</a:t>
            </a:r>
            <a:endParaRPr kumimoji="0" lang="es-ES" sz="90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"/>
              <a:cs typeface="Poppins"/>
            </a:endParaRPr>
          </a:p>
        </p:txBody>
      </p:sp>
      <p:sp>
        <p:nvSpPr>
          <p:cNvPr id="42" name="Flecha: hacia abajo 41">
            <a:extLst>
              <a:ext uri="{FF2B5EF4-FFF2-40B4-BE49-F238E27FC236}">
                <a16:creationId xmlns:a16="http://schemas.microsoft.com/office/drawing/2014/main" id="{E6C0AF9F-29DE-6E7B-4285-1261D6B95DC7}"/>
              </a:ext>
            </a:extLst>
          </p:cNvPr>
          <p:cNvSpPr/>
          <p:nvPr/>
        </p:nvSpPr>
        <p:spPr>
          <a:xfrm rot="3359464">
            <a:off x="4435521" y="4668576"/>
            <a:ext cx="421973" cy="479103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6CB50C23-D1FC-3ABB-869B-9FFEEE8140C4}"/>
              </a:ext>
            </a:extLst>
          </p:cNvPr>
          <p:cNvSpPr/>
          <p:nvPr/>
        </p:nvSpPr>
        <p:spPr>
          <a:xfrm>
            <a:off x="8076358" y="3882406"/>
            <a:ext cx="598711" cy="392070"/>
          </a:xfrm>
          <a:prstGeom prst="round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ángulo redondeado 29">
            <a:extLst>
              <a:ext uri="{FF2B5EF4-FFF2-40B4-BE49-F238E27FC236}">
                <a16:creationId xmlns:a16="http://schemas.microsoft.com/office/drawing/2014/main" id="{BB82FBDE-A8AC-D7C2-A84C-9CB01CFA6588}"/>
              </a:ext>
            </a:extLst>
          </p:cNvPr>
          <p:cNvSpPr/>
          <p:nvPr/>
        </p:nvSpPr>
        <p:spPr>
          <a:xfrm>
            <a:off x="289687" y="689738"/>
            <a:ext cx="5760000" cy="453327"/>
          </a:xfrm>
          <a:prstGeom prst="roundRect">
            <a:avLst/>
          </a:prstGeom>
          <a:solidFill>
            <a:srgbClr val="1F459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 panose="00000700000000000000" pitchFamily="2" charset="0"/>
                <a:cs typeface="Poppins SemiBold" panose="00000700000000000000" pitchFamily="2" charset="0"/>
              </a:rPr>
              <a:t>A</a:t>
            </a:r>
            <a:r>
              <a:rPr kumimoji="0" lang="es-P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 panose="00000700000000000000" pitchFamily="2" charset="0"/>
                <a:cs typeface="Poppins SemiBold" panose="00000700000000000000" pitchFamily="2" charset="0"/>
              </a:rPr>
              <a:t>lertas Generadas por el Sistema de Monitoreo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C41ACFD8-9066-DFC0-1786-F503E9314308}"/>
              </a:ext>
            </a:extLst>
          </p:cNvPr>
          <p:cNvSpPr/>
          <p:nvPr/>
        </p:nvSpPr>
        <p:spPr>
          <a:xfrm>
            <a:off x="1343475" y="4486889"/>
            <a:ext cx="2919128" cy="1218967"/>
          </a:xfrm>
          <a:prstGeom prst="round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359C1233-2613-428E-0354-507DA2DF075C}"/>
              </a:ext>
            </a:extLst>
          </p:cNvPr>
          <p:cNvSpPr txBox="1"/>
          <p:nvPr/>
        </p:nvSpPr>
        <p:spPr>
          <a:xfrm>
            <a:off x="9892871" y="4341957"/>
            <a:ext cx="1664976" cy="341141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algn="ctr">
              <a:lnSpc>
                <a:spcPts val="3000"/>
              </a:lnSpc>
              <a:spcBef>
                <a:spcPts val="1090"/>
              </a:spcBef>
              <a:defRPr/>
            </a:pP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(P1 riesgo)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A09C0DAE-419B-CB25-AB15-F1672DD9E54B}"/>
              </a:ext>
            </a:extLst>
          </p:cNvPr>
          <p:cNvSpPr txBox="1"/>
          <p:nvPr/>
        </p:nvSpPr>
        <p:spPr>
          <a:xfrm>
            <a:off x="8805501" y="3994831"/>
            <a:ext cx="1664976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118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834D4A28-BE05-5794-6010-EC267CB8C2B5}"/>
              </a:ext>
            </a:extLst>
          </p:cNvPr>
          <p:cNvSpPr txBox="1"/>
          <p:nvPr/>
        </p:nvSpPr>
        <p:spPr>
          <a:xfrm>
            <a:off x="9758645" y="3979210"/>
            <a:ext cx="1664976" cy="341141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fontAlgn="auto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(</a:t>
            </a:r>
            <a:r>
              <a:rPr lang="es-PE" sz="1200" dirty="0" err="1">
                <a:solidFill>
                  <a:srgbClr val="005F1E"/>
                </a:solidFill>
                <a:latin typeface="Poppins"/>
                <a:cs typeface="Poppins"/>
              </a:rPr>
              <a:t>Thresholds</a:t>
            </a:r>
            <a:r>
              <a:rPr lang="es-PE" sz="1200" dirty="0">
                <a:solidFill>
                  <a:srgbClr val="005F1E"/>
                </a:solidFill>
                <a:latin typeface="Poppins"/>
                <a:cs typeface="Poppins"/>
              </a:rPr>
              <a:t> óptimo</a:t>
            </a: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)</a:t>
            </a:r>
          </a:p>
        </p:txBody>
      </p:sp>
      <p:sp>
        <p:nvSpPr>
          <p:cNvPr id="5" name="Rectángulo redondeado 29">
            <a:extLst>
              <a:ext uri="{FF2B5EF4-FFF2-40B4-BE49-F238E27FC236}">
                <a16:creationId xmlns:a16="http://schemas.microsoft.com/office/drawing/2014/main" id="{D10F5E71-3838-65CA-3C99-6F9C97160538}"/>
              </a:ext>
            </a:extLst>
          </p:cNvPr>
          <p:cNvSpPr/>
          <p:nvPr/>
        </p:nvSpPr>
        <p:spPr>
          <a:xfrm>
            <a:off x="6160294" y="689737"/>
            <a:ext cx="5760000" cy="453327"/>
          </a:xfrm>
          <a:prstGeom prst="roundRect">
            <a:avLst/>
          </a:prstGeom>
          <a:solidFill>
            <a:srgbClr val="1F459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s-PE" sz="1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Clientes sin alertas</a:t>
            </a:r>
            <a:endParaRPr kumimoji="0" lang="es-P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5EDEE6D-D17F-076F-B681-BC9DD8C3B494}"/>
              </a:ext>
            </a:extLst>
          </p:cNvPr>
          <p:cNvSpPr txBox="1"/>
          <p:nvPr/>
        </p:nvSpPr>
        <p:spPr>
          <a:xfrm>
            <a:off x="8302029" y="60468"/>
            <a:ext cx="38222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Mediana Empresa y Corporativo</a:t>
            </a: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359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6" grpId="0"/>
      <p:bldP spid="28" grpId="0" animBg="1"/>
      <p:bldP spid="29" grpId="0" animBg="1"/>
      <p:bldP spid="30" grpId="0"/>
      <p:bldP spid="31" grpId="0" animBg="1"/>
      <p:bldP spid="32" grpId="0"/>
      <p:bldP spid="33" grpId="0"/>
      <p:bldP spid="34" grpId="0" animBg="1"/>
      <p:bldP spid="35" grpId="0"/>
      <p:bldP spid="41" grpId="0"/>
      <p:bldP spid="45" grpId="0" animBg="1"/>
      <p:bldP spid="15" grpId="0" animBg="1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8D388-FE72-7F65-C1E2-0C4B7276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33D3B-C2CF-BE4F-33B4-C7872A66F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106706"/>
            <a:ext cx="10479741" cy="1905000"/>
          </a:xfrm>
        </p:spPr>
        <p:txBody>
          <a:bodyPr>
            <a:normAutofit fontScale="90000"/>
          </a:bodyPr>
          <a:lstStyle/>
          <a:p>
            <a:r>
              <a:rPr lang="es-MX" dirty="0">
                <a:solidFill>
                  <a:schemeClr val="bg1"/>
                </a:solidFill>
              </a:rPr>
              <a:t>Modelo predictivo PLAFT </a:t>
            </a:r>
            <a:br>
              <a:rPr lang="es-MX" dirty="0"/>
            </a:br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76D4B9C-1D7A-9DB2-D6DF-F705529692CE}"/>
              </a:ext>
            </a:extLst>
          </p:cNvPr>
          <p:cNvSpPr txBox="1"/>
          <p:nvPr/>
        </p:nvSpPr>
        <p:spPr>
          <a:xfrm>
            <a:off x="1102659" y="3136612"/>
            <a:ext cx="95655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Segmento PN Consumo Inicial</a:t>
            </a:r>
            <a:endParaRPr lang="es-PE" sz="3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050BDCB-5209-1CE3-C480-8736BA41C9A0}"/>
              </a:ext>
            </a:extLst>
          </p:cNvPr>
          <p:cNvSpPr txBox="1"/>
          <p:nvPr/>
        </p:nvSpPr>
        <p:spPr>
          <a:xfrm>
            <a:off x="-89114" y="487233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Junio 2026</a:t>
            </a:r>
            <a:endParaRPr lang="es-PE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632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F8E7F-2532-D0ED-E50B-443AB3027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Rectángulo">
            <a:extLst>
              <a:ext uri="{FF2B5EF4-FFF2-40B4-BE49-F238E27FC236}">
                <a16:creationId xmlns:a16="http://schemas.microsoft.com/office/drawing/2014/main" id="{27F3C5F5-C6F2-11E5-91F3-2A424574D070}"/>
              </a:ext>
            </a:extLst>
          </p:cNvPr>
          <p:cNvSpPr/>
          <p:nvPr/>
        </p:nvSpPr>
        <p:spPr>
          <a:xfrm>
            <a:off x="4268656" y="1001855"/>
            <a:ext cx="4121116" cy="504000"/>
          </a:xfrm>
          <a:prstGeom prst="rect">
            <a:avLst/>
          </a:prstGeom>
          <a:solidFill>
            <a:srgbClr val="00D03C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465" tIns="34289" rIns="68465" bIns="34289" rtlCol="0" anchor="ctr"/>
          <a:lstStyle/>
          <a:p>
            <a:pPr marL="0" marR="0" lvl="0" indent="0" algn="ctr" defTabSz="6844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Resultados</a:t>
            </a:r>
          </a:p>
        </p:txBody>
      </p:sp>
      <p:sp>
        <p:nvSpPr>
          <p:cNvPr id="3" name="10 Rectángulo">
            <a:extLst>
              <a:ext uri="{FF2B5EF4-FFF2-40B4-BE49-F238E27FC236}">
                <a16:creationId xmlns:a16="http://schemas.microsoft.com/office/drawing/2014/main" id="{33C45F3D-733C-142A-63C5-B6E604E78607}"/>
              </a:ext>
            </a:extLst>
          </p:cNvPr>
          <p:cNvSpPr/>
          <p:nvPr/>
        </p:nvSpPr>
        <p:spPr>
          <a:xfrm>
            <a:off x="4279861" y="1540968"/>
            <a:ext cx="4121116" cy="457279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t" anchorCtr="0"/>
          <a:lstStyle/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,Sans-Serif"/>
              <a:buChar char="•"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Arial"/>
            </a:endParaRPr>
          </a:p>
        </p:txBody>
      </p:sp>
      <p:sp>
        <p:nvSpPr>
          <p:cNvPr id="4" name="8 Rectángulo">
            <a:extLst>
              <a:ext uri="{FF2B5EF4-FFF2-40B4-BE49-F238E27FC236}">
                <a16:creationId xmlns:a16="http://schemas.microsoft.com/office/drawing/2014/main" id="{729C87CA-9CF5-70D0-B966-69CCBE0B5AB0}"/>
              </a:ext>
            </a:extLst>
          </p:cNvPr>
          <p:cNvSpPr/>
          <p:nvPr/>
        </p:nvSpPr>
        <p:spPr>
          <a:xfrm>
            <a:off x="8501499" y="990120"/>
            <a:ext cx="3602480" cy="504000"/>
          </a:xfrm>
          <a:prstGeom prst="rect">
            <a:avLst/>
          </a:prstGeom>
          <a:solidFill>
            <a:srgbClr val="00D03C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465" tIns="34289" rIns="68465" bIns="34289" rtlCol="0" anchor="ctr"/>
          <a:lstStyle/>
          <a:p>
            <a:pPr marL="0" marR="0" lvl="0" indent="0" algn="ctr" defTabSz="6844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Limitaciones</a:t>
            </a:r>
          </a:p>
        </p:txBody>
      </p:sp>
      <p:sp>
        <p:nvSpPr>
          <p:cNvPr id="8" name="Rectángulo 1041">
            <a:extLst>
              <a:ext uri="{FF2B5EF4-FFF2-40B4-BE49-F238E27FC236}">
                <a16:creationId xmlns:a16="http://schemas.microsoft.com/office/drawing/2014/main" id="{FC462EEF-01DA-61EE-8761-ECAA861F382F}"/>
              </a:ext>
            </a:extLst>
          </p:cNvPr>
          <p:cNvSpPr/>
          <p:nvPr/>
        </p:nvSpPr>
        <p:spPr>
          <a:xfrm>
            <a:off x="4998041" y="2048025"/>
            <a:ext cx="1523241" cy="276999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 pitchFamily="34" charset="0"/>
                <a:ea typeface="Geometria" panose="020B0503020204020204" pitchFamily="34" charset="0"/>
                <a:cs typeface="+mn-cs"/>
              </a:rPr>
              <a:t>Entrenamiento</a:t>
            </a:r>
            <a:endParaRPr kumimoji="0" lang="es-PE" sz="1400" b="0" i="0" u="none" strike="noStrike" kern="1200" cap="none" spc="0" normalizeH="0" baseline="0" noProof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 panose="020B05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9" name="Rectángulo: una sola esquina redondeada 1042">
            <a:extLst>
              <a:ext uri="{FF2B5EF4-FFF2-40B4-BE49-F238E27FC236}">
                <a16:creationId xmlns:a16="http://schemas.microsoft.com/office/drawing/2014/main" id="{214F19BB-395B-595D-54A0-91C47B4C769A}"/>
              </a:ext>
            </a:extLst>
          </p:cNvPr>
          <p:cNvSpPr/>
          <p:nvPr/>
        </p:nvSpPr>
        <p:spPr>
          <a:xfrm>
            <a:off x="4966892" y="2050619"/>
            <a:ext cx="45719" cy="274714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Elipse 1043">
            <a:extLst>
              <a:ext uri="{FF2B5EF4-FFF2-40B4-BE49-F238E27FC236}">
                <a16:creationId xmlns:a16="http://schemas.microsoft.com/office/drawing/2014/main" id="{9B025DCE-A7F7-758C-0744-C6319BB6B7D6}"/>
              </a:ext>
            </a:extLst>
          </p:cNvPr>
          <p:cNvSpPr/>
          <p:nvPr/>
        </p:nvSpPr>
        <p:spPr>
          <a:xfrm>
            <a:off x="6577646" y="2096414"/>
            <a:ext cx="146295" cy="14462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7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Conector recto 1045">
            <a:extLst>
              <a:ext uri="{FF2B5EF4-FFF2-40B4-BE49-F238E27FC236}">
                <a16:creationId xmlns:a16="http://schemas.microsoft.com/office/drawing/2014/main" id="{CD3E3C4B-CAF2-5BBD-D22C-44C0A6AC135B}"/>
              </a:ext>
            </a:extLst>
          </p:cNvPr>
          <p:cNvCxnSpPr>
            <a:cxnSpLocks/>
          </p:cNvCxnSpPr>
          <p:nvPr/>
        </p:nvCxnSpPr>
        <p:spPr>
          <a:xfrm flipV="1">
            <a:off x="6723941" y="2166796"/>
            <a:ext cx="261708" cy="1932"/>
          </a:xfrm>
          <a:prstGeom prst="lin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Freeform 29">
            <a:extLst>
              <a:ext uri="{FF2B5EF4-FFF2-40B4-BE49-F238E27FC236}">
                <a16:creationId xmlns:a16="http://schemas.microsoft.com/office/drawing/2014/main" id="{4E221D8C-8465-676A-1CC0-B707EC034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9008" y="1562307"/>
            <a:ext cx="718513" cy="897158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lIns="34290" tIns="17145" rIns="34290" bIns="17145" anchor="ctr"/>
          <a:lstStyle>
            <a:defPPr>
              <a:defRPr lang="ru-RU"/>
            </a:defPPr>
            <a:lvl1pPr marL="0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09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017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526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034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543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051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0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069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CuadroTexto 1063">
            <a:extLst>
              <a:ext uri="{FF2B5EF4-FFF2-40B4-BE49-F238E27FC236}">
                <a16:creationId xmlns:a16="http://schemas.microsoft.com/office/drawing/2014/main" id="{FF5FFB00-D942-E93B-6231-C6FE2EB14365}"/>
              </a:ext>
            </a:extLst>
          </p:cNvPr>
          <p:cNvSpPr txBox="1"/>
          <p:nvPr/>
        </p:nvSpPr>
        <p:spPr>
          <a:xfrm>
            <a:off x="6919246" y="1984074"/>
            <a:ext cx="106572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08BD4F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4</a:t>
            </a:r>
            <a:r>
              <a:rPr lang="es-ES" sz="2000" b="1" dirty="0">
                <a:solidFill>
                  <a:srgbClr val="08BD4F"/>
                </a:solidFill>
                <a:latin typeface="Geometria Medium"/>
                <a:ea typeface="Geometria" panose="020B0503020204020204" pitchFamily="34" charset="0"/>
              </a:rPr>
              <a:t>8</a:t>
            </a: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08BD4F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%</a:t>
            </a: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srgbClr val="08BD4F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37" name="Rectángulo 1065">
            <a:extLst>
              <a:ext uri="{FF2B5EF4-FFF2-40B4-BE49-F238E27FC236}">
                <a16:creationId xmlns:a16="http://schemas.microsoft.com/office/drawing/2014/main" id="{837C4370-2D4A-C023-410B-456AD445DA37}"/>
              </a:ext>
            </a:extLst>
          </p:cNvPr>
          <p:cNvSpPr/>
          <p:nvPr/>
        </p:nvSpPr>
        <p:spPr>
          <a:xfrm>
            <a:off x="4998041" y="2871927"/>
            <a:ext cx="1523241" cy="40011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/>
                <a:ea typeface="Geometria" panose="020B0503020204020204" pitchFamily="34" charset="0"/>
                <a:cs typeface="+mn-cs"/>
              </a:rPr>
              <a:t>Backtest</a:t>
            </a:r>
            <a:b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metria" panose="020B0503020204020204" pitchFamily="34" charset="0"/>
                <a:ea typeface="Geometria" panose="020B0503020204020204" pitchFamily="34" charset="0"/>
                <a:cs typeface="+mn-cs"/>
              </a:rPr>
            </a:b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/>
                <a:ea typeface="Geometria" panose="020B0503020204020204" pitchFamily="34" charset="0"/>
                <a:cs typeface="+mn-cs"/>
              </a:rPr>
              <a:t>(3 meses OOT)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38" name="Rectángulo: una sola esquina redondeada 1066">
            <a:extLst>
              <a:ext uri="{FF2B5EF4-FFF2-40B4-BE49-F238E27FC236}">
                <a16:creationId xmlns:a16="http://schemas.microsoft.com/office/drawing/2014/main" id="{3FA75C27-04CF-1BD1-80B4-C6C7C7BBF925}"/>
              </a:ext>
            </a:extLst>
          </p:cNvPr>
          <p:cNvSpPr/>
          <p:nvPr/>
        </p:nvSpPr>
        <p:spPr>
          <a:xfrm>
            <a:off x="4966892" y="2874521"/>
            <a:ext cx="45719" cy="396000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Elipse 1067">
            <a:extLst>
              <a:ext uri="{FF2B5EF4-FFF2-40B4-BE49-F238E27FC236}">
                <a16:creationId xmlns:a16="http://schemas.microsoft.com/office/drawing/2014/main" id="{A9951F3C-504C-E48C-F246-EA7CC6A29A3B}"/>
              </a:ext>
            </a:extLst>
          </p:cNvPr>
          <p:cNvSpPr/>
          <p:nvPr/>
        </p:nvSpPr>
        <p:spPr>
          <a:xfrm>
            <a:off x="6569309" y="2993526"/>
            <a:ext cx="146295" cy="14462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7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" name="Conector recto 1068">
            <a:extLst>
              <a:ext uri="{FF2B5EF4-FFF2-40B4-BE49-F238E27FC236}">
                <a16:creationId xmlns:a16="http://schemas.microsoft.com/office/drawing/2014/main" id="{B1917339-8DAA-34E7-ECA0-80980D6AF0C3}"/>
              </a:ext>
            </a:extLst>
          </p:cNvPr>
          <p:cNvCxnSpPr>
            <a:cxnSpLocks/>
          </p:cNvCxnSpPr>
          <p:nvPr/>
        </p:nvCxnSpPr>
        <p:spPr>
          <a:xfrm flipV="1">
            <a:off x="6715604" y="3063383"/>
            <a:ext cx="234933" cy="2457"/>
          </a:xfrm>
          <a:prstGeom prst="lin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Freeform 29">
            <a:extLst>
              <a:ext uri="{FF2B5EF4-FFF2-40B4-BE49-F238E27FC236}">
                <a16:creationId xmlns:a16="http://schemas.microsoft.com/office/drawing/2014/main" id="{7A6A35FC-835E-1127-CE15-58F3CE7B9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3642" y="2568283"/>
            <a:ext cx="389242" cy="411403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lIns="34290" tIns="17145" rIns="34290" bIns="17145" anchor="ctr"/>
          <a:lstStyle>
            <a:defPPr>
              <a:defRPr lang="ru-RU"/>
            </a:defPPr>
            <a:lvl1pPr marL="0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09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017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526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034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543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051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0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069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CuadroTexto 1081">
            <a:extLst>
              <a:ext uri="{FF2B5EF4-FFF2-40B4-BE49-F238E27FC236}">
                <a16:creationId xmlns:a16="http://schemas.microsoft.com/office/drawing/2014/main" id="{3D996BD6-59E9-8DF8-F7BB-CB6B87A41979}"/>
              </a:ext>
            </a:extLst>
          </p:cNvPr>
          <p:cNvSpPr txBox="1"/>
          <p:nvPr/>
        </p:nvSpPr>
        <p:spPr>
          <a:xfrm>
            <a:off x="6920447" y="2893681"/>
            <a:ext cx="106572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08BD4F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45%</a:t>
            </a: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srgbClr val="08BD4F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43" name="Rectángulo 1082">
            <a:extLst>
              <a:ext uri="{FF2B5EF4-FFF2-40B4-BE49-F238E27FC236}">
                <a16:creationId xmlns:a16="http://schemas.microsoft.com/office/drawing/2014/main" id="{59523327-9358-6652-7BF7-A4E0A9C76CDC}"/>
              </a:ext>
            </a:extLst>
          </p:cNvPr>
          <p:cNvSpPr/>
          <p:nvPr/>
        </p:nvSpPr>
        <p:spPr>
          <a:xfrm>
            <a:off x="4916066" y="3411368"/>
            <a:ext cx="286403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 w="0"/>
                <a:solidFill>
                  <a:srgbClr val="196B2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Poppins"/>
                <a:ea typeface="+mn-ea"/>
                <a:cs typeface="Poppins"/>
              </a:rPr>
              <a:t>Calidad</a:t>
            </a:r>
            <a:r>
              <a:rPr kumimoji="0" lang="es-ES" sz="2400" b="0" i="0" u="none" strike="noStrike" kern="1200" cap="none" spc="0" normalizeH="0" baseline="0" noProof="0" dirty="0">
                <a:ln w="0"/>
                <a:solidFill>
                  <a:srgbClr val="08BD4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Poppins"/>
                <a:ea typeface="+mn-ea"/>
                <a:cs typeface="Poppins"/>
              </a:rPr>
              <a:t> Satisfactorio</a:t>
            </a:r>
          </a:p>
        </p:txBody>
      </p:sp>
      <p:sp>
        <p:nvSpPr>
          <p:cNvPr id="56" name="Rectángulo 1130">
            <a:extLst>
              <a:ext uri="{FF2B5EF4-FFF2-40B4-BE49-F238E27FC236}">
                <a16:creationId xmlns:a16="http://schemas.microsoft.com/office/drawing/2014/main" id="{5F95E512-D45D-985C-9EF9-387474E39F9F}"/>
              </a:ext>
            </a:extLst>
          </p:cNvPr>
          <p:cNvSpPr/>
          <p:nvPr/>
        </p:nvSpPr>
        <p:spPr>
          <a:xfrm>
            <a:off x="4476726" y="4309797"/>
            <a:ext cx="299312" cy="1545661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 pitchFamily="34" charset="0"/>
                <a:ea typeface="Geometria" panose="020B0503020204020204" pitchFamily="34" charset="0"/>
                <a:cs typeface="+mn-cs"/>
              </a:rPr>
              <a:t>Fuentes</a:t>
            </a:r>
            <a:endParaRPr kumimoji="0" lang="es-PE" sz="1100" b="0" i="0" u="none" strike="noStrike" kern="1200" cap="none" spc="0" normalizeH="0" baseline="0" noProof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 panose="020B05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57" name="Rectángulo: una sola esquina redondeada 1131">
            <a:extLst>
              <a:ext uri="{FF2B5EF4-FFF2-40B4-BE49-F238E27FC236}">
                <a16:creationId xmlns:a16="http://schemas.microsoft.com/office/drawing/2014/main" id="{DC24BB2F-058F-0567-6CBF-8783CA0E7D82}"/>
              </a:ext>
            </a:extLst>
          </p:cNvPr>
          <p:cNvSpPr/>
          <p:nvPr/>
        </p:nvSpPr>
        <p:spPr>
          <a:xfrm>
            <a:off x="4443036" y="4334797"/>
            <a:ext cx="45719" cy="1538844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ángulo 1132">
            <a:extLst>
              <a:ext uri="{FF2B5EF4-FFF2-40B4-BE49-F238E27FC236}">
                <a16:creationId xmlns:a16="http://schemas.microsoft.com/office/drawing/2014/main" id="{EC702584-0C64-5D45-59F5-3536211A8DFD}"/>
              </a:ext>
            </a:extLst>
          </p:cNvPr>
          <p:cNvSpPr/>
          <p:nvPr/>
        </p:nvSpPr>
        <p:spPr>
          <a:xfrm>
            <a:off x="4393427" y="3981703"/>
            <a:ext cx="3886542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ángulo 2">
            <a:extLst>
              <a:ext uri="{FF2B5EF4-FFF2-40B4-BE49-F238E27FC236}">
                <a16:creationId xmlns:a16="http://schemas.microsoft.com/office/drawing/2014/main" id="{BD9B7B61-249E-7FAC-B184-B22FA263D6D5}"/>
              </a:ext>
            </a:extLst>
          </p:cNvPr>
          <p:cNvSpPr/>
          <p:nvPr/>
        </p:nvSpPr>
        <p:spPr>
          <a:xfrm>
            <a:off x="351642" y="4940089"/>
            <a:ext cx="3607787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ectángulo: una sola esquina redondeada 3">
            <a:extLst>
              <a:ext uri="{FF2B5EF4-FFF2-40B4-BE49-F238E27FC236}">
                <a16:creationId xmlns:a16="http://schemas.microsoft.com/office/drawing/2014/main" id="{7BA1FCEF-2B51-B414-C761-B9E1ABA555C8}"/>
              </a:ext>
            </a:extLst>
          </p:cNvPr>
          <p:cNvSpPr/>
          <p:nvPr/>
        </p:nvSpPr>
        <p:spPr>
          <a:xfrm>
            <a:off x="293262" y="4944830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ángulo 9">
            <a:extLst>
              <a:ext uri="{FF2B5EF4-FFF2-40B4-BE49-F238E27FC236}">
                <a16:creationId xmlns:a16="http://schemas.microsoft.com/office/drawing/2014/main" id="{D7F7EE1D-51E7-42A8-3F67-E23232EB9114}"/>
              </a:ext>
            </a:extLst>
          </p:cNvPr>
          <p:cNvSpPr/>
          <p:nvPr/>
        </p:nvSpPr>
        <p:spPr>
          <a:xfrm>
            <a:off x="352473" y="3826206"/>
            <a:ext cx="3607787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ángulo: una sola esquina redondeada 14">
            <a:extLst>
              <a:ext uri="{FF2B5EF4-FFF2-40B4-BE49-F238E27FC236}">
                <a16:creationId xmlns:a16="http://schemas.microsoft.com/office/drawing/2014/main" id="{5B18FE8B-23ED-C4B3-13A0-3D5DED394DD6}"/>
              </a:ext>
            </a:extLst>
          </p:cNvPr>
          <p:cNvSpPr/>
          <p:nvPr/>
        </p:nvSpPr>
        <p:spPr>
          <a:xfrm>
            <a:off x="294093" y="3830947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ángulo 15">
            <a:extLst>
              <a:ext uri="{FF2B5EF4-FFF2-40B4-BE49-F238E27FC236}">
                <a16:creationId xmlns:a16="http://schemas.microsoft.com/office/drawing/2014/main" id="{487793D4-24DA-6B52-3D31-6B13FD4D6C68}"/>
              </a:ext>
            </a:extLst>
          </p:cNvPr>
          <p:cNvSpPr/>
          <p:nvPr/>
        </p:nvSpPr>
        <p:spPr>
          <a:xfrm>
            <a:off x="352473" y="2692022"/>
            <a:ext cx="3607787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Rectángulo: una sola esquina redondeada 16">
            <a:extLst>
              <a:ext uri="{FF2B5EF4-FFF2-40B4-BE49-F238E27FC236}">
                <a16:creationId xmlns:a16="http://schemas.microsoft.com/office/drawing/2014/main" id="{A948FABF-885B-FF4A-1BCA-7AF129371A9D}"/>
              </a:ext>
            </a:extLst>
          </p:cNvPr>
          <p:cNvSpPr/>
          <p:nvPr/>
        </p:nvSpPr>
        <p:spPr>
          <a:xfrm>
            <a:off x="294093" y="2696763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ángulo 17">
            <a:extLst>
              <a:ext uri="{FF2B5EF4-FFF2-40B4-BE49-F238E27FC236}">
                <a16:creationId xmlns:a16="http://schemas.microsoft.com/office/drawing/2014/main" id="{2935EA1A-D97F-F7D9-0EE7-89123C860A00}"/>
              </a:ext>
            </a:extLst>
          </p:cNvPr>
          <p:cNvSpPr/>
          <p:nvPr/>
        </p:nvSpPr>
        <p:spPr>
          <a:xfrm>
            <a:off x="361167" y="1576816"/>
            <a:ext cx="3607787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9 Rectángulo">
            <a:extLst>
              <a:ext uri="{FF2B5EF4-FFF2-40B4-BE49-F238E27FC236}">
                <a16:creationId xmlns:a16="http://schemas.microsoft.com/office/drawing/2014/main" id="{55A3170F-3409-B37C-1446-896451447C18}"/>
              </a:ext>
            </a:extLst>
          </p:cNvPr>
          <p:cNvSpPr/>
          <p:nvPr/>
        </p:nvSpPr>
        <p:spPr>
          <a:xfrm>
            <a:off x="111184" y="1001855"/>
            <a:ext cx="3935913" cy="504000"/>
          </a:xfrm>
          <a:prstGeom prst="rect">
            <a:avLst/>
          </a:prstGeom>
          <a:solidFill>
            <a:srgbClr val="00D03C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lIns="68465" tIns="34289" rIns="68465" bIns="34289" rtlCol="0" anchor="ctr"/>
          <a:lstStyle/>
          <a:p>
            <a:pPr marL="0" marR="0" lvl="0" indent="0" algn="ctr" defTabSz="684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Ficha técnica</a:t>
            </a:r>
          </a:p>
        </p:txBody>
      </p:sp>
      <p:sp>
        <p:nvSpPr>
          <p:cNvPr id="67" name="11 Rectángulo">
            <a:extLst>
              <a:ext uri="{FF2B5EF4-FFF2-40B4-BE49-F238E27FC236}">
                <a16:creationId xmlns:a16="http://schemas.microsoft.com/office/drawing/2014/main" id="{FCF0DE57-2392-F86A-F620-CE98924F9E4C}"/>
              </a:ext>
            </a:extLst>
          </p:cNvPr>
          <p:cNvSpPr/>
          <p:nvPr/>
        </p:nvSpPr>
        <p:spPr>
          <a:xfrm>
            <a:off x="111184" y="1505853"/>
            <a:ext cx="3935913" cy="4561403"/>
          </a:xfrm>
          <a:prstGeom prst="rect">
            <a:avLst/>
          </a:prstGeom>
          <a:noFill/>
          <a:ln w="635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lIns="72000" tIns="0" rIns="72000" bIns="0" rtlCol="0" anchor="t" anchorCtr="0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CuadroTexto 21">
            <a:extLst>
              <a:ext uri="{FF2B5EF4-FFF2-40B4-BE49-F238E27FC236}">
                <a16:creationId xmlns:a16="http://schemas.microsoft.com/office/drawing/2014/main" id="{C0E27351-52E5-3AAF-9EED-3DD87DEFE606}"/>
              </a:ext>
            </a:extLst>
          </p:cNvPr>
          <p:cNvSpPr txBox="1"/>
          <p:nvPr/>
        </p:nvSpPr>
        <p:spPr>
          <a:xfrm>
            <a:off x="171671" y="2336915"/>
            <a:ext cx="1224000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120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 Bold"/>
                <a:ea typeface="+mn-ea"/>
                <a:cs typeface="Poppins Bold"/>
              </a:rPr>
              <a:t>Población</a:t>
            </a:r>
          </a:p>
        </p:txBody>
      </p:sp>
      <p:sp>
        <p:nvSpPr>
          <p:cNvPr id="69" name="Rectángulo 22">
            <a:extLst>
              <a:ext uri="{FF2B5EF4-FFF2-40B4-BE49-F238E27FC236}">
                <a16:creationId xmlns:a16="http://schemas.microsoft.com/office/drawing/2014/main" id="{5CFD0210-A84F-11F9-532F-D75464FD173D}"/>
              </a:ext>
            </a:extLst>
          </p:cNvPr>
          <p:cNvSpPr/>
          <p:nvPr/>
        </p:nvSpPr>
        <p:spPr>
          <a:xfrm>
            <a:off x="1361640" y="1755548"/>
            <a:ext cx="20866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0" name="Rectángulo 23">
            <a:extLst>
              <a:ext uri="{FF2B5EF4-FFF2-40B4-BE49-F238E27FC236}">
                <a16:creationId xmlns:a16="http://schemas.microsoft.com/office/drawing/2014/main" id="{80FC0BB8-C918-4F0C-270E-54EF761BC212}"/>
              </a:ext>
            </a:extLst>
          </p:cNvPr>
          <p:cNvSpPr/>
          <p:nvPr/>
        </p:nvSpPr>
        <p:spPr>
          <a:xfrm>
            <a:off x="1230287" y="1838301"/>
            <a:ext cx="2634056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Persona Natural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dirty="0">
                <a:solidFill>
                  <a:srgbClr val="0038A6"/>
                </a:solidFill>
                <a:latin typeface="Poppins"/>
                <a:cs typeface="Arial"/>
              </a:rPr>
              <a:t>Masivo</a:t>
            </a: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Arial"/>
            </a:endParaRPr>
          </a:p>
        </p:txBody>
      </p:sp>
      <p:pic>
        <p:nvPicPr>
          <p:cNvPr id="71" name="Picture 2" descr="Machine learning icon artificial intelligence Vector Image">
            <a:extLst>
              <a:ext uri="{FF2B5EF4-FFF2-40B4-BE49-F238E27FC236}">
                <a16:creationId xmlns:a16="http://schemas.microsoft.com/office/drawing/2014/main" id="{B9460B29-841F-BAC2-859D-5C8F8D8854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1" t="13144" r="18671" b="38124"/>
          <a:stretch/>
        </p:blipFill>
        <p:spPr bwMode="auto">
          <a:xfrm>
            <a:off x="508779" y="5105500"/>
            <a:ext cx="549784" cy="48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CuadroTexto 26">
            <a:extLst>
              <a:ext uri="{FF2B5EF4-FFF2-40B4-BE49-F238E27FC236}">
                <a16:creationId xmlns:a16="http://schemas.microsoft.com/office/drawing/2014/main" id="{4008FD77-F712-1205-2837-593A72674321}"/>
              </a:ext>
            </a:extLst>
          </p:cNvPr>
          <p:cNvSpPr txBox="1"/>
          <p:nvPr/>
        </p:nvSpPr>
        <p:spPr>
          <a:xfrm>
            <a:off x="216668" y="3306770"/>
            <a:ext cx="1116000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Variable Objetivo</a:t>
            </a:r>
          </a:p>
        </p:txBody>
      </p:sp>
      <p:pic>
        <p:nvPicPr>
          <p:cNvPr id="73" name="Gráfico 111" descr="Diana con relleno sólido">
            <a:extLst>
              <a:ext uri="{FF2B5EF4-FFF2-40B4-BE49-F238E27FC236}">
                <a16:creationId xmlns:a16="http://schemas.microsoft.com/office/drawing/2014/main" id="{E77E9F7E-828D-D640-381D-FECF672CD88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7769" y="2741420"/>
            <a:ext cx="596707" cy="596707"/>
          </a:xfrm>
          <a:prstGeom prst="rect">
            <a:avLst/>
          </a:prstGeom>
        </p:spPr>
      </p:pic>
      <p:sp>
        <p:nvSpPr>
          <p:cNvPr id="74" name="Rectángulo 29">
            <a:extLst>
              <a:ext uri="{FF2B5EF4-FFF2-40B4-BE49-F238E27FC236}">
                <a16:creationId xmlns:a16="http://schemas.microsoft.com/office/drawing/2014/main" id="{2BDECA5B-9166-271E-4070-B228DD2B0EF4}"/>
              </a:ext>
            </a:extLst>
          </p:cNvPr>
          <p:cNvSpPr/>
          <p:nvPr/>
        </p:nvSpPr>
        <p:spPr>
          <a:xfrm>
            <a:off x="1190746" y="2891628"/>
            <a:ext cx="2673597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Horizonte en 30 días: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Alertas con riesgo identificadas por el equipo de monitoreo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Arial"/>
            </a:endParaRPr>
          </a:p>
        </p:txBody>
      </p:sp>
      <p:pic>
        <p:nvPicPr>
          <p:cNvPr id="75" name="Gráfico 30" descr="Hombre con relleno sólido">
            <a:extLst>
              <a:ext uri="{FF2B5EF4-FFF2-40B4-BE49-F238E27FC236}">
                <a16:creationId xmlns:a16="http://schemas.microsoft.com/office/drawing/2014/main" id="{F1DA2B9A-68A4-F2F9-8D7D-D9976422B5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235" y="1714205"/>
            <a:ext cx="641777" cy="641777"/>
          </a:xfrm>
          <a:prstGeom prst="rect">
            <a:avLst/>
          </a:prstGeom>
        </p:spPr>
      </p:pic>
      <p:sp>
        <p:nvSpPr>
          <p:cNvPr id="76" name="CuadroTexto 1143">
            <a:extLst>
              <a:ext uri="{FF2B5EF4-FFF2-40B4-BE49-F238E27FC236}">
                <a16:creationId xmlns:a16="http://schemas.microsoft.com/office/drawing/2014/main" id="{216703D5-A3B3-6687-2F3B-7F67DB61A99A}"/>
              </a:ext>
            </a:extLst>
          </p:cNvPr>
          <p:cNvSpPr txBox="1"/>
          <p:nvPr/>
        </p:nvSpPr>
        <p:spPr>
          <a:xfrm>
            <a:off x="255897" y="5626537"/>
            <a:ext cx="1161104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 Bold"/>
                <a:ea typeface="+mn-ea"/>
                <a:cs typeface="Poppins Bold"/>
              </a:rPr>
              <a:t>Metodología</a:t>
            </a:r>
          </a:p>
        </p:txBody>
      </p:sp>
      <p:sp>
        <p:nvSpPr>
          <p:cNvPr id="77" name="Rectángulo: una sola esquina redondeada 1144">
            <a:extLst>
              <a:ext uri="{FF2B5EF4-FFF2-40B4-BE49-F238E27FC236}">
                <a16:creationId xmlns:a16="http://schemas.microsoft.com/office/drawing/2014/main" id="{C7E00730-62AA-D71B-104A-627A68429F3D}"/>
              </a:ext>
            </a:extLst>
          </p:cNvPr>
          <p:cNvSpPr/>
          <p:nvPr/>
        </p:nvSpPr>
        <p:spPr>
          <a:xfrm>
            <a:off x="302787" y="1581557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Rectángulo 1145">
            <a:extLst>
              <a:ext uri="{FF2B5EF4-FFF2-40B4-BE49-F238E27FC236}">
                <a16:creationId xmlns:a16="http://schemas.microsoft.com/office/drawing/2014/main" id="{B1719617-EE74-1DB7-9E1C-AA5731EF579C}"/>
              </a:ext>
            </a:extLst>
          </p:cNvPr>
          <p:cNvSpPr/>
          <p:nvPr/>
        </p:nvSpPr>
        <p:spPr>
          <a:xfrm>
            <a:off x="1384911" y="5174949"/>
            <a:ext cx="2416541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Modelo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de Machine </a:t>
            </a: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Learning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XGBoost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79" name="CuadroTexto 42">
            <a:extLst>
              <a:ext uri="{FF2B5EF4-FFF2-40B4-BE49-F238E27FC236}">
                <a16:creationId xmlns:a16="http://schemas.microsoft.com/office/drawing/2014/main" id="{E5E9613E-7D3F-E0C0-870F-2D6ECFA32776}"/>
              </a:ext>
            </a:extLst>
          </p:cNvPr>
          <p:cNvSpPr txBox="1"/>
          <p:nvPr/>
        </p:nvSpPr>
        <p:spPr>
          <a:xfrm>
            <a:off x="7097088" y="1575960"/>
            <a:ext cx="70246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Geometria" panose="020B0503020204020204" pitchFamily="34" charset="0"/>
                <a:cs typeface="Poppins"/>
              </a:rPr>
              <a:t>Gini</a:t>
            </a:r>
          </a:p>
        </p:txBody>
      </p:sp>
      <p:pic>
        <p:nvPicPr>
          <p:cNvPr id="80" name="Picture 75" descr="calendar-icon - BCSM">
            <a:extLst>
              <a:ext uri="{FF2B5EF4-FFF2-40B4-BE49-F238E27FC236}">
                <a16:creationId xmlns:a16="http://schemas.microsoft.com/office/drawing/2014/main" id="{50E3B98F-EDFF-568D-A117-2171504FC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rgbClr val="08BD4F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42" y="3997257"/>
            <a:ext cx="459747" cy="459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CuadroTexto 62">
            <a:extLst>
              <a:ext uri="{FF2B5EF4-FFF2-40B4-BE49-F238E27FC236}">
                <a16:creationId xmlns:a16="http://schemas.microsoft.com/office/drawing/2014/main" id="{7BC60EDD-80D4-6F07-2974-774AF13B15B2}"/>
              </a:ext>
            </a:extLst>
          </p:cNvPr>
          <p:cNvSpPr txBox="1"/>
          <p:nvPr/>
        </p:nvSpPr>
        <p:spPr>
          <a:xfrm>
            <a:off x="338285" y="4473120"/>
            <a:ext cx="89752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1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Periodos</a:t>
            </a:r>
          </a:p>
        </p:txBody>
      </p:sp>
      <p:sp>
        <p:nvSpPr>
          <p:cNvPr id="82" name="Rectángulo 66">
            <a:extLst>
              <a:ext uri="{FF2B5EF4-FFF2-40B4-BE49-F238E27FC236}">
                <a16:creationId xmlns:a16="http://schemas.microsoft.com/office/drawing/2014/main" id="{C0BFAE3D-38D1-A329-1A51-55C5F71DB4F2}"/>
              </a:ext>
            </a:extLst>
          </p:cNvPr>
          <p:cNvSpPr/>
          <p:nvPr/>
        </p:nvSpPr>
        <p:spPr>
          <a:xfrm>
            <a:off x="1486721" y="4092273"/>
            <a:ext cx="2168541" cy="56067"/>
          </a:xfrm>
          <a:prstGeom prst="rect">
            <a:avLst/>
          </a:prstGeom>
          <a:solidFill>
            <a:srgbClr val="08BD4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CuadroTexto 71">
            <a:extLst>
              <a:ext uri="{FF2B5EF4-FFF2-40B4-BE49-F238E27FC236}">
                <a16:creationId xmlns:a16="http://schemas.microsoft.com/office/drawing/2014/main" id="{7327B4E3-B05A-D8DA-9DB0-AD7A96FF7F1A}"/>
              </a:ext>
            </a:extLst>
          </p:cNvPr>
          <p:cNvSpPr txBox="1"/>
          <p:nvPr/>
        </p:nvSpPr>
        <p:spPr>
          <a:xfrm>
            <a:off x="1283638" y="4178411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Ene. 25</a:t>
            </a:r>
          </a:p>
        </p:txBody>
      </p:sp>
      <p:sp>
        <p:nvSpPr>
          <p:cNvPr id="85" name="CuadroTexto 75">
            <a:extLst>
              <a:ext uri="{FF2B5EF4-FFF2-40B4-BE49-F238E27FC236}">
                <a16:creationId xmlns:a16="http://schemas.microsoft.com/office/drawing/2014/main" id="{766CE9D3-D0C8-A274-C95D-7B23E52E087F}"/>
              </a:ext>
            </a:extLst>
          </p:cNvPr>
          <p:cNvSpPr txBox="1"/>
          <p:nvPr/>
        </p:nvSpPr>
        <p:spPr>
          <a:xfrm>
            <a:off x="1807071" y="4503006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Train</a:t>
            </a:r>
          </a:p>
        </p:txBody>
      </p:sp>
      <p:sp>
        <p:nvSpPr>
          <p:cNvPr id="86" name="Cerrar llave 76">
            <a:extLst>
              <a:ext uri="{FF2B5EF4-FFF2-40B4-BE49-F238E27FC236}">
                <a16:creationId xmlns:a16="http://schemas.microsoft.com/office/drawing/2014/main" id="{3519ECA0-4700-7E11-406A-B4AD54C98C71}"/>
              </a:ext>
            </a:extLst>
          </p:cNvPr>
          <p:cNvSpPr/>
          <p:nvPr/>
        </p:nvSpPr>
        <p:spPr>
          <a:xfrm rot="16200000" flipH="1">
            <a:off x="1950681" y="3935410"/>
            <a:ext cx="143438" cy="985777"/>
          </a:xfrm>
          <a:prstGeom prst="rightBrace">
            <a:avLst>
              <a:gd name="adj1" fmla="val 44325"/>
              <a:gd name="adj2" fmla="val 50000"/>
            </a:avLst>
          </a:prstGeom>
          <a:noFill/>
          <a:ln w="19050" cap="flat" cmpd="sng" algn="ctr">
            <a:solidFill>
              <a:srgbClr val="EB004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CuadroTexto 78">
            <a:extLst>
              <a:ext uri="{FF2B5EF4-FFF2-40B4-BE49-F238E27FC236}">
                <a16:creationId xmlns:a16="http://schemas.microsoft.com/office/drawing/2014/main" id="{BE9111F2-95D6-9C1A-8DDE-8BDCA2355F95}"/>
              </a:ext>
            </a:extLst>
          </p:cNvPr>
          <p:cNvSpPr txBox="1"/>
          <p:nvPr/>
        </p:nvSpPr>
        <p:spPr>
          <a:xfrm>
            <a:off x="2943012" y="4493031"/>
            <a:ext cx="100405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700" b="1" i="0" u="none" strike="noStrike" kern="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B</a:t>
            </a:r>
            <a:r>
              <a:rPr kumimoji="0" lang="es-PE" sz="700" b="1" i="0" u="none" strike="noStrike" kern="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acktest (OOT)</a:t>
            </a:r>
          </a:p>
        </p:txBody>
      </p:sp>
      <p:sp>
        <p:nvSpPr>
          <p:cNvPr id="88" name="CuadroTexto 79">
            <a:extLst>
              <a:ext uri="{FF2B5EF4-FFF2-40B4-BE49-F238E27FC236}">
                <a16:creationId xmlns:a16="http://schemas.microsoft.com/office/drawing/2014/main" id="{9C5BC686-FE8C-C118-CCBC-1BBFFD300C8A}"/>
              </a:ext>
            </a:extLst>
          </p:cNvPr>
          <p:cNvSpPr txBox="1"/>
          <p:nvPr/>
        </p:nvSpPr>
        <p:spPr>
          <a:xfrm>
            <a:off x="1773796" y="3892701"/>
            <a:ext cx="687443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800" kern="0" dirty="0">
                <a:solidFill>
                  <a:srgbClr val="FFFFFF">
                    <a:lumMod val="65000"/>
                  </a:srgbClr>
                </a:solidFill>
              </a:rPr>
              <a:t>7</a:t>
            </a:r>
            <a:r>
              <a:rPr kumimoji="0" lang="es-PE" sz="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 meses</a:t>
            </a:r>
          </a:p>
        </p:txBody>
      </p:sp>
      <p:sp>
        <p:nvSpPr>
          <p:cNvPr id="89" name="CuadroTexto 80">
            <a:extLst>
              <a:ext uri="{FF2B5EF4-FFF2-40B4-BE49-F238E27FC236}">
                <a16:creationId xmlns:a16="http://schemas.microsoft.com/office/drawing/2014/main" id="{964A609C-DA09-18AE-8EFD-405B022F061A}"/>
              </a:ext>
            </a:extLst>
          </p:cNvPr>
          <p:cNvSpPr txBox="1"/>
          <p:nvPr/>
        </p:nvSpPr>
        <p:spPr>
          <a:xfrm>
            <a:off x="3019127" y="3899902"/>
            <a:ext cx="687443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1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4 meses</a:t>
            </a:r>
          </a:p>
        </p:txBody>
      </p:sp>
      <p:sp>
        <p:nvSpPr>
          <p:cNvPr id="90" name="CuadroTexto 42">
            <a:extLst>
              <a:ext uri="{FF2B5EF4-FFF2-40B4-BE49-F238E27FC236}">
                <a16:creationId xmlns:a16="http://schemas.microsoft.com/office/drawing/2014/main" id="{8164BC57-0354-9759-C769-EDF44021C05C}"/>
              </a:ext>
            </a:extLst>
          </p:cNvPr>
          <p:cNvSpPr txBox="1"/>
          <p:nvPr/>
        </p:nvSpPr>
        <p:spPr>
          <a:xfrm>
            <a:off x="2943012" y="4132428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Oct25</a:t>
            </a:r>
          </a:p>
        </p:txBody>
      </p:sp>
      <p:sp>
        <p:nvSpPr>
          <p:cNvPr id="91" name="Cerrar llave 76">
            <a:extLst>
              <a:ext uri="{FF2B5EF4-FFF2-40B4-BE49-F238E27FC236}">
                <a16:creationId xmlns:a16="http://schemas.microsoft.com/office/drawing/2014/main" id="{7C783399-AFEF-5F2E-01A3-1F5430D5B292}"/>
              </a:ext>
            </a:extLst>
          </p:cNvPr>
          <p:cNvSpPr/>
          <p:nvPr/>
        </p:nvSpPr>
        <p:spPr>
          <a:xfrm rot="16200000" flipH="1">
            <a:off x="3407716" y="4083054"/>
            <a:ext cx="135832" cy="675274"/>
          </a:xfrm>
          <a:prstGeom prst="rightBrace">
            <a:avLst>
              <a:gd name="adj1" fmla="val 44325"/>
              <a:gd name="adj2" fmla="val 50000"/>
            </a:avLst>
          </a:prstGeom>
          <a:noFill/>
          <a:ln w="19050" cap="flat" cmpd="sng" algn="ctr">
            <a:solidFill>
              <a:srgbClr val="EB004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CuadroTexto 72">
            <a:extLst>
              <a:ext uri="{FF2B5EF4-FFF2-40B4-BE49-F238E27FC236}">
                <a16:creationId xmlns:a16="http://schemas.microsoft.com/office/drawing/2014/main" id="{23A0FB5F-EFD7-6C2B-0265-81C081FAF6BD}"/>
              </a:ext>
            </a:extLst>
          </p:cNvPr>
          <p:cNvSpPr txBox="1"/>
          <p:nvPr/>
        </p:nvSpPr>
        <p:spPr>
          <a:xfrm>
            <a:off x="2116406" y="4163136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Jul 25</a:t>
            </a:r>
          </a:p>
        </p:txBody>
      </p:sp>
      <p:sp>
        <p:nvSpPr>
          <p:cNvPr id="95" name="Rectángulo 1041">
            <a:extLst>
              <a:ext uri="{FF2B5EF4-FFF2-40B4-BE49-F238E27FC236}">
                <a16:creationId xmlns:a16="http://schemas.microsoft.com/office/drawing/2014/main" id="{6D9A2894-55ED-299B-D54D-A02EEF282E9E}"/>
              </a:ext>
            </a:extLst>
          </p:cNvPr>
          <p:cNvSpPr/>
          <p:nvPr/>
        </p:nvSpPr>
        <p:spPr>
          <a:xfrm>
            <a:off x="5007002" y="2478329"/>
            <a:ext cx="1523241" cy="276999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 pitchFamily="34" charset="0"/>
                <a:ea typeface="Geometria" panose="020B0503020204020204" pitchFamily="34" charset="0"/>
                <a:cs typeface="+mn-cs"/>
              </a:rPr>
              <a:t>Validación</a:t>
            </a:r>
            <a:endParaRPr kumimoji="0" lang="es-PE" sz="1400" b="0" i="0" u="none" strike="noStrike" kern="1200" cap="none" spc="0" normalizeH="0" baseline="0" noProof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 panose="020B05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96" name="Rectángulo: una sola esquina redondeada 1042">
            <a:extLst>
              <a:ext uri="{FF2B5EF4-FFF2-40B4-BE49-F238E27FC236}">
                <a16:creationId xmlns:a16="http://schemas.microsoft.com/office/drawing/2014/main" id="{60C1B4F1-0C93-0137-AFF4-F13694F29258}"/>
              </a:ext>
            </a:extLst>
          </p:cNvPr>
          <p:cNvSpPr/>
          <p:nvPr/>
        </p:nvSpPr>
        <p:spPr>
          <a:xfrm>
            <a:off x="4975853" y="2480923"/>
            <a:ext cx="45719" cy="274714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Elipse 1043">
            <a:extLst>
              <a:ext uri="{FF2B5EF4-FFF2-40B4-BE49-F238E27FC236}">
                <a16:creationId xmlns:a16="http://schemas.microsoft.com/office/drawing/2014/main" id="{4BB908D3-347B-EF57-9D3C-0FDCA4F760A9}"/>
              </a:ext>
            </a:extLst>
          </p:cNvPr>
          <p:cNvSpPr/>
          <p:nvPr/>
        </p:nvSpPr>
        <p:spPr>
          <a:xfrm>
            <a:off x="6586607" y="2526718"/>
            <a:ext cx="146295" cy="14462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7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8" name="Conector recto 1045">
            <a:extLst>
              <a:ext uri="{FF2B5EF4-FFF2-40B4-BE49-F238E27FC236}">
                <a16:creationId xmlns:a16="http://schemas.microsoft.com/office/drawing/2014/main" id="{A6C66695-EFF5-10CC-C274-9F4995F68F0D}"/>
              </a:ext>
            </a:extLst>
          </p:cNvPr>
          <p:cNvCxnSpPr>
            <a:cxnSpLocks/>
          </p:cNvCxnSpPr>
          <p:nvPr/>
        </p:nvCxnSpPr>
        <p:spPr>
          <a:xfrm flipV="1">
            <a:off x="6732902" y="2597100"/>
            <a:ext cx="261708" cy="1932"/>
          </a:xfrm>
          <a:prstGeom prst="lin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9" name="CuadroTexto 1063">
            <a:extLst>
              <a:ext uri="{FF2B5EF4-FFF2-40B4-BE49-F238E27FC236}">
                <a16:creationId xmlns:a16="http://schemas.microsoft.com/office/drawing/2014/main" id="{1BF014BC-CC8F-74FA-E57B-10A07EB6B73E}"/>
              </a:ext>
            </a:extLst>
          </p:cNvPr>
          <p:cNvSpPr txBox="1"/>
          <p:nvPr/>
        </p:nvSpPr>
        <p:spPr>
          <a:xfrm>
            <a:off x="6928207" y="2432666"/>
            <a:ext cx="106572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08BD4F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51%</a:t>
            </a: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srgbClr val="08BD4F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100" name="Rectángulo 2">
            <a:extLst>
              <a:ext uri="{FF2B5EF4-FFF2-40B4-BE49-F238E27FC236}">
                <a16:creationId xmlns:a16="http://schemas.microsoft.com/office/drawing/2014/main" id="{A20F28A5-C482-B6A7-8A65-E8D801C3721B}"/>
              </a:ext>
            </a:extLst>
          </p:cNvPr>
          <p:cNvSpPr/>
          <p:nvPr/>
        </p:nvSpPr>
        <p:spPr>
          <a:xfrm>
            <a:off x="8567655" y="4645737"/>
            <a:ext cx="3513161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Rectángulo: una sola esquina redondeada 3">
            <a:extLst>
              <a:ext uri="{FF2B5EF4-FFF2-40B4-BE49-F238E27FC236}">
                <a16:creationId xmlns:a16="http://schemas.microsoft.com/office/drawing/2014/main" id="{DC69F488-6F82-2D17-8293-3EBBC5E9B0F0}"/>
              </a:ext>
            </a:extLst>
          </p:cNvPr>
          <p:cNvSpPr/>
          <p:nvPr/>
        </p:nvSpPr>
        <p:spPr>
          <a:xfrm>
            <a:off x="8509275" y="4650478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" name="Picture 2" descr="Machine learning icon artificial intelligence Vector Image">
            <a:extLst>
              <a:ext uri="{FF2B5EF4-FFF2-40B4-BE49-F238E27FC236}">
                <a16:creationId xmlns:a16="http://schemas.microsoft.com/office/drawing/2014/main" id="{229882E2-D9FC-61D9-F596-DE0B9662A2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1" t="13144" r="18671" b="38124"/>
          <a:stretch/>
        </p:blipFill>
        <p:spPr bwMode="auto">
          <a:xfrm>
            <a:off x="8724792" y="4811148"/>
            <a:ext cx="549784" cy="48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CuadroTexto 1143">
            <a:extLst>
              <a:ext uri="{FF2B5EF4-FFF2-40B4-BE49-F238E27FC236}">
                <a16:creationId xmlns:a16="http://schemas.microsoft.com/office/drawing/2014/main" id="{3EDC0F8F-EB12-5F87-7913-A6019C19D7CC}"/>
              </a:ext>
            </a:extLst>
          </p:cNvPr>
          <p:cNvSpPr txBox="1"/>
          <p:nvPr/>
        </p:nvSpPr>
        <p:spPr>
          <a:xfrm>
            <a:off x="8471910" y="5332185"/>
            <a:ext cx="1161104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 Bold"/>
                <a:ea typeface="+mn-ea"/>
                <a:cs typeface="Poppins Bold"/>
              </a:rPr>
              <a:t>TIER</a:t>
            </a:r>
          </a:p>
        </p:txBody>
      </p:sp>
      <p:sp>
        <p:nvSpPr>
          <p:cNvPr id="104" name="Rectángulo 1145">
            <a:extLst>
              <a:ext uri="{FF2B5EF4-FFF2-40B4-BE49-F238E27FC236}">
                <a16:creationId xmlns:a16="http://schemas.microsoft.com/office/drawing/2014/main" id="{8DB73F2B-49C6-07E6-F196-901DDE253916}"/>
              </a:ext>
            </a:extLst>
          </p:cNvPr>
          <p:cNvSpPr/>
          <p:nvPr/>
        </p:nvSpPr>
        <p:spPr>
          <a:xfrm>
            <a:off x="9226017" y="5018432"/>
            <a:ext cx="2416541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Laboratorio</a:t>
            </a:r>
          </a:p>
        </p:txBody>
      </p:sp>
      <p:sp>
        <p:nvSpPr>
          <p:cNvPr id="105" name="Text Placeholder 2">
            <a:extLst>
              <a:ext uri="{FF2B5EF4-FFF2-40B4-BE49-F238E27FC236}">
                <a16:creationId xmlns:a16="http://schemas.microsoft.com/office/drawing/2014/main" id="{559C1DCD-2C8C-0560-DAE5-F42AB44718E2}"/>
              </a:ext>
            </a:extLst>
          </p:cNvPr>
          <p:cNvSpPr txBox="1">
            <a:spLocks/>
          </p:cNvSpPr>
          <p:nvPr/>
        </p:nvSpPr>
        <p:spPr>
          <a:xfrm>
            <a:off x="8589520" y="1562986"/>
            <a:ext cx="3602480" cy="19774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Fechas de ejecución: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</a:t>
            </a: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Ejecución mensual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De uso: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Identificar de nuevas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alertas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de Riesgo generadas por el modelo</a:t>
            </a:r>
            <a:endParaRPr kumimoji="0" lang="es-P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Entrega de predicción: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 Ejecución </a:t>
            </a: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manual durante la fase de piloto. 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P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endParaRPr kumimoji="0" lang="es-P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8" name="CuadroTexto 80">
            <a:extLst>
              <a:ext uri="{FF2B5EF4-FFF2-40B4-BE49-F238E27FC236}">
                <a16:creationId xmlns:a16="http://schemas.microsoft.com/office/drawing/2014/main" id="{2805DA54-C202-2080-1F6C-69F9381AE7DA}"/>
              </a:ext>
            </a:extLst>
          </p:cNvPr>
          <p:cNvSpPr txBox="1"/>
          <p:nvPr/>
        </p:nvSpPr>
        <p:spPr>
          <a:xfrm>
            <a:off x="2517103" y="3908867"/>
            <a:ext cx="687443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800" kern="0" dirty="0">
                <a:solidFill>
                  <a:srgbClr val="FFFFFF">
                    <a:lumMod val="65000"/>
                  </a:srgbClr>
                </a:solidFill>
              </a:rPr>
              <a:t>2</a:t>
            </a:r>
            <a:r>
              <a:rPr kumimoji="0" lang="es-PE" sz="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 meses</a:t>
            </a:r>
          </a:p>
        </p:txBody>
      </p:sp>
      <p:sp>
        <p:nvSpPr>
          <p:cNvPr id="109" name="CuadroTexto 78">
            <a:extLst>
              <a:ext uri="{FF2B5EF4-FFF2-40B4-BE49-F238E27FC236}">
                <a16:creationId xmlns:a16="http://schemas.microsoft.com/office/drawing/2014/main" id="{0A023780-CE3E-BF62-59BA-C2191B21D4C6}"/>
              </a:ext>
            </a:extLst>
          </p:cNvPr>
          <p:cNvSpPr txBox="1"/>
          <p:nvPr/>
        </p:nvSpPr>
        <p:spPr>
          <a:xfrm>
            <a:off x="2494776" y="4510960"/>
            <a:ext cx="600643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700" b="1" i="0" u="none" strike="noStrike" kern="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Val</a:t>
            </a:r>
            <a:endParaRPr kumimoji="0" lang="es-PE" sz="700" b="1" i="0" u="none" strike="noStrike" kern="0" cap="none" spc="0" normalizeH="0" baseline="0" noProof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 panose="020B0503020204020204"/>
              <a:ea typeface="+mn-ea"/>
              <a:cs typeface="+mn-cs"/>
            </a:endParaRPr>
          </a:p>
        </p:txBody>
      </p:sp>
      <p:sp>
        <p:nvSpPr>
          <p:cNvPr id="110" name="CuadroTexto 72">
            <a:extLst>
              <a:ext uri="{FF2B5EF4-FFF2-40B4-BE49-F238E27FC236}">
                <a16:creationId xmlns:a16="http://schemas.microsoft.com/office/drawing/2014/main" id="{C1CEF1F6-B1B0-8041-7CB0-CC31CDA6BB1E}"/>
              </a:ext>
            </a:extLst>
          </p:cNvPr>
          <p:cNvSpPr txBox="1"/>
          <p:nvPr/>
        </p:nvSpPr>
        <p:spPr>
          <a:xfrm>
            <a:off x="2531977" y="4140656"/>
            <a:ext cx="600643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Ago-</a:t>
            </a:r>
            <a:r>
              <a:rPr kumimoji="0" lang="es-PE" sz="700" b="1" i="0" u="none" strike="noStrike" kern="0" cap="none" spc="0" normalizeH="0" baseline="0" noProof="0" dirty="0" err="1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Sep</a:t>
            </a: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 25</a:t>
            </a:r>
          </a:p>
        </p:txBody>
      </p:sp>
      <p:sp>
        <p:nvSpPr>
          <p:cNvPr id="111" name="Cerrar llave 76">
            <a:extLst>
              <a:ext uri="{FF2B5EF4-FFF2-40B4-BE49-F238E27FC236}">
                <a16:creationId xmlns:a16="http://schemas.microsoft.com/office/drawing/2014/main" id="{968D9C87-31B8-59F4-0552-03AB223933BC}"/>
              </a:ext>
            </a:extLst>
          </p:cNvPr>
          <p:cNvSpPr/>
          <p:nvPr/>
        </p:nvSpPr>
        <p:spPr>
          <a:xfrm rot="16200000" flipH="1">
            <a:off x="2766739" y="4168219"/>
            <a:ext cx="126867" cy="531839"/>
          </a:xfrm>
          <a:prstGeom prst="rightBrace">
            <a:avLst>
              <a:gd name="adj1" fmla="val 44325"/>
              <a:gd name="adj2" fmla="val 50000"/>
            </a:avLst>
          </a:prstGeom>
          <a:noFill/>
          <a:ln w="19050" cap="flat" cmpd="sng" algn="ctr">
            <a:solidFill>
              <a:srgbClr val="EB004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Marcador de texto 1">
            <a:extLst>
              <a:ext uri="{FF2B5EF4-FFF2-40B4-BE49-F238E27FC236}">
                <a16:creationId xmlns:a16="http://schemas.microsoft.com/office/drawing/2014/main" id="{5E30D6AB-7E85-8FE1-D70F-97F14B83F25C}"/>
              </a:ext>
            </a:extLst>
          </p:cNvPr>
          <p:cNvSpPr txBox="1">
            <a:spLocks/>
          </p:cNvSpPr>
          <p:nvPr/>
        </p:nvSpPr>
        <p:spPr>
          <a:xfrm>
            <a:off x="171671" y="330086"/>
            <a:ext cx="10873827" cy="68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Ficha técnica del Modelo PLAFT PN Consumo Inicial</a:t>
            </a:r>
          </a:p>
        </p:txBody>
      </p:sp>
      <p:sp>
        <p:nvSpPr>
          <p:cNvPr id="117" name="CuadroTexto 42">
            <a:extLst>
              <a:ext uri="{FF2B5EF4-FFF2-40B4-BE49-F238E27FC236}">
                <a16:creationId xmlns:a16="http://schemas.microsoft.com/office/drawing/2014/main" id="{40045640-9895-71B5-EED7-D07AAB4B48D3}"/>
              </a:ext>
            </a:extLst>
          </p:cNvPr>
          <p:cNvSpPr txBox="1"/>
          <p:nvPr/>
        </p:nvSpPr>
        <p:spPr>
          <a:xfrm>
            <a:off x="3514336" y="4123334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 Abri26</a:t>
            </a:r>
          </a:p>
        </p:txBody>
      </p:sp>
      <p:sp>
        <p:nvSpPr>
          <p:cNvPr id="120" name="Diagrama de flujo: preparación 1106">
            <a:extLst>
              <a:ext uri="{FF2B5EF4-FFF2-40B4-BE49-F238E27FC236}">
                <a16:creationId xmlns:a16="http://schemas.microsoft.com/office/drawing/2014/main" id="{6433C8BF-1CE7-54AF-AD90-05DD60C62EE1}"/>
              </a:ext>
            </a:extLst>
          </p:cNvPr>
          <p:cNvSpPr/>
          <p:nvPr/>
        </p:nvSpPr>
        <p:spPr>
          <a:xfrm>
            <a:off x="5930370" y="4457513"/>
            <a:ext cx="718514" cy="617033"/>
          </a:xfrm>
          <a:prstGeom prst="flowChartPreparation">
            <a:avLst/>
          </a:prstGeom>
          <a:solidFill>
            <a:schemeClr val="bg1"/>
          </a:solidFill>
          <a:ln>
            <a:solidFill>
              <a:srgbClr val="00B050"/>
            </a:solidFill>
            <a:prstDash val="sys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CuadroTexto 1091">
            <a:extLst>
              <a:ext uri="{FF2B5EF4-FFF2-40B4-BE49-F238E27FC236}">
                <a16:creationId xmlns:a16="http://schemas.microsoft.com/office/drawing/2014/main" id="{A1310D9D-303F-E091-3802-F08E9F3A7AA9}"/>
              </a:ext>
            </a:extLst>
          </p:cNvPr>
          <p:cNvSpPr txBox="1"/>
          <p:nvPr/>
        </p:nvSpPr>
        <p:spPr>
          <a:xfrm>
            <a:off x="5920620" y="4743180"/>
            <a:ext cx="718926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/>
                <a:ea typeface="+mn-ea"/>
                <a:cs typeface="Calibri"/>
              </a:rPr>
              <a:t>Perfil del Cliente</a:t>
            </a:r>
            <a:endParaRPr kumimoji="0" lang="es-ES" sz="8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"/>
              <a:ea typeface="+mn-ea"/>
              <a:cs typeface="Calibri"/>
            </a:endParaRPr>
          </a:p>
        </p:txBody>
      </p:sp>
      <p:sp>
        <p:nvSpPr>
          <p:cNvPr id="122" name="Diagrama de flujo: preparación 1107">
            <a:extLst>
              <a:ext uri="{FF2B5EF4-FFF2-40B4-BE49-F238E27FC236}">
                <a16:creationId xmlns:a16="http://schemas.microsoft.com/office/drawing/2014/main" id="{DE1FC4F9-7AEC-30F3-C770-752E06B31F48}"/>
              </a:ext>
            </a:extLst>
          </p:cNvPr>
          <p:cNvSpPr/>
          <p:nvPr/>
        </p:nvSpPr>
        <p:spPr>
          <a:xfrm>
            <a:off x="5922648" y="5137859"/>
            <a:ext cx="718514" cy="617033"/>
          </a:xfrm>
          <a:prstGeom prst="flowChartPreparation">
            <a:avLst/>
          </a:prstGeom>
          <a:solidFill>
            <a:schemeClr val="bg1"/>
          </a:solidFill>
          <a:ln>
            <a:solidFill>
              <a:srgbClr val="00B050"/>
            </a:solidFill>
            <a:prstDash val="sys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CuadroTexto 1109">
            <a:extLst>
              <a:ext uri="{FF2B5EF4-FFF2-40B4-BE49-F238E27FC236}">
                <a16:creationId xmlns:a16="http://schemas.microsoft.com/office/drawing/2014/main" id="{3722A71C-2BB6-596D-D876-5F99C1A894E4}"/>
              </a:ext>
            </a:extLst>
          </p:cNvPr>
          <p:cNvSpPr txBox="1"/>
          <p:nvPr/>
        </p:nvSpPr>
        <p:spPr>
          <a:xfrm>
            <a:off x="5920591" y="5500411"/>
            <a:ext cx="713921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/>
                <a:ea typeface="+mn-ea"/>
                <a:cs typeface="Calibri"/>
              </a:rPr>
              <a:t>Contexto</a:t>
            </a:r>
          </a:p>
        </p:txBody>
      </p:sp>
      <p:sp>
        <p:nvSpPr>
          <p:cNvPr id="124" name="CuadroTexto 1117">
            <a:extLst>
              <a:ext uri="{FF2B5EF4-FFF2-40B4-BE49-F238E27FC236}">
                <a16:creationId xmlns:a16="http://schemas.microsoft.com/office/drawing/2014/main" id="{CE77FA46-5E4A-EC76-6031-DDEE072751C5}"/>
              </a:ext>
            </a:extLst>
          </p:cNvPr>
          <p:cNvSpPr txBox="1"/>
          <p:nvPr/>
        </p:nvSpPr>
        <p:spPr>
          <a:xfrm>
            <a:off x="5920591" y="4169919"/>
            <a:ext cx="83493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rgbClr val="0038A6"/>
                </a:solidFill>
                <a:latin typeface="Geometria Medium"/>
              </a:rPr>
              <a:t>6</a:t>
            </a: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 %</a:t>
            </a:r>
            <a:endParaRPr kumimoji="0" lang="es-PE" sz="1400" b="1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125" name="CuadroTexto 1121">
            <a:extLst>
              <a:ext uri="{FF2B5EF4-FFF2-40B4-BE49-F238E27FC236}">
                <a16:creationId xmlns:a16="http://schemas.microsoft.com/office/drawing/2014/main" id="{175557ED-4270-7142-181D-937E1E927C92}"/>
              </a:ext>
            </a:extLst>
          </p:cNvPr>
          <p:cNvSpPr txBox="1"/>
          <p:nvPr/>
        </p:nvSpPr>
        <p:spPr>
          <a:xfrm>
            <a:off x="5877062" y="5736222"/>
            <a:ext cx="91575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rgbClr val="0038A6"/>
                </a:solidFill>
                <a:latin typeface="Geometria Medium"/>
              </a:rPr>
              <a:t>6</a:t>
            </a: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 %</a:t>
            </a:r>
            <a:endParaRPr kumimoji="0" lang="es-PE" sz="1400" b="1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 Medium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127" name="Diagrama de flujo: preparación 1107">
            <a:extLst>
              <a:ext uri="{FF2B5EF4-FFF2-40B4-BE49-F238E27FC236}">
                <a16:creationId xmlns:a16="http://schemas.microsoft.com/office/drawing/2014/main" id="{FF5784F2-5B88-AB34-A9F4-31A4500E747D}"/>
              </a:ext>
            </a:extLst>
          </p:cNvPr>
          <p:cNvSpPr/>
          <p:nvPr/>
        </p:nvSpPr>
        <p:spPr>
          <a:xfrm>
            <a:off x="5328831" y="4781796"/>
            <a:ext cx="718514" cy="617033"/>
          </a:xfrm>
          <a:prstGeom prst="flowChartPreparation">
            <a:avLst/>
          </a:prstGeom>
          <a:solidFill>
            <a:schemeClr val="bg1"/>
          </a:solidFill>
          <a:ln>
            <a:solidFill>
              <a:srgbClr val="00B050"/>
            </a:solidFill>
            <a:prstDash val="sys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8" name="CuadroTexto 1121">
            <a:extLst>
              <a:ext uri="{FF2B5EF4-FFF2-40B4-BE49-F238E27FC236}">
                <a16:creationId xmlns:a16="http://schemas.microsoft.com/office/drawing/2014/main" id="{06FBD25E-59BA-95FC-49BB-A724A1AC0302}"/>
              </a:ext>
            </a:extLst>
          </p:cNvPr>
          <p:cNvSpPr txBox="1"/>
          <p:nvPr/>
        </p:nvSpPr>
        <p:spPr>
          <a:xfrm>
            <a:off x="5230641" y="5449710"/>
            <a:ext cx="91575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rgbClr val="0038A6"/>
                </a:solidFill>
                <a:latin typeface="Geometria Medium"/>
              </a:rPr>
              <a:t>63</a:t>
            </a: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 %</a:t>
            </a:r>
            <a:endParaRPr kumimoji="0" lang="es-PE" sz="1400" b="1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 Medium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129" name="CuadroTexto 1112">
            <a:extLst>
              <a:ext uri="{FF2B5EF4-FFF2-40B4-BE49-F238E27FC236}">
                <a16:creationId xmlns:a16="http://schemas.microsoft.com/office/drawing/2014/main" id="{13D0F972-5179-273B-B03D-FA4018807494}"/>
              </a:ext>
            </a:extLst>
          </p:cNvPr>
          <p:cNvSpPr txBox="1"/>
          <p:nvPr/>
        </p:nvSpPr>
        <p:spPr>
          <a:xfrm>
            <a:off x="5371850" y="5132334"/>
            <a:ext cx="633239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0" i="0" u="none" strike="noStrike" kern="120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/>
                <a:ea typeface="Geometria" panose="020B0503020204020204" pitchFamily="34" charset="0"/>
                <a:cs typeface="Calibri"/>
              </a:rPr>
              <a:t>TRX</a:t>
            </a:r>
            <a:endParaRPr kumimoji="0" lang="es-PE" sz="8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" panose="020B0503020204020204" pitchFamily="34" charset="0"/>
              <a:ea typeface="Geometria" panose="020B0503020204020204" pitchFamily="34" charset="0"/>
              <a:cs typeface="Calibri"/>
            </a:endParaRPr>
          </a:p>
        </p:txBody>
      </p:sp>
      <p:pic>
        <p:nvPicPr>
          <p:cNvPr id="130" name="Picture 7">
            <a:extLst>
              <a:ext uri="{FF2B5EF4-FFF2-40B4-BE49-F238E27FC236}">
                <a16:creationId xmlns:a16="http://schemas.microsoft.com/office/drawing/2014/main" id="{4AA31B36-EAEE-3831-9BA7-D133B42369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808" y="4834238"/>
            <a:ext cx="270164" cy="316346"/>
          </a:xfrm>
          <a:prstGeom prst="rect">
            <a:avLst/>
          </a:prstGeom>
        </p:spPr>
      </p:pic>
      <p:pic>
        <p:nvPicPr>
          <p:cNvPr id="132" name="Picture 2" descr="Empresa - Iconos gratis de edificios">
            <a:extLst>
              <a:ext uri="{FF2B5EF4-FFF2-40B4-BE49-F238E27FC236}">
                <a16:creationId xmlns:a16="http://schemas.microsoft.com/office/drawing/2014/main" id="{BEC33C4C-0680-8733-1CD1-53BC43CE1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272" y="4441351"/>
            <a:ext cx="301829" cy="301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Picture 6" descr="254.100+ Bank Ilustraciones de Stock, gráficos vectoriales ...">
            <a:extLst>
              <a:ext uri="{FF2B5EF4-FFF2-40B4-BE49-F238E27FC236}">
                <a16:creationId xmlns:a16="http://schemas.microsoft.com/office/drawing/2014/main" id="{AAC2081A-D3D8-9D0E-859E-35A7BDB96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576" y="5221732"/>
            <a:ext cx="308605" cy="30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iagrama de flujo: preparación 1105">
            <a:extLst>
              <a:ext uri="{FF2B5EF4-FFF2-40B4-BE49-F238E27FC236}">
                <a16:creationId xmlns:a16="http://schemas.microsoft.com/office/drawing/2014/main" id="{FF628F94-BA35-E3C0-A8FF-72878B537951}"/>
              </a:ext>
            </a:extLst>
          </p:cNvPr>
          <p:cNvSpPr/>
          <p:nvPr/>
        </p:nvSpPr>
        <p:spPr>
          <a:xfrm>
            <a:off x="6512306" y="4777511"/>
            <a:ext cx="718514" cy="612000"/>
          </a:xfrm>
          <a:prstGeom prst="flowChartPreparation">
            <a:avLst/>
          </a:prstGeom>
          <a:solidFill>
            <a:schemeClr val="bg1"/>
          </a:solidFill>
          <a:ln>
            <a:solidFill>
              <a:srgbClr val="00B050"/>
            </a:solidFill>
            <a:prstDash val="sysDot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1100">
            <a:extLst>
              <a:ext uri="{FF2B5EF4-FFF2-40B4-BE49-F238E27FC236}">
                <a16:creationId xmlns:a16="http://schemas.microsoft.com/office/drawing/2014/main" id="{2A4E67AC-549D-4AED-8AA3-85DB08C8E93B}"/>
              </a:ext>
            </a:extLst>
          </p:cNvPr>
          <p:cNvSpPr txBox="1"/>
          <p:nvPr/>
        </p:nvSpPr>
        <p:spPr>
          <a:xfrm>
            <a:off x="6503716" y="5045448"/>
            <a:ext cx="75633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PE" sz="800" dirty="0">
                <a:solidFill>
                  <a:srgbClr val="0038A6"/>
                </a:solidFill>
                <a:latin typeface="Geometria"/>
                <a:cs typeface="Calibri"/>
              </a:rPr>
              <a:t>Comportamental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CuadroTexto 1122">
            <a:extLst>
              <a:ext uri="{FF2B5EF4-FFF2-40B4-BE49-F238E27FC236}">
                <a16:creationId xmlns:a16="http://schemas.microsoft.com/office/drawing/2014/main" id="{12243FE3-1894-C5FA-4D98-4881390727A3}"/>
              </a:ext>
            </a:extLst>
          </p:cNvPr>
          <p:cNvSpPr txBox="1"/>
          <p:nvPr/>
        </p:nvSpPr>
        <p:spPr>
          <a:xfrm>
            <a:off x="6587859" y="5399517"/>
            <a:ext cx="615575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>
                <a:solidFill>
                  <a:srgbClr val="0038A6"/>
                </a:solidFill>
                <a:latin typeface="Geometria Medium"/>
              </a:rPr>
              <a:t>25</a:t>
            </a: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 %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pic>
        <p:nvPicPr>
          <p:cNvPr id="14" name="Image 8" descr="preencoded.png">
            <a:extLst>
              <a:ext uri="{FF2B5EF4-FFF2-40B4-BE49-F238E27FC236}">
                <a16:creationId xmlns:a16="http://schemas.microsoft.com/office/drawing/2014/main" id="{82DDA61E-697E-68B6-84D4-E10E0B2BC7BC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727718" y="4806656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91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700C6-95BD-2789-EFC5-A1964D705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35">
            <a:extLst>
              <a:ext uri="{FF2B5EF4-FFF2-40B4-BE49-F238E27FC236}">
                <a16:creationId xmlns:a16="http://schemas.microsoft.com/office/drawing/2014/main" id="{C2225967-4FFC-0481-3BA6-F9A01B28DCB2}"/>
              </a:ext>
            </a:extLst>
          </p:cNvPr>
          <p:cNvSpPr/>
          <p:nvPr/>
        </p:nvSpPr>
        <p:spPr>
          <a:xfrm>
            <a:off x="7152079" y="1229329"/>
            <a:ext cx="4435021" cy="291144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39.9%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</p:txBody>
      </p:sp>
      <p:sp>
        <p:nvSpPr>
          <p:cNvPr id="12" name="Freeform: Shape 35">
            <a:extLst>
              <a:ext uri="{FF2B5EF4-FFF2-40B4-BE49-F238E27FC236}">
                <a16:creationId xmlns:a16="http://schemas.microsoft.com/office/drawing/2014/main" id="{D2B51FE4-6BE0-D63D-DDD0-1C099A94AC33}"/>
              </a:ext>
            </a:extLst>
          </p:cNvPr>
          <p:cNvSpPr/>
          <p:nvPr/>
        </p:nvSpPr>
        <p:spPr>
          <a:xfrm>
            <a:off x="7152079" y="1746446"/>
            <a:ext cx="3634407" cy="271604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14.7%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3" name="Freeform: Shape 35">
            <a:extLst>
              <a:ext uri="{FF2B5EF4-FFF2-40B4-BE49-F238E27FC236}">
                <a16:creationId xmlns:a16="http://schemas.microsoft.com/office/drawing/2014/main" id="{360900A3-E5D0-C4D4-B3B4-1F3BAA10DE06}"/>
              </a:ext>
            </a:extLst>
          </p:cNvPr>
          <p:cNvSpPr/>
          <p:nvPr/>
        </p:nvSpPr>
        <p:spPr>
          <a:xfrm>
            <a:off x="7152079" y="2247380"/>
            <a:ext cx="3265127" cy="271604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14.1%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5" name="Freeform: Shape 35">
            <a:extLst>
              <a:ext uri="{FF2B5EF4-FFF2-40B4-BE49-F238E27FC236}">
                <a16:creationId xmlns:a16="http://schemas.microsoft.com/office/drawing/2014/main" id="{48B77D51-E436-958B-C42E-F119E5862316}"/>
              </a:ext>
            </a:extLst>
          </p:cNvPr>
          <p:cNvSpPr/>
          <p:nvPr/>
        </p:nvSpPr>
        <p:spPr>
          <a:xfrm>
            <a:off x="7152079" y="2741628"/>
            <a:ext cx="2784296" cy="271604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13.7%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16" name="Freeform: Shape 35">
            <a:extLst>
              <a:ext uri="{FF2B5EF4-FFF2-40B4-BE49-F238E27FC236}">
                <a16:creationId xmlns:a16="http://schemas.microsoft.com/office/drawing/2014/main" id="{B810C19D-7503-AF9D-2B9D-5F2EAB97083F}"/>
              </a:ext>
            </a:extLst>
          </p:cNvPr>
          <p:cNvSpPr/>
          <p:nvPr/>
        </p:nvSpPr>
        <p:spPr>
          <a:xfrm>
            <a:off x="7152079" y="4264700"/>
            <a:ext cx="1908322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8.5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7" name="Freeform: Shape 35">
            <a:extLst>
              <a:ext uri="{FF2B5EF4-FFF2-40B4-BE49-F238E27FC236}">
                <a16:creationId xmlns:a16="http://schemas.microsoft.com/office/drawing/2014/main" id="{C0AE960B-B2AC-1EDF-CA77-6CBC89688B03}"/>
              </a:ext>
            </a:extLst>
          </p:cNvPr>
          <p:cNvSpPr/>
          <p:nvPr/>
        </p:nvSpPr>
        <p:spPr>
          <a:xfrm>
            <a:off x="7152079" y="4781417"/>
            <a:ext cx="1727464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5.7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%</a:t>
            </a:r>
          </a:p>
        </p:txBody>
      </p:sp>
      <p:cxnSp>
        <p:nvCxnSpPr>
          <p:cNvPr id="18" name="Conector recto de flecha 18">
            <a:extLst>
              <a:ext uri="{FF2B5EF4-FFF2-40B4-BE49-F238E27FC236}">
                <a16:creationId xmlns:a16="http://schemas.microsoft.com/office/drawing/2014/main" id="{8480D490-4F3A-2B0E-BA2C-C42B361AB538}"/>
              </a:ext>
            </a:extLst>
          </p:cNvPr>
          <p:cNvCxnSpPr>
            <a:cxnSpLocks/>
          </p:cNvCxnSpPr>
          <p:nvPr/>
        </p:nvCxnSpPr>
        <p:spPr>
          <a:xfrm flipV="1">
            <a:off x="7132855" y="6172276"/>
            <a:ext cx="4042397" cy="27704"/>
          </a:xfrm>
          <a:prstGeom prst="straightConnector1">
            <a:avLst/>
          </a:prstGeom>
          <a:noFill/>
          <a:ln w="571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19" name="CuadroTexto 22">
            <a:extLst>
              <a:ext uri="{FF2B5EF4-FFF2-40B4-BE49-F238E27FC236}">
                <a16:creationId xmlns:a16="http://schemas.microsoft.com/office/drawing/2014/main" id="{58E6D9FD-B6BE-6841-DC60-F13891CB7030}"/>
              </a:ext>
            </a:extLst>
          </p:cNvPr>
          <p:cNvSpPr txBox="1"/>
          <p:nvPr/>
        </p:nvSpPr>
        <p:spPr>
          <a:xfrm>
            <a:off x="1945518" y="1161445"/>
            <a:ext cx="5068043" cy="408623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/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Monto</a:t>
            </a:r>
            <a:r>
              <a:rPr lang="es-PE" dirty="0"/>
              <a:t> </a:t>
            </a: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total</a:t>
            </a:r>
            <a:r>
              <a:rPr lang="es-PE" dirty="0"/>
              <a:t> </a:t>
            </a: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egresos (último mese)</a:t>
            </a:r>
          </a:p>
        </p:txBody>
      </p:sp>
      <p:sp>
        <p:nvSpPr>
          <p:cNvPr id="24" name="CuadroTexto 24">
            <a:extLst>
              <a:ext uri="{FF2B5EF4-FFF2-40B4-BE49-F238E27FC236}">
                <a16:creationId xmlns:a16="http://schemas.microsoft.com/office/drawing/2014/main" id="{EC5F9711-2AB4-B1BF-93FE-06F047BB2D7E}"/>
              </a:ext>
            </a:extLst>
          </p:cNvPr>
          <p:cNvSpPr txBox="1"/>
          <p:nvPr/>
        </p:nvSpPr>
        <p:spPr>
          <a:xfrm>
            <a:off x="1945518" y="1707695"/>
            <a:ext cx="5068042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Variación de egresos reciente (último vs últimos 6 meses)</a:t>
            </a:r>
          </a:p>
        </p:txBody>
      </p:sp>
      <p:sp>
        <p:nvSpPr>
          <p:cNvPr id="25" name="CuadroTexto 26">
            <a:extLst>
              <a:ext uri="{FF2B5EF4-FFF2-40B4-BE49-F238E27FC236}">
                <a16:creationId xmlns:a16="http://schemas.microsoft.com/office/drawing/2014/main" id="{DED3A7E4-C9BC-ABA2-9327-75101AB5C066}"/>
              </a:ext>
            </a:extLst>
          </p:cNvPr>
          <p:cNvSpPr txBox="1"/>
          <p:nvPr/>
        </p:nvSpPr>
        <p:spPr>
          <a:xfrm>
            <a:off x="1945518" y="2244539"/>
            <a:ext cx="5068042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Ratio débitos vs créditos</a:t>
            </a:r>
          </a:p>
        </p:txBody>
      </p:sp>
      <p:sp>
        <p:nvSpPr>
          <p:cNvPr id="27" name="CuadroTexto 30">
            <a:extLst>
              <a:ext uri="{FF2B5EF4-FFF2-40B4-BE49-F238E27FC236}">
                <a16:creationId xmlns:a16="http://schemas.microsoft.com/office/drawing/2014/main" id="{265FDCDE-2076-4A12-44F0-DF307543FDDE}"/>
              </a:ext>
            </a:extLst>
          </p:cNvPr>
          <p:cNvSpPr txBox="1"/>
          <p:nvPr/>
        </p:nvSpPr>
        <p:spPr>
          <a:xfrm>
            <a:off x="2084037" y="2703533"/>
            <a:ext cx="5068042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Monto</a:t>
            </a:r>
            <a:r>
              <a:rPr lang="es-PE" sz="1100" dirty="0"/>
              <a:t> </a:t>
            </a: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total</a:t>
            </a:r>
            <a:r>
              <a:rPr lang="es-PE" sz="1100" dirty="0"/>
              <a:t> </a:t>
            </a: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depósitos en efectivo (12 meses)</a:t>
            </a:r>
          </a:p>
        </p:txBody>
      </p:sp>
      <p:sp>
        <p:nvSpPr>
          <p:cNvPr id="28" name="CuadroTexto 1120">
            <a:extLst>
              <a:ext uri="{FF2B5EF4-FFF2-40B4-BE49-F238E27FC236}">
                <a16:creationId xmlns:a16="http://schemas.microsoft.com/office/drawing/2014/main" id="{50597DD1-D967-4B2B-5A17-392D1E10ECB7}"/>
              </a:ext>
            </a:extLst>
          </p:cNvPr>
          <p:cNvSpPr txBox="1"/>
          <p:nvPr/>
        </p:nvSpPr>
        <p:spPr>
          <a:xfrm>
            <a:off x="1946495" y="3251175"/>
            <a:ext cx="5068041" cy="289441"/>
          </a:xfrm>
          <a:prstGeom prst="round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Concentración transacciones</a:t>
            </a:r>
          </a:p>
        </p:txBody>
      </p:sp>
      <p:sp>
        <p:nvSpPr>
          <p:cNvPr id="29" name="CuadroTexto 1122">
            <a:extLst>
              <a:ext uri="{FF2B5EF4-FFF2-40B4-BE49-F238E27FC236}">
                <a16:creationId xmlns:a16="http://schemas.microsoft.com/office/drawing/2014/main" id="{403D2002-DFC6-25BF-CE0C-74B7335FFB2C}"/>
              </a:ext>
            </a:extLst>
          </p:cNvPr>
          <p:cNvSpPr txBox="1"/>
          <p:nvPr/>
        </p:nvSpPr>
        <p:spPr>
          <a:xfrm>
            <a:off x="1980881" y="3714910"/>
            <a:ext cx="5068041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>
              <a:defRPr/>
            </a:pP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Cantidad de meses sin abonos</a:t>
            </a:r>
          </a:p>
        </p:txBody>
      </p:sp>
      <p:sp>
        <p:nvSpPr>
          <p:cNvPr id="30" name="CuadroTexto 1124">
            <a:extLst>
              <a:ext uri="{FF2B5EF4-FFF2-40B4-BE49-F238E27FC236}">
                <a16:creationId xmlns:a16="http://schemas.microsoft.com/office/drawing/2014/main" id="{57D416BE-7619-4B23-DCAB-2178E313A167}"/>
              </a:ext>
            </a:extLst>
          </p:cNvPr>
          <p:cNvSpPr txBox="1"/>
          <p:nvPr/>
        </p:nvSpPr>
        <p:spPr>
          <a:xfrm>
            <a:off x="1946495" y="4245221"/>
            <a:ext cx="5068041" cy="289441"/>
          </a:xfrm>
          <a:prstGeom prst="round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>
              <a:defRPr/>
            </a:pP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Antigüedad del cliente</a:t>
            </a:r>
          </a:p>
        </p:txBody>
      </p:sp>
      <p:sp>
        <p:nvSpPr>
          <p:cNvPr id="31" name="CuadroTexto 1127">
            <a:extLst>
              <a:ext uri="{FF2B5EF4-FFF2-40B4-BE49-F238E27FC236}">
                <a16:creationId xmlns:a16="http://schemas.microsoft.com/office/drawing/2014/main" id="{A7FC0D51-5412-89CD-AB02-7AB329584EA8}"/>
              </a:ext>
            </a:extLst>
          </p:cNvPr>
          <p:cNvSpPr txBox="1"/>
          <p:nvPr/>
        </p:nvSpPr>
        <p:spPr>
          <a:xfrm>
            <a:off x="1946495" y="5306584"/>
            <a:ext cx="5068039" cy="289441"/>
          </a:xfrm>
          <a:prstGeom prst="round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>
              <a:defRPr/>
            </a:pP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Ratio de abonos (último mes vs 6 meses)</a:t>
            </a:r>
          </a:p>
        </p:txBody>
      </p:sp>
      <p:sp>
        <p:nvSpPr>
          <p:cNvPr id="32" name="CuadroTexto 1129">
            <a:extLst>
              <a:ext uri="{FF2B5EF4-FFF2-40B4-BE49-F238E27FC236}">
                <a16:creationId xmlns:a16="http://schemas.microsoft.com/office/drawing/2014/main" id="{A60D0F39-A7A9-A873-04AE-A45FDFBFF9B1}"/>
              </a:ext>
            </a:extLst>
          </p:cNvPr>
          <p:cNvSpPr txBox="1"/>
          <p:nvPr/>
        </p:nvSpPr>
        <p:spPr>
          <a:xfrm>
            <a:off x="1945518" y="4741680"/>
            <a:ext cx="5068040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r">
              <a:defRPr sz="1200"/>
            </a:lvl1pPr>
          </a:lstStyle>
          <a:p>
            <a:pPr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Monto pasivo en soles</a:t>
            </a:r>
            <a:endParaRPr lang="es-PE" dirty="0"/>
          </a:p>
        </p:txBody>
      </p:sp>
      <p:sp>
        <p:nvSpPr>
          <p:cNvPr id="118" name="Freeform: Shape 35">
            <a:extLst>
              <a:ext uri="{FF2B5EF4-FFF2-40B4-BE49-F238E27FC236}">
                <a16:creationId xmlns:a16="http://schemas.microsoft.com/office/drawing/2014/main" id="{FDE8895E-41F2-D296-356D-F4FC6B5409A2}"/>
              </a:ext>
            </a:extLst>
          </p:cNvPr>
          <p:cNvSpPr/>
          <p:nvPr/>
        </p:nvSpPr>
        <p:spPr>
          <a:xfrm>
            <a:off x="7152079" y="3743900"/>
            <a:ext cx="2095192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8.7%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05BE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Freeform: Shape 35">
            <a:extLst>
              <a:ext uri="{FF2B5EF4-FFF2-40B4-BE49-F238E27FC236}">
                <a16:creationId xmlns:a16="http://schemas.microsoft.com/office/drawing/2014/main" id="{F2BBB464-BC07-D69B-A861-CC67FCC48E57}"/>
              </a:ext>
            </a:extLst>
          </p:cNvPr>
          <p:cNvSpPr/>
          <p:nvPr/>
        </p:nvSpPr>
        <p:spPr>
          <a:xfrm>
            <a:off x="7152079" y="3255254"/>
            <a:ext cx="2272637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13.5%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0" name="Freeform: Shape 35">
            <a:extLst>
              <a:ext uri="{FF2B5EF4-FFF2-40B4-BE49-F238E27FC236}">
                <a16:creationId xmlns:a16="http://schemas.microsoft.com/office/drawing/2014/main" id="{BE6DD04B-7ED7-1A25-527B-EFF9905B9BB6}"/>
              </a:ext>
            </a:extLst>
          </p:cNvPr>
          <p:cNvSpPr/>
          <p:nvPr/>
        </p:nvSpPr>
        <p:spPr>
          <a:xfrm>
            <a:off x="7152079" y="5287269"/>
            <a:ext cx="1575462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5.1%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1" name="CuadroTexto 38">
            <a:extLst>
              <a:ext uri="{FF2B5EF4-FFF2-40B4-BE49-F238E27FC236}">
                <a16:creationId xmlns:a16="http://schemas.microsoft.com/office/drawing/2014/main" id="{13D440AC-7729-4C31-A3EE-3A29424A0FDF}"/>
              </a:ext>
            </a:extLst>
          </p:cNvPr>
          <p:cNvSpPr txBox="1"/>
          <p:nvPr/>
        </p:nvSpPr>
        <p:spPr>
          <a:xfrm>
            <a:off x="7799906" y="905325"/>
            <a:ext cx="309732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63B4E5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% importancia</a:t>
            </a:r>
          </a:p>
        </p:txBody>
      </p:sp>
      <p:sp>
        <p:nvSpPr>
          <p:cNvPr id="122" name="CuadroTexto 38">
            <a:extLst>
              <a:ext uri="{FF2B5EF4-FFF2-40B4-BE49-F238E27FC236}">
                <a16:creationId xmlns:a16="http://schemas.microsoft.com/office/drawing/2014/main" id="{87CB7A84-DF5E-5C90-6616-25ADF3D5A7D4}"/>
              </a:ext>
            </a:extLst>
          </p:cNvPr>
          <p:cNvSpPr txBox="1"/>
          <p:nvPr/>
        </p:nvSpPr>
        <p:spPr>
          <a:xfrm>
            <a:off x="3530619" y="905324"/>
            <a:ext cx="309732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63B4E5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Nombre de la variable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3" name="CuadroTexto 38">
            <a:extLst>
              <a:ext uri="{FF2B5EF4-FFF2-40B4-BE49-F238E27FC236}">
                <a16:creationId xmlns:a16="http://schemas.microsoft.com/office/drawing/2014/main" id="{0AECE77F-EA1B-EFAE-9148-B5B713B19119}"/>
              </a:ext>
            </a:extLst>
          </p:cNvPr>
          <p:cNvSpPr txBox="1"/>
          <p:nvPr/>
        </p:nvSpPr>
        <p:spPr>
          <a:xfrm>
            <a:off x="284289" y="884446"/>
            <a:ext cx="1479382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63B4E5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Fuentes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30" name="Title 2">
            <a:extLst>
              <a:ext uri="{FF2B5EF4-FFF2-40B4-BE49-F238E27FC236}">
                <a16:creationId xmlns:a16="http://schemas.microsoft.com/office/drawing/2014/main" id="{0F770F45-6A0D-872B-C3F2-E958FF680767}"/>
              </a:ext>
            </a:extLst>
          </p:cNvPr>
          <p:cNvSpPr txBox="1">
            <a:spLocks/>
          </p:cNvSpPr>
          <p:nvPr/>
        </p:nvSpPr>
        <p:spPr>
          <a:xfrm>
            <a:off x="218399" y="127615"/>
            <a:ext cx="11044112" cy="795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dirty="0"/>
              <a:t>Top 10 variables del Modelo PLAFT PN Consumo Inicial</a:t>
            </a:r>
          </a:p>
        </p:txBody>
      </p:sp>
      <p:sp>
        <p:nvSpPr>
          <p:cNvPr id="2" name="Freeform: Shape 35">
            <a:extLst>
              <a:ext uri="{FF2B5EF4-FFF2-40B4-BE49-F238E27FC236}">
                <a16:creationId xmlns:a16="http://schemas.microsoft.com/office/drawing/2014/main" id="{FA9E05E1-2FF6-5256-F684-790B057B2F41}"/>
              </a:ext>
            </a:extLst>
          </p:cNvPr>
          <p:cNvSpPr/>
          <p:nvPr/>
        </p:nvSpPr>
        <p:spPr>
          <a:xfrm>
            <a:off x="7157825" y="5793121"/>
            <a:ext cx="1569716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4.8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%</a:t>
            </a:r>
          </a:p>
        </p:txBody>
      </p:sp>
      <p:sp>
        <p:nvSpPr>
          <p:cNvPr id="3" name="CuadroTexto 1127">
            <a:extLst>
              <a:ext uri="{FF2B5EF4-FFF2-40B4-BE49-F238E27FC236}">
                <a16:creationId xmlns:a16="http://schemas.microsoft.com/office/drawing/2014/main" id="{E83AD24F-9875-9B5E-9AB7-A5C163BA0873}"/>
              </a:ext>
            </a:extLst>
          </p:cNvPr>
          <p:cNvSpPr txBox="1"/>
          <p:nvPr/>
        </p:nvSpPr>
        <p:spPr>
          <a:xfrm>
            <a:off x="1946495" y="5793121"/>
            <a:ext cx="5068039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>
              <a:defRPr/>
            </a:pP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Indicador de productos activos</a:t>
            </a:r>
          </a:p>
        </p:txBody>
      </p:sp>
      <p:sp>
        <p:nvSpPr>
          <p:cNvPr id="6" name="Arrow: Pentagon 1095">
            <a:extLst>
              <a:ext uri="{FF2B5EF4-FFF2-40B4-BE49-F238E27FC236}">
                <a16:creationId xmlns:a16="http://schemas.microsoft.com/office/drawing/2014/main" id="{6F1A6386-D760-A96A-D1FB-1F36246DDAC7}"/>
              </a:ext>
            </a:extLst>
          </p:cNvPr>
          <p:cNvSpPr/>
          <p:nvPr/>
        </p:nvSpPr>
        <p:spPr>
          <a:xfrm>
            <a:off x="264524" y="1707695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2" name="Arrow: Pentagon 1095">
            <a:extLst>
              <a:ext uri="{FF2B5EF4-FFF2-40B4-BE49-F238E27FC236}">
                <a16:creationId xmlns:a16="http://schemas.microsoft.com/office/drawing/2014/main" id="{F2A69339-98EB-0882-8216-117C63B0B2C5}"/>
              </a:ext>
            </a:extLst>
          </p:cNvPr>
          <p:cNvSpPr/>
          <p:nvPr/>
        </p:nvSpPr>
        <p:spPr>
          <a:xfrm>
            <a:off x="264524" y="2249913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3" name="Arrow: Pentagon 1095">
            <a:extLst>
              <a:ext uri="{FF2B5EF4-FFF2-40B4-BE49-F238E27FC236}">
                <a16:creationId xmlns:a16="http://schemas.microsoft.com/office/drawing/2014/main" id="{5126BD31-9FBD-9677-BBFC-14BA9C016188}"/>
              </a:ext>
            </a:extLst>
          </p:cNvPr>
          <p:cNvSpPr/>
          <p:nvPr/>
        </p:nvSpPr>
        <p:spPr>
          <a:xfrm>
            <a:off x="261579" y="3734981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5" name="Arrow: Pentagon 1095">
            <a:extLst>
              <a:ext uri="{FF2B5EF4-FFF2-40B4-BE49-F238E27FC236}">
                <a16:creationId xmlns:a16="http://schemas.microsoft.com/office/drawing/2014/main" id="{7525FC8C-F77D-396D-47C0-498281F97FD4}"/>
              </a:ext>
            </a:extLst>
          </p:cNvPr>
          <p:cNvSpPr/>
          <p:nvPr/>
        </p:nvSpPr>
        <p:spPr>
          <a:xfrm>
            <a:off x="326825" y="1228960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1" name="Arrow: Pentagon 1095">
            <a:extLst>
              <a:ext uri="{FF2B5EF4-FFF2-40B4-BE49-F238E27FC236}">
                <a16:creationId xmlns:a16="http://schemas.microsoft.com/office/drawing/2014/main" id="{F09A3521-EC7C-EBF2-2EB0-2FA127B1A8CD}"/>
              </a:ext>
            </a:extLst>
          </p:cNvPr>
          <p:cNvSpPr/>
          <p:nvPr/>
        </p:nvSpPr>
        <p:spPr>
          <a:xfrm>
            <a:off x="264524" y="5287269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0" name="Arrow: Pentagon 1095">
            <a:extLst>
              <a:ext uri="{FF2B5EF4-FFF2-40B4-BE49-F238E27FC236}">
                <a16:creationId xmlns:a16="http://schemas.microsoft.com/office/drawing/2014/main" id="{8D11ADD1-D7A3-6725-0B4C-F4C70E8F4586}"/>
              </a:ext>
            </a:extLst>
          </p:cNvPr>
          <p:cNvSpPr/>
          <p:nvPr/>
        </p:nvSpPr>
        <p:spPr>
          <a:xfrm>
            <a:off x="219746" y="4262659"/>
            <a:ext cx="1713169" cy="289441"/>
          </a:xfrm>
          <a:prstGeom prst="homePlate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s-PE" sz="1000" dirty="0">
                <a:solidFill>
                  <a:srgbClr val="0038A6"/>
                </a:solidFill>
                <a:latin typeface="Geometria"/>
                <a:cs typeface="Calibri"/>
              </a:rPr>
              <a:t>Comportamental</a:t>
            </a:r>
          </a:p>
        </p:txBody>
      </p:sp>
      <p:sp>
        <p:nvSpPr>
          <p:cNvPr id="33" name="Flecha: hacia arriba 32">
            <a:extLst>
              <a:ext uri="{FF2B5EF4-FFF2-40B4-BE49-F238E27FC236}">
                <a16:creationId xmlns:a16="http://schemas.microsoft.com/office/drawing/2014/main" id="{04757FF8-2CA0-C281-1492-FA04F0EEFA23}"/>
              </a:ext>
            </a:extLst>
          </p:cNvPr>
          <p:cNvSpPr/>
          <p:nvPr/>
        </p:nvSpPr>
        <p:spPr>
          <a:xfrm>
            <a:off x="11686867" y="1235950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8" name="Flecha: hacia arriba 37">
            <a:extLst>
              <a:ext uri="{FF2B5EF4-FFF2-40B4-BE49-F238E27FC236}">
                <a16:creationId xmlns:a16="http://schemas.microsoft.com/office/drawing/2014/main" id="{6EB6F48E-A533-A65A-BC5B-DB8913D5A600}"/>
              </a:ext>
            </a:extLst>
          </p:cNvPr>
          <p:cNvSpPr/>
          <p:nvPr/>
        </p:nvSpPr>
        <p:spPr>
          <a:xfrm>
            <a:off x="10608178" y="2291894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Flecha: hacia arriba 7">
            <a:extLst>
              <a:ext uri="{FF2B5EF4-FFF2-40B4-BE49-F238E27FC236}">
                <a16:creationId xmlns:a16="http://schemas.microsoft.com/office/drawing/2014/main" id="{2C4EA205-5DE3-65A2-982D-46D4F2DFC02D}"/>
              </a:ext>
            </a:extLst>
          </p:cNvPr>
          <p:cNvSpPr/>
          <p:nvPr/>
        </p:nvSpPr>
        <p:spPr>
          <a:xfrm>
            <a:off x="10394432" y="2755156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Flecha: hacia arriba 19">
            <a:extLst>
              <a:ext uri="{FF2B5EF4-FFF2-40B4-BE49-F238E27FC236}">
                <a16:creationId xmlns:a16="http://schemas.microsoft.com/office/drawing/2014/main" id="{4A0D55B6-F0FD-AE4B-0FDD-FDBC11922ACC}"/>
              </a:ext>
            </a:extLst>
          </p:cNvPr>
          <p:cNvSpPr/>
          <p:nvPr/>
        </p:nvSpPr>
        <p:spPr>
          <a:xfrm rot="10800000">
            <a:off x="8866137" y="5838112"/>
            <a:ext cx="356616" cy="259611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Flecha: hacia arriba 35">
            <a:extLst>
              <a:ext uri="{FF2B5EF4-FFF2-40B4-BE49-F238E27FC236}">
                <a16:creationId xmlns:a16="http://schemas.microsoft.com/office/drawing/2014/main" id="{0EB9E97D-F163-AB12-E968-9A2DB1538019}"/>
              </a:ext>
            </a:extLst>
          </p:cNvPr>
          <p:cNvSpPr/>
          <p:nvPr/>
        </p:nvSpPr>
        <p:spPr>
          <a:xfrm>
            <a:off x="10996944" y="1769118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9" name="Flecha: hacia arriba 38">
            <a:extLst>
              <a:ext uri="{FF2B5EF4-FFF2-40B4-BE49-F238E27FC236}">
                <a16:creationId xmlns:a16="http://schemas.microsoft.com/office/drawing/2014/main" id="{3720014C-C5B3-95AC-6862-2B46CEE1B5E9}"/>
              </a:ext>
            </a:extLst>
          </p:cNvPr>
          <p:cNvSpPr/>
          <p:nvPr/>
        </p:nvSpPr>
        <p:spPr>
          <a:xfrm>
            <a:off x="10113158" y="3169389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3" name="Flecha: hacia arriba 42">
            <a:extLst>
              <a:ext uri="{FF2B5EF4-FFF2-40B4-BE49-F238E27FC236}">
                <a16:creationId xmlns:a16="http://schemas.microsoft.com/office/drawing/2014/main" id="{0DB195CF-0620-EC70-B16F-D1A3A148DB6F}"/>
              </a:ext>
            </a:extLst>
          </p:cNvPr>
          <p:cNvSpPr/>
          <p:nvPr/>
        </p:nvSpPr>
        <p:spPr>
          <a:xfrm>
            <a:off x="9799966" y="3749895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7" name="Flecha: hacia arriba 46">
            <a:extLst>
              <a:ext uri="{FF2B5EF4-FFF2-40B4-BE49-F238E27FC236}">
                <a16:creationId xmlns:a16="http://schemas.microsoft.com/office/drawing/2014/main" id="{5D598E28-8B76-8049-B039-CCBEB4CE416B}"/>
              </a:ext>
            </a:extLst>
          </p:cNvPr>
          <p:cNvSpPr/>
          <p:nvPr/>
        </p:nvSpPr>
        <p:spPr>
          <a:xfrm>
            <a:off x="9129812" y="4724618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Flecha: hacia arriba 3">
            <a:extLst>
              <a:ext uri="{FF2B5EF4-FFF2-40B4-BE49-F238E27FC236}">
                <a16:creationId xmlns:a16="http://schemas.microsoft.com/office/drawing/2014/main" id="{48D7D65E-72D4-2FBD-A06C-8369430C92CE}"/>
              </a:ext>
            </a:extLst>
          </p:cNvPr>
          <p:cNvSpPr/>
          <p:nvPr/>
        </p:nvSpPr>
        <p:spPr>
          <a:xfrm>
            <a:off x="8954719" y="5262260"/>
            <a:ext cx="356616" cy="271605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Flecha: hacia arriba 13">
            <a:extLst>
              <a:ext uri="{FF2B5EF4-FFF2-40B4-BE49-F238E27FC236}">
                <a16:creationId xmlns:a16="http://schemas.microsoft.com/office/drawing/2014/main" id="{495CA5F8-789E-5D58-1382-A71124E566CD}"/>
              </a:ext>
            </a:extLst>
          </p:cNvPr>
          <p:cNvSpPr/>
          <p:nvPr/>
        </p:nvSpPr>
        <p:spPr>
          <a:xfrm rot="10800000">
            <a:off x="9369589" y="4254551"/>
            <a:ext cx="356616" cy="259611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Arrow: Pentagon 1095">
            <a:extLst>
              <a:ext uri="{FF2B5EF4-FFF2-40B4-BE49-F238E27FC236}">
                <a16:creationId xmlns:a16="http://schemas.microsoft.com/office/drawing/2014/main" id="{98886099-ABF5-9B61-2629-2A428BD70205}"/>
              </a:ext>
            </a:extLst>
          </p:cNvPr>
          <p:cNvSpPr/>
          <p:nvPr/>
        </p:nvSpPr>
        <p:spPr>
          <a:xfrm>
            <a:off x="218399" y="5849527"/>
            <a:ext cx="1713169" cy="289441"/>
          </a:xfrm>
          <a:prstGeom prst="homePlate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s-PE" sz="1000" dirty="0">
                <a:solidFill>
                  <a:srgbClr val="0038A6"/>
                </a:solidFill>
                <a:latin typeface="Geometria"/>
                <a:cs typeface="Calibri"/>
              </a:rPr>
              <a:t>Comportamental</a:t>
            </a:r>
          </a:p>
        </p:txBody>
      </p:sp>
      <p:sp>
        <p:nvSpPr>
          <p:cNvPr id="35" name="Arrow: Pentagon 1095">
            <a:extLst>
              <a:ext uri="{FF2B5EF4-FFF2-40B4-BE49-F238E27FC236}">
                <a16:creationId xmlns:a16="http://schemas.microsoft.com/office/drawing/2014/main" id="{5BEB8A54-D951-B0CD-9978-CFD775B0B001}"/>
              </a:ext>
            </a:extLst>
          </p:cNvPr>
          <p:cNvSpPr/>
          <p:nvPr/>
        </p:nvSpPr>
        <p:spPr>
          <a:xfrm>
            <a:off x="227668" y="4790337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37" name="Arrow: Pentagon 1095">
            <a:extLst>
              <a:ext uri="{FF2B5EF4-FFF2-40B4-BE49-F238E27FC236}">
                <a16:creationId xmlns:a16="http://schemas.microsoft.com/office/drawing/2014/main" id="{520D490B-A0EF-2B3A-159D-31599EDB5912}"/>
              </a:ext>
            </a:extLst>
          </p:cNvPr>
          <p:cNvSpPr/>
          <p:nvPr/>
        </p:nvSpPr>
        <p:spPr>
          <a:xfrm>
            <a:off x="284289" y="2774848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0" name="Arrow: Pentagon 1095">
            <a:extLst>
              <a:ext uri="{FF2B5EF4-FFF2-40B4-BE49-F238E27FC236}">
                <a16:creationId xmlns:a16="http://schemas.microsoft.com/office/drawing/2014/main" id="{C4E4CD3D-408F-2131-3D16-F2C249144916}"/>
              </a:ext>
            </a:extLst>
          </p:cNvPr>
          <p:cNvSpPr/>
          <p:nvPr/>
        </p:nvSpPr>
        <p:spPr>
          <a:xfrm>
            <a:off x="261579" y="3268404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858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6B494-A16F-0D3D-D420-3D5E26516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C017573-D1B8-ABCF-AF5E-EB13682BC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448" y="4382587"/>
            <a:ext cx="9012114" cy="2359053"/>
          </a:xfrm>
          <a:prstGeom prst="rect">
            <a:avLst/>
          </a:prstGeom>
        </p:spPr>
      </p:pic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783C6A6D-40AB-2973-9C20-0FF919ECE236}"/>
              </a:ext>
            </a:extLst>
          </p:cNvPr>
          <p:cNvSpPr/>
          <p:nvPr/>
        </p:nvSpPr>
        <p:spPr>
          <a:xfrm>
            <a:off x="380396" y="5038836"/>
            <a:ext cx="938049" cy="450206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B56250FB-7D3F-1F45-8727-8E548758D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97" y="143927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dirty="0"/>
              <a:t>Backtesting</a:t>
            </a:r>
          </a:p>
          <a:p>
            <a:r>
              <a:rPr lang="es-PE" altLang="es-PE" sz="1800" dirty="0"/>
              <a:t>El modelo clasifica las alertas con riesgo en niveles de prioridad-Alertas Automáticas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AB1E254-7FE8-B12E-1C60-5D4FDC8EC6E2}"/>
              </a:ext>
            </a:extLst>
          </p:cNvPr>
          <p:cNvSpPr/>
          <p:nvPr/>
        </p:nvSpPr>
        <p:spPr>
          <a:xfrm>
            <a:off x="1950564" y="5969971"/>
            <a:ext cx="9420442" cy="310922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5890B82-198F-316E-B861-428B3E684743}"/>
              </a:ext>
            </a:extLst>
          </p:cNvPr>
          <p:cNvSpPr/>
          <p:nvPr/>
        </p:nvSpPr>
        <p:spPr>
          <a:xfrm>
            <a:off x="1997447" y="5125172"/>
            <a:ext cx="9373559" cy="384051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Marcador de texto 3">
            <a:extLst>
              <a:ext uri="{FF2B5EF4-FFF2-40B4-BE49-F238E27FC236}">
                <a16:creationId xmlns:a16="http://schemas.microsoft.com/office/drawing/2014/main" id="{1148150F-23D8-98E2-371A-9B112EC53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49" y="5125173"/>
            <a:ext cx="83801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sz="1800" dirty="0">
                <a:solidFill>
                  <a:schemeClr val="bg1"/>
                </a:solidFill>
              </a:rPr>
              <a:t>82%</a:t>
            </a:r>
          </a:p>
        </p:txBody>
      </p:sp>
      <p:sp>
        <p:nvSpPr>
          <p:cNvPr id="16" name="Marcador de texto 3">
            <a:extLst>
              <a:ext uri="{FF2B5EF4-FFF2-40B4-BE49-F238E27FC236}">
                <a16:creationId xmlns:a16="http://schemas.microsoft.com/office/drawing/2014/main" id="{03E350AC-9204-D2FC-97C8-01ADD641E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376" y="4606184"/>
            <a:ext cx="124702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pPr algn="ctr"/>
            <a:r>
              <a:rPr lang="es-PE" altLang="es-PE" sz="1200" dirty="0"/>
              <a:t>%</a:t>
            </a:r>
            <a:r>
              <a:rPr lang="es-PE" altLang="es-PE" sz="1200" dirty="0" err="1"/>
              <a:t>Recall</a:t>
            </a:r>
            <a:endParaRPr lang="es-PE" altLang="es-PE" sz="1200" dirty="0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FA7D563C-8A8A-52D2-B7E0-7866DAECDF7F}"/>
              </a:ext>
            </a:extLst>
          </p:cNvPr>
          <p:cNvSpPr/>
          <p:nvPr/>
        </p:nvSpPr>
        <p:spPr>
          <a:xfrm>
            <a:off x="1384516" y="5128178"/>
            <a:ext cx="410854" cy="310922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8E93C82E-6295-B327-D82B-F17065A486FD}"/>
              </a:ext>
            </a:extLst>
          </p:cNvPr>
          <p:cNvSpPr/>
          <p:nvPr/>
        </p:nvSpPr>
        <p:spPr>
          <a:xfrm>
            <a:off x="1384516" y="6053328"/>
            <a:ext cx="410854" cy="31092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Marcador de texto 3">
            <a:extLst>
              <a:ext uri="{FF2B5EF4-FFF2-40B4-BE49-F238E27FC236}">
                <a16:creationId xmlns:a16="http://schemas.microsoft.com/office/drawing/2014/main" id="{DF814890-2082-1986-E206-544B4F5B2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015" y="5764882"/>
            <a:ext cx="1368455" cy="760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pPr algn="ctr"/>
            <a:endParaRPr lang="es-PE" altLang="es-PE" sz="1200" dirty="0"/>
          </a:p>
        </p:txBody>
      </p:sp>
      <p:sp>
        <p:nvSpPr>
          <p:cNvPr id="23" name="Marcador de texto 3">
            <a:extLst>
              <a:ext uri="{FF2B5EF4-FFF2-40B4-BE49-F238E27FC236}">
                <a16:creationId xmlns:a16="http://schemas.microsoft.com/office/drawing/2014/main" id="{333D2648-E558-51B7-70EC-6ACC9E771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54" y="6191019"/>
            <a:ext cx="83801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sz="1800" dirty="0">
                <a:solidFill>
                  <a:schemeClr val="bg1"/>
                </a:solidFill>
              </a:rPr>
              <a:t>85%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B9188C53-DCF6-3D68-25FC-4DCC5021A32C}"/>
              </a:ext>
            </a:extLst>
          </p:cNvPr>
          <p:cNvSpPr/>
          <p:nvPr/>
        </p:nvSpPr>
        <p:spPr>
          <a:xfrm>
            <a:off x="339469" y="5934456"/>
            <a:ext cx="938049" cy="45020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7" name="Marcador de texto 3">
            <a:extLst>
              <a:ext uri="{FF2B5EF4-FFF2-40B4-BE49-F238E27FC236}">
                <a16:creationId xmlns:a16="http://schemas.microsoft.com/office/drawing/2014/main" id="{0DC851CC-9163-2743-6AB3-E995E856E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022" y="5985295"/>
            <a:ext cx="83801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sz="1800" dirty="0">
                <a:solidFill>
                  <a:schemeClr val="bg1"/>
                </a:solidFill>
              </a:rPr>
              <a:t>3%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674B7DF-CA85-E27B-DEC0-7B0C05595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57" y="805166"/>
            <a:ext cx="9264445" cy="350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1684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6149</TotalTime>
  <Words>622</Words>
  <Application>Microsoft Office PowerPoint</Application>
  <PresentationFormat>Panorámica</PresentationFormat>
  <Paragraphs>214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23" baseType="lpstr">
      <vt:lpstr>Aptos</vt:lpstr>
      <vt:lpstr>Aptos Display</vt:lpstr>
      <vt:lpstr>Arial</vt:lpstr>
      <vt:lpstr>Arial,Sans-Serif</vt:lpstr>
      <vt:lpstr>Calibri</vt:lpstr>
      <vt:lpstr>Geometria</vt:lpstr>
      <vt:lpstr>Geometria Medium</vt:lpstr>
      <vt:lpstr>Montserrat</vt:lpstr>
      <vt:lpstr>Poppins</vt:lpstr>
      <vt:lpstr>Poppins Bold</vt:lpstr>
      <vt:lpstr>Poppins SemiBold</vt:lpstr>
      <vt:lpstr>Wingdings</vt:lpstr>
      <vt:lpstr>Tema de Office</vt:lpstr>
      <vt:lpstr>Modelo predictivo PLAFT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Modelo predictivo PLAFT  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Reyes Obispo, Angel De Jesus Francisco</dc:creator>
  <cp:lastModifiedBy>Hernandez, Santiago Andres</cp:lastModifiedBy>
  <cp:revision>10</cp:revision>
  <dcterms:created xsi:type="dcterms:W3CDTF">2026-06-05T13:24:54Z</dcterms:created>
  <dcterms:modified xsi:type="dcterms:W3CDTF">2026-06-22T12:39:22Z</dcterms:modified>
</cp:coreProperties>
</file>