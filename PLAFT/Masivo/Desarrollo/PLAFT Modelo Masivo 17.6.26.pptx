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61" r:id="rId3"/>
    <p:sldId id="266" r:id="rId4"/>
    <p:sldId id="352" r:id="rId5"/>
    <p:sldId id="341" r:id="rId6"/>
    <p:sldId id="353" r:id="rId7"/>
    <p:sldId id="354" r:id="rId8"/>
    <p:sldId id="355" r:id="rId9"/>
    <p:sldId id="357" r:id="rId10"/>
    <p:sldId id="358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4AF47-A632-D70A-A372-5A64709DCF8A}" v="1" dt="2026-06-17T16:01:04.398"/>
    <p1510:client id="{12236260-0B4D-6D68-8B06-B89794C234BE}" v="1" dt="2026-06-17T16:35:47.219"/>
    <p1510:client id="{72A1A2D6-ECD4-BCE2-0821-41AB7FD6FFAC}" v="2" dt="2026-06-17T16:50:23.288"/>
    <p1510:client id="{A3F49FEA-A044-D32D-D92B-CD93778FC692}" v="2" dt="2026-06-18T20:22:55.559"/>
    <p1510:client id="{B7B5B32B-6C21-53A7-172E-C5CAD21FFA22}" v="2" dt="2026-06-17T16:23:14.748"/>
    <p1510:client id="{FBF2E1DA-BC42-B1AB-A6D4-495649E9E445}" v="26" dt="2026-06-18T18:13:58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Santiago Andres" userId="S::shernandez2@intercorp.com.pe::359de4d9-d13a-4fba-bf8c-78bf97773866" providerId="AD" clId="Web-{FBF2E1DA-BC42-B1AB-A6D4-495649E9E445}"/>
    <pc:docChg chg="modSld">
      <pc:chgData name="Hernandez, Santiago Andres" userId="S::shernandez2@intercorp.com.pe::359de4d9-d13a-4fba-bf8c-78bf97773866" providerId="AD" clId="Web-{FBF2E1DA-BC42-B1AB-A6D4-495649E9E445}" dt="2026-06-18T18:13:56.776" v="12" actId="20577"/>
      <pc:docMkLst>
        <pc:docMk/>
      </pc:docMkLst>
      <pc:sldChg chg="modSp">
        <pc:chgData name="Hernandez, Santiago Andres" userId="S::shernandez2@intercorp.com.pe::359de4d9-d13a-4fba-bf8c-78bf97773866" providerId="AD" clId="Web-{FBF2E1DA-BC42-B1AB-A6D4-495649E9E445}" dt="2026-06-18T18:13:56.776" v="12" actId="20577"/>
        <pc:sldMkLst>
          <pc:docMk/>
          <pc:sldMk cId="2713595004" sldId="341"/>
        </pc:sldMkLst>
        <pc:spChg chg="mod">
          <ac:chgData name="Hernandez, Santiago Andres" userId="S::shernandez2@intercorp.com.pe::359de4d9-d13a-4fba-bf8c-78bf97773866" providerId="AD" clId="Web-{FBF2E1DA-BC42-B1AB-A6D4-495649E9E445}" dt="2026-06-18T18:13:56.776" v="12" actId="20577"/>
          <ac:spMkLst>
            <pc:docMk/>
            <pc:sldMk cId="2713595004" sldId="341"/>
            <ac:spMk id="9" creationId="{A09C0DAE-419B-CB25-AB15-F1672DD9E54B}"/>
          </ac:spMkLst>
        </pc:spChg>
        <pc:spChg chg="mod">
          <ac:chgData name="Hernandez, Santiago Andres" userId="S::shernandez2@intercorp.com.pe::359de4d9-d13a-4fba-bf8c-78bf97773866" providerId="AD" clId="Web-{FBF2E1DA-BC42-B1AB-A6D4-495649E9E445}" dt="2026-06-18T14:40:57.852" v="10" actId="20577"/>
          <ac:spMkLst>
            <pc:docMk/>
            <pc:sldMk cId="2713595004" sldId="341"/>
            <ac:spMk id="14" creationId="{55EDEE6D-D17F-076F-B681-BC9DD8C3B494}"/>
          </ac:spMkLst>
        </pc:spChg>
      </pc:sldChg>
    </pc:docChg>
  </pc:docChgLst>
  <pc:docChgLst>
    <pc:chgData name="Hernandez, Santiago Andres" userId="S::shernandez2@intercorp.com.pe::359de4d9-d13a-4fba-bf8c-78bf97773866" providerId="AD" clId="Web-{A3F49FEA-A044-D32D-D92B-CD93778FC692}"/>
    <pc:docChg chg="modSld">
      <pc:chgData name="Hernandez, Santiago Andres" userId="S::shernandez2@intercorp.com.pe::359de4d9-d13a-4fba-bf8c-78bf97773866" providerId="AD" clId="Web-{A3F49FEA-A044-D32D-D92B-CD93778FC692}" dt="2026-06-18T20:22:55.559" v="1" actId="1076"/>
      <pc:docMkLst>
        <pc:docMk/>
      </pc:docMkLst>
      <pc:sldChg chg="modSp">
        <pc:chgData name="Hernandez, Santiago Andres" userId="S::shernandez2@intercorp.com.pe::359de4d9-d13a-4fba-bf8c-78bf97773866" providerId="AD" clId="Web-{A3F49FEA-A044-D32D-D92B-CD93778FC692}" dt="2026-06-18T20:22:55.559" v="1" actId="1076"/>
        <pc:sldMkLst>
          <pc:docMk/>
          <pc:sldMk cId="2713595004" sldId="341"/>
        </pc:sldMkLst>
        <pc:spChg chg="mod">
          <ac:chgData name="Hernandez, Santiago Andres" userId="S::shernandez2@intercorp.com.pe::359de4d9-d13a-4fba-bf8c-78bf97773866" providerId="AD" clId="Web-{A3F49FEA-A044-D32D-D92B-CD93778FC692}" dt="2026-06-18T20:22:55.559" v="1" actId="1076"/>
          <ac:spMkLst>
            <pc:docMk/>
            <pc:sldMk cId="2713595004" sldId="341"/>
            <ac:spMk id="45" creationId="{6CB50C23-D1FC-3ABB-869B-9FFEEE8140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BD727-AA33-460D-BEB3-1016E3EC1957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4EEA0-70A4-4E27-A122-D3DB103B40E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145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4EEA0-70A4-4E27-A122-D3DB103B40E2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894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59503-6C8B-44A5-3611-8185AEAD6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243A2-F66A-8C00-4A34-54E34FB24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59DEEA-F067-9CF9-9306-796289EF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BBC394-5172-265C-DC52-010D72EB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20AC0F-D013-7827-1C7A-4761EF8D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044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3F9D7-6FA6-F620-0202-8C6EACB0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182EF1-8A4A-7591-993E-82D24D28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DFF2A2-A7CC-E5B1-FD28-D6B401FE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C64B74-BCCA-A11E-82F1-422D50D8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D8213A-9931-01F4-1353-1C06C7D9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086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24ABF-0D6D-47F9-19B4-4F3F4647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616FA9-2C3F-24BF-B5EB-E401ECF0C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3069B-5893-D37A-A7FF-A8F90A3D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0A7D7A-8306-257C-2D86-304257DB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B9DF20-3A78-B65D-3588-8C3B5D29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646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2E7C3-61A7-9C16-0E03-C80B87AA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D42D5-8EFB-214F-619A-00A076255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33AC89-21D2-61F2-94F7-58E872796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1576E3-FD65-699E-81BE-0B180C27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9F2418-1C3F-27B4-7AE2-DC83BF5A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28AB4D-CA65-48B2-B227-26D44A2C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20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2DF56-1CF7-A732-F445-D0D01A1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4C3D7F-974F-1982-966F-F5F020413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268664-D1B1-634B-BE32-B0647B86A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25515F-90BF-D9F9-6877-4B96AC51E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3DBD96-3198-FE6E-7A23-515E61F38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5C9B4C-B8BE-50A0-C3A1-21D999EC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F67092-81DC-1E40-3C8E-B17D5A27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4B4204-C0B0-82B4-E420-2B7E9BC8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820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BBDFB-CC80-31DE-5F57-63A909FB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47C40B-E215-88C0-ADFB-0ED120D9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A33F6C-C2A5-5A3F-9E69-7ABD9348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AB3F2F-1B99-C132-80C2-5C167181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752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176BDE-0A28-59FC-C850-8BB3B257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F0F8DE-1BE4-D543-CBFB-9B1085FA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B388FE-A273-DFC0-7813-409178FE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188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225F2-792E-ECCA-9ED9-11D5F0E1E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373735-77CB-6B0A-C0D2-84209D7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AE4961-2189-4FB8-C38C-969101CA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D299DA-F886-8E91-0C37-E5D40BAA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09A86-37D8-5EE6-06CD-4F92389A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0ABE0B-5097-31D0-B42E-8E4273DC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678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1A9C6-3456-84EF-0FF5-747956D5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2FF5AF-112D-4805-657E-9BCD8C5DE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6D4211-59E0-EF36-E688-21886D071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3A9CBE-EFF1-9AC5-8449-A5017CC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8744A4-904D-7EFD-3DCB-D6C57777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18FE0E-858E-BB6D-C00E-8CF61363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580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0240A-E99B-A679-FEAC-B1B4BEA3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9A97A6-B8A8-D6AC-667B-DE4A2CD73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5DCC5-FDDA-86F5-BAA2-E7F42E33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892C93-B332-97CA-A5ED-FABF5663D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7AF25-0D59-445C-C938-69F11379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664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8423A1-DC73-A023-5FC5-0952CC85F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1D2F22-04EF-E8E4-BB4C-66CC08E9C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766A14-48CE-767C-3209-4173A433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C5091-1D6B-80FF-FFF7-0A3B30C9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8FFBE9-F851-C4A7-6DBC-E0D6CE74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759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_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78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05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4102EA-B88B-C557-C9BD-36CBF155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9F1AEF-C21D-6D0E-CEED-161CA903C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260B8C-B8AA-49BE-D14C-A3945EDA5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753FD-DA10-4A11-B2BC-335A50143F0B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C335D-33BD-6129-48BB-80FBE186E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9F4EEE-DCFE-AE54-7C8A-1DF29C1CB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6411B-F8B6-4BE6-9EB8-F37EB1CF57D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208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F6812-5402-9C8F-2AC8-AD5925584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06706"/>
            <a:ext cx="10479741" cy="1905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bg1"/>
                </a:solidFill>
              </a:rPr>
              <a:t>Modelo predictivo PLAFT </a:t>
            </a:r>
            <a:br>
              <a:rPr lang="es-MX" dirty="0"/>
            </a:b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1DE468-A161-DF96-A07E-25D86E37ADCD}"/>
              </a:ext>
            </a:extLst>
          </p:cNvPr>
          <p:cNvSpPr txBox="1"/>
          <p:nvPr/>
        </p:nvSpPr>
        <p:spPr>
          <a:xfrm>
            <a:off x="1102659" y="3136612"/>
            <a:ext cx="9565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 PN Masivo</a:t>
            </a:r>
            <a:endParaRPr lang="es-PE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942764-A464-E93E-96D8-EE2534E137F1}"/>
              </a:ext>
            </a:extLst>
          </p:cNvPr>
          <p:cNvSpPr txBox="1"/>
          <p:nvPr/>
        </p:nvSpPr>
        <p:spPr>
          <a:xfrm>
            <a:off x="-89114" y="4872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Junio 2026</a:t>
            </a:r>
            <a:endParaRPr lang="es-PE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1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FC4F-CB3C-C36D-EBCC-3FEC674C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Rectángulo">
            <a:extLst>
              <a:ext uri="{FF2B5EF4-FFF2-40B4-BE49-F238E27FC236}">
                <a16:creationId xmlns:a16="http://schemas.microsoft.com/office/drawing/2014/main" id="{BCD2F6F6-B823-426A-DB3A-54BE9717179A}"/>
              </a:ext>
            </a:extLst>
          </p:cNvPr>
          <p:cNvSpPr/>
          <p:nvPr/>
        </p:nvSpPr>
        <p:spPr>
          <a:xfrm>
            <a:off x="4268656" y="1001855"/>
            <a:ext cx="4121116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Resultados</a:t>
            </a:r>
          </a:p>
        </p:txBody>
      </p:sp>
      <p:sp>
        <p:nvSpPr>
          <p:cNvPr id="3" name="10 Rectángulo">
            <a:extLst>
              <a:ext uri="{FF2B5EF4-FFF2-40B4-BE49-F238E27FC236}">
                <a16:creationId xmlns:a16="http://schemas.microsoft.com/office/drawing/2014/main" id="{EAFB92FD-8A4E-7B15-6B45-A9F3DA767D40}"/>
              </a:ext>
            </a:extLst>
          </p:cNvPr>
          <p:cNvSpPr/>
          <p:nvPr/>
        </p:nvSpPr>
        <p:spPr>
          <a:xfrm>
            <a:off x="4279861" y="1540968"/>
            <a:ext cx="4121116" cy="457279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 anchorCtr="0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4" name="8 Rectángulo">
            <a:extLst>
              <a:ext uri="{FF2B5EF4-FFF2-40B4-BE49-F238E27FC236}">
                <a16:creationId xmlns:a16="http://schemas.microsoft.com/office/drawing/2014/main" id="{EBEF080C-ECB6-DC99-7B66-0CFC11C54B7F}"/>
              </a:ext>
            </a:extLst>
          </p:cNvPr>
          <p:cNvSpPr/>
          <p:nvPr/>
        </p:nvSpPr>
        <p:spPr>
          <a:xfrm>
            <a:off x="8501499" y="990120"/>
            <a:ext cx="3602480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Limitaciones</a:t>
            </a:r>
          </a:p>
        </p:txBody>
      </p:sp>
      <p:sp>
        <p:nvSpPr>
          <p:cNvPr id="8" name="Rectángulo 1041">
            <a:extLst>
              <a:ext uri="{FF2B5EF4-FFF2-40B4-BE49-F238E27FC236}">
                <a16:creationId xmlns:a16="http://schemas.microsoft.com/office/drawing/2014/main" id="{5E3088B0-09BD-74A0-80B5-F92262D4169B}"/>
              </a:ext>
            </a:extLst>
          </p:cNvPr>
          <p:cNvSpPr/>
          <p:nvPr/>
        </p:nvSpPr>
        <p:spPr>
          <a:xfrm>
            <a:off x="4998041" y="2048025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Entrenamiento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" name="Rectángulo: una sola esquina redondeada 1042">
            <a:extLst>
              <a:ext uri="{FF2B5EF4-FFF2-40B4-BE49-F238E27FC236}">
                <a16:creationId xmlns:a16="http://schemas.microsoft.com/office/drawing/2014/main" id="{D87B1B9F-A9BB-2D8D-09E7-49F6B1C3D653}"/>
              </a:ext>
            </a:extLst>
          </p:cNvPr>
          <p:cNvSpPr/>
          <p:nvPr/>
        </p:nvSpPr>
        <p:spPr>
          <a:xfrm>
            <a:off x="4966892" y="2050619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Elipse 1043">
            <a:extLst>
              <a:ext uri="{FF2B5EF4-FFF2-40B4-BE49-F238E27FC236}">
                <a16:creationId xmlns:a16="http://schemas.microsoft.com/office/drawing/2014/main" id="{7F25ADEC-B119-C849-EBFF-58646A047BA9}"/>
              </a:ext>
            </a:extLst>
          </p:cNvPr>
          <p:cNvSpPr/>
          <p:nvPr/>
        </p:nvSpPr>
        <p:spPr>
          <a:xfrm>
            <a:off x="6577646" y="2096414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Conector recto 1045">
            <a:extLst>
              <a:ext uri="{FF2B5EF4-FFF2-40B4-BE49-F238E27FC236}">
                <a16:creationId xmlns:a16="http://schemas.microsoft.com/office/drawing/2014/main" id="{47C8ADAE-8A95-D791-E502-7A050A6C92D3}"/>
              </a:ext>
            </a:extLst>
          </p:cNvPr>
          <p:cNvCxnSpPr>
            <a:cxnSpLocks/>
          </p:cNvCxnSpPr>
          <p:nvPr/>
        </p:nvCxnSpPr>
        <p:spPr>
          <a:xfrm flipV="1">
            <a:off x="6723941" y="2166796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Freeform 29">
            <a:extLst>
              <a:ext uri="{FF2B5EF4-FFF2-40B4-BE49-F238E27FC236}">
                <a16:creationId xmlns:a16="http://schemas.microsoft.com/office/drawing/2014/main" id="{209297FD-E522-B3D7-4E80-2460D59BD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008" y="1562307"/>
            <a:ext cx="718513" cy="89715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uadroTexto 1063">
            <a:extLst>
              <a:ext uri="{FF2B5EF4-FFF2-40B4-BE49-F238E27FC236}">
                <a16:creationId xmlns:a16="http://schemas.microsoft.com/office/drawing/2014/main" id="{393805AA-74B1-4A36-7D36-1CC08FB7CFAF}"/>
              </a:ext>
            </a:extLst>
          </p:cNvPr>
          <p:cNvSpPr txBox="1"/>
          <p:nvPr/>
        </p:nvSpPr>
        <p:spPr>
          <a:xfrm>
            <a:off x="6919246" y="1984074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b="1" dirty="0">
                <a:solidFill>
                  <a:srgbClr val="08BD4F"/>
                </a:solidFill>
                <a:latin typeface="Geometria Medium"/>
                <a:ea typeface="Geometria" panose="020B0503020204020204" pitchFamily="34" charset="0"/>
              </a:rPr>
              <a:t>50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7" name="Rectángulo 1065">
            <a:extLst>
              <a:ext uri="{FF2B5EF4-FFF2-40B4-BE49-F238E27FC236}">
                <a16:creationId xmlns:a16="http://schemas.microsoft.com/office/drawing/2014/main" id="{E0705B27-F8F0-A21A-697C-22EC3398E073}"/>
              </a:ext>
            </a:extLst>
          </p:cNvPr>
          <p:cNvSpPr/>
          <p:nvPr/>
        </p:nvSpPr>
        <p:spPr>
          <a:xfrm>
            <a:off x="4998041" y="2871927"/>
            <a:ext cx="1523241" cy="40011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Backtest</a:t>
            </a:r>
            <a:b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</a:b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(3 meses OOT)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8" name="Rectángulo: una sola esquina redondeada 1066">
            <a:extLst>
              <a:ext uri="{FF2B5EF4-FFF2-40B4-BE49-F238E27FC236}">
                <a16:creationId xmlns:a16="http://schemas.microsoft.com/office/drawing/2014/main" id="{165E4A05-4953-DFC8-7576-CF93848806D6}"/>
              </a:ext>
            </a:extLst>
          </p:cNvPr>
          <p:cNvSpPr/>
          <p:nvPr/>
        </p:nvSpPr>
        <p:spPr>
          <a:xfrm>
            <a:off x="4966892" y="2874521"/>
            <a:ext cx="45719" cy="396000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Elipse 1067">
            <a:extLst>
              <a:ext uri="{FF2B5EF4-FFF2-40B4-BE49-F238E27FC236}">
                <a16:creationId xmlns:a16="http://schemas.microsoft.com/office/drawing/2014/main" id="{E569392C-11D0-874E-9781-02B6E1272007}"/>
              </a:ext>
            </a:extLst>
          </p:cNvPr>
          <p:cNvSpPr/>
          <p:nvPr/>
        </p:nvSpPr>
        <p:spPr>
          <a:xfrm>
            <a:off x="6569309" y="2993526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Conector recto 1068">
            <a:extLst>
              <a:ext uri="{FF2B5EF4-FFF2-40B4-BE49-F238E27FC236}">
                <a16:creationId xmlns:a16="http://schemas.microsoft.com/office/drawing/2014/main" id="{C5505928-1EC6-C1F1-F2F3-3E31C5ABE086}"/>
              </a:ext>
            </a:extLst>
          </p:cNvPr>
          <p:cNvCxnSpPr>
            <a:cxnSpLocks/>
          </p:cNvCxnSpPr>
          <p:nvPr/>
        </p:nvCxnSpPr>
        <p:spPr>
          <a:xfrm flipV="1">
            <a:off x="6715604" y="3063383"/>
            <a:ext cx="234933" cy="2457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Freeform 29">
            <a:extLst>
              <a:ext uri="{FF2B5EF4-FFF2-40B4-BE49-F238E27FC236}">
                <a16:creationId xmlns:a16="http://schemas.microsoft.com/office/drawing/2014/main" id="{20EE96FE-90F9-8F03-9FDF-1E6C47913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42" y="2568283"/>
            <a:ext cx="389242" cy="411403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uadroTexto 1081">
            <a:extLst>
              <a:ext uri="{FF2B5EF4-FFF2-40B4-BE49-F238E27FC236}">
                <a16:creationId xmlns:a16="http://schemas.microsoft.com/office/drawing/2014/main" id="{40DAA150-0A69-2C31-DA51-64DF4FD138E4}"/>
              </a:ext>
            </a:extLst>
          </p:cNvPr>
          <p:cNvSpPr txBox="1"/>
          <p:nvPr/>
        </p:nvSpPr>
        <p:spPr>
          <a:xfrm>
            <a:off x="6920447" y="2893681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08BD4F"/>
                </a:solidFill>
                <a:latin typeface="Geometria Medium"/>
              </a:rPr>
              <a:t>52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43" name="Rectángulo 1082">
            <a:extLst>
              <a:ext uri="{FF2B5EF4-FFF2-40B4-BE49-F238E27FC236}">
                <a16:creationId xmlns:a16="http://schemas.microsoft.com/office/drawing/2014/main" id="{E8838777-1D63-0D7F-4BF0-FA550DB25A82}"/>
              </a:ext>
            </a:extLst>
          </p:cNvPr>
          <p:cNvSpPr/>
          <p:nvPr/>
        </p:nvSpPr>
        <p:spPr>
          <a:xfrm>
            <a:off x="4916066" y="3411368"/>
            <a:ext cx="286403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 w="0"/>
                <a:solidFill>
                  <a:srgbClr val="196B2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Calidad</a:t>
            </a:r>
            <a:r>
              <a:rPr kumimoji="0" lang="es-ES" sz="2400" b="0" i="0" u="none" strike="noStrike" kern="1200" cap="none" spc="0" normalizeH="0" baseline="0" noProof="0" dirty="0">
                <a:ln w="0"/>
                <a:solidFill>
                  <a:srgbClr val="08BD4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 Satisfactorio</a:t>
            </a:r>
          </a:p>
        </p:txBody>
      </p:sp>
      <p:sp>
        <p:nvSpPr>
          <p:cNvPr id="56" name="Rectángulo 1130">
            <a:extLst>
              <a:ext uri="{FF2B5EF4-FFF2-40B4-BE49-F238E27FC236}">
                <a16:creationId xmlns:a16="http://schemas.microsoft.com/office/drawing/2014/main" id="{F5F502F5-2FEF-DAAA-F597-7B2AA5932CEA}"/>
              </a:ext>
            </a:extLst>
          </p:cNvPr>
          <p:cNvSpPr/>
          <p:nvPr/>
        </p:nvSpPr>
        <p:spPr>
          <a:xfrm>
            <a:off x="4476726" y="4309797"/>
            <a:ext cx="299312" cy="154566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Fuentes</a:t>
            </a: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57" name="Rectángulo: una sola esquina redondeada 1131">
            <a:extLst>
              <a:ext uri="{FF2B5EF4-FFF2-40B4-BE49-F238E27FC236}">
                <a16:creationId xmlns:a16="http://schemas.microsoft.com/office/drawing/2014/main" id="{FF65305D-1D6A-1F9C-D5DA-D1D534B92985}"/>
              </a:ext>
            </a:extLst>
          </p:cNvPr>
          <p:cNvSpPr/>
          <p:nvPr/>
        </p:nvSpPr>
        <p:spPr>
          <a:xfrm>
            <a:off x="4443036" y="4334797"/>
            <a:ext cx="45719" cy="153884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ángulo 1132">
            <a:extLst>
              <a:ext uri="{FF2B5EF4-FFF2-40B4-BE49-F238E27FC236}">
                <a16:creationId xmlns:a16="http://schemas.microsoft.com/office/drawing/2014/main" id="{7179425D-AE03-30B5-63BF-FE55DC1A7D7D}"/>
              </a:ext>
            </a:extLst>
          </p:cNvPr>
          <p:cNvSpPr/>
          <p:nvPr/>
        </p:nvSpPr>
        <p:spPr>
          <a:xfrm>
            <a:off x="4393427" y="3981703"/>
            <a:ext cx="3886542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ángulo 2">
            <a:extLst>
              <a:ext uri="{FF2B5EF4-FFF2-40B4-BE49-F238E27FC236}">
                <a16:creationId xmlns:a16="http://schemas.microsoft.com/office/drawing/2014/main" id="{CE8E92A9-95C9-CD93-F340-BB560F67F437}"/>
              </a:ext>
            </a:extLst>
          </p:cNvPr>
          <p:cNvSpPr/>
          <p:nvPr/>
        </p:nvSpPr>
        <p:spPr>
          <a:xfrm>
            <a:off x="351642" y="4940089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ángulo: una sola esquina redondeada 3">
            <a:extLst>
              <a:ext uri="{FF2B5EF4-FFF2-40B4-BE49-F238E27FC236}">
                <a16:creationId xmlns:a16="http://schemas.microsoft.com/office/drawing/2014/main" id="{0338B31E-F684-A1CB-4AC8-6DB62966432A}"/>
              </a:ext>
            </a:extLst>
          </p:cNvPr>
          <p:cNvSpPr/>
          <p:nvPr/>
        </p:nvSpPr>
        <p:spPr>
          <a:xfrm>
            <a:off x="293262" y="4944830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ángulo 9">
            <a:extLst>
              <a:ext uri="{FF2B5EF4-FFF2-40B4-BE49-F238E27FC236}">
                <a16:creationId xmlns:a16="http://schemas.microsoft.com/office/drawing/2014/main" id="{5108C851-3D00-F36E-1F1A-84AC3AB345F0}"/>
              </a:ext>
            </a:extLst>
          </p:cNvPr>
          <p:cNvSpPr/>
          <p:nvPr/>
        </p:nvSpPr>
        <p:spPr>
          <a:xfrm>
            <a:off x="352473" y="382620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ángulo: una sola esquina redondeada 14">
            <a:extLst>
              <a:ext uri="{FF2B5EF4-FFF2-40B4-BE49-F238E27FC236}">
                <a16:creationId xmlns:a16="http://schemas.microsoft.com/office/drawing/2014/main" id="{9CD414C7-B4FD-AC80-99F1-F0FCB1984161}"/>
              </a:ext>
            </a:extLst>
          </p:cNvPr>
          <p:cNvSpPr/>
          <p:nvPr/>
        </p:nvSpPr>
        <p:spPr>
          <a:xfrm>
            <a:off x="294093" y="383094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ángulo 15">
            <a:extLst>
              <a:ext uri="{FF2B5EF4-FFF2-40B4-BE49-F238E27FC236}">
                <a16:creationId xmlns:a16="http://schemas.microsoft.com/office/drawing/2014/main" id="{62B41E9B-5674-5CA5-198B-0100E5C0247C}"/>
              </a:ext>
            </a:extLst>
          </p:cNvPr>
          <p:cNvSpPr/>
          <p:nvPr/>
        </p:nvSpPr>
        <p:spPr>
          <a:xfrm>
            <a:off x="352473" y="2692022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ángulo: una sola esquina redondeada 16">
            <a:extLst>
              <a:ext uri="{FF2B5EF4-FFF2-40B4-BE49-F238E27FC236}">
                <a16:creationId xmlns:a16="http://schemas.microsoft.com/office/drawing/2014/main" id="{A1579D2D-40AC-A94D-A6A6-EA996C52B12E}"/>
              </a:ext>
            </a:extLst>
          </p:cNvPr>
          <p:cNvSpPr/>
          <p:nvPr/>
        </p:nvSpPr>
        <p:spPr>
          <a:xfrm>
            <a:off x="294093" y="2696763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ángulo 17">
            <a:extLst>
              <a:ext uri="{FF2B5EF4-FFF2-40B4-BE49-F238E27FC236}">
                <a16:creationId xmlns:a16="http://schemas.microsoft.com/office/drawing/2014/main" id="{63222806-F663-9A19-D2DE-89676C0C4369}"/>
              </a:ext>
            </a:extLst>
          </p:cNvPr>
          <p:cNvSpPr/>
          <p:nvPr/>
        </p:nvSpPr>
        <p:spPr>
          <a:xfrm>
            <a:off x="361167" y="157681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9 Rectángulo">
            <a:extLst>
              <a:ext uri="{FF2B5EF4-FFF2-40B4-BE49-F238E27FC236}">
                <a16:creationId xmlns:a16="http://schemas.microsoft.com/office/drawing/2014/main" id="{6A6AEF72-7742-ABB9-94D5-FDCA25C9E35C}"/>
              </a:ext>
            </a:extLst>
          </p:cNvPr>
          <p:cNvSpPr/>
          <p:nvPr/>
        </p:nvSpPr>
        <p:spPr>
          <a:xfrm>
            <a:off x="111184" y="1001855"/>
            <a:ext cx="3935913" cy="504000"/>
          </a:xfrm>
          <a:prstGeom prst="rect">
            <a:avLst/>
          </a:prstGeom>
          <a:solidFill>
            <a:srgbClr val="00D03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68465" tIns="34289" rIns="68465" bIns="34289" rtlCol="0" anchor="ctr"/>
          <a:lstStyle/>
          <a:p>
            <a:pPr marL="0" marR="0" lvl="0" indent="0" algn="ctr" defTabSz="684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Ficha técnica</a:t>
            </a:r>
          </a:p>
        </p:txBody>
      </p:sp>
      <p:sp>
        <p:nvSpPr>
          <p:cNvPr id="67" name="11 Rectángulo">
            <a:extLst>
              <a:ext uri="{FF2B5EF4-FFF2-40B4-BE49-F238E27FC236}">
                <a16:creationId xmlns:a16="http://schemas.microsoft.com/office/drawing/2014/main" id="{69A0932F-6F3C-52E8-06EB-2B2BEDF82C89}"/>
              </a:ext>
            </a:extLst>
          </p:cNvPr>
          <p:cNvSpPr/>
          <p:nvPr/>
        </p:nvSpPr>
        <p:spPr>
          <a:xfrm>
            <a:off x="111184" y="1505853"/>
            <a:ext cx="3935913" cy="4561403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lIns="72000" tIns="0" rIns="72000" bIns="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CuadroTexto 21">
            <a:extLst>
              <a:ext uri="{FF2B5EF4-FFF2-40B4-BE49-F238E27FC236}">
                <a16:creationId xmlns:a16="http://schemas.microsoft.com/office/drawing/2014/main" id="{4631C449-3939-54F4-D932-123A776851B1}"/>
              </a:ext>
            </a:extLst>
          </p:cNvPr>
          <p:cNvSpPr txBox="1"/>
          <p:nvPr/>
        </p:nvSpPr>
        <p:spPr>
          <a:xfrm>
            <a:off x="171671" y="2336915"/>
            <a:ext cx="1224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Población</a:t>
            </a:r>
          </a:p>
        </p:txBody>
      </p:sp>
      <p:sp>
        <p:nvSpPr>
          <p:cNvPr id="69" name="Rectángulo 22">
            <a:extLst>
              <a:ext uri="{FF2B5EF4-FFF2-40B4-BE49-F238E27FC236}">
                <a16:creationId xmlns:a16="http://schemas.microsoft.com/office/drawing/2014/main" id="{4557B75D-5336-E4C1-6A16-06888320E89C}"/>
              </a:ext>
            </a:extLst>
          </p:cNvPr>
          <p:cNvSpPr/>
          <p:nvPr/>
        </p:nvSpPr>
        <p:spPr>
          <a:xfrm>
            <a:off x="1361640" y="1755548"/>
            <a:ext cx="2086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0" name="Rectángulo 23">
            <a:extLst>
              <a:ext uri="{FF2B5EF4-FFF2-40B4-BE49-F238E27FC236}">
                <a16:creationId xmlns:a16="http://schemas.microsoft.com/office/drawing/2014/main" id="{FB1949B7-66CD-D49D-780B-3C992781DF34}"/>
              </a:ext>
            </a:extLst>
          </p:cNvPr>
          <p:cNvSpPr/>
          <p:nvPr/>
        </p:nvSpPr>
        <p:spPr>
          <a:xfrm>
            <a:off x="1230287" y="1838301"/>
            <a:ext cx="263405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Persona Natural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38A6"/>
                </a:solidFill>
                <a:latin typeface="Poppins"/>
                <a:cs typeface="Arial"/>
              </a:rPr>
              <a:t>Masivo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1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E49EB01D-928F-8A87-346A-7ED5FF636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508779" y="5105500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uadroTexto 26">
            <a:extLst>
              <a:ext uri="{FF2B5EF4-FFF2-40B4-BE49-F238E27FC236}">
                <a16:creationId xmlns:a16="http://schemas.microsoft.com/office/drawing/2014/main" id="{ECFF0B6B-9EA8-064B-12CC-CE66F7466ADD}"/>
              </a:ext>
            </a:extLst>
          </p:cNvPr>
          <p:cNvSpPr txBox="1"/>
          <p:nvPr/>
        </p:nvSpPr>
        <p:spPr>
          <a:xfrm>
            <a:off x="216668" y="3306770"/>
            <a:ext cx="1116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Variable Objetivo</a:t>
            </a:r>
          </a:p>
        </p:txBody>
      </p:sp>
      <p:pic>
        <p:nvPicPr>
          <p:cNvPr id="73" name="Gráfico 111" descr="Diana con relleno sólido">
            <a:extLst>
              <a:ext uri="{FF2B5EF4-FFF2-40B4-BE49-F238E27FC236}">
                <a16:creationId xmlns:a16="http://schemas.microsoft.com/office/drawing/2014/main" id="{98AEC450-B94F-8A3B-7EC4-8F430B602DC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769" y="2741420"/>
            <a:ext cx="596707" cy="596707"/>
          </a:xfrm>
          <a:prstGeom prst="rect">
            <a:avLst/>
          </a:prstGeom>
        </p:spPr>
      </p:pic>
      <p:sp>
        <p:nvSpPr>
          <p:cNvPr id="74" name="Rectángulo 29">
            <a:extLst>
              <a:ext uri="{FF2B5EF4-FFF2-40B4-BE49-F238E27FC236}">
                <a16:creationId xmlns:a16="http://schemas.microsoft.com/office/drawing/2014/main" id="{C336FFF2-4B5A-6BAE-EF57-8E50DFCC9C4F}"/>
              </a:ext>
            </a:extLst>
          </p:cNvPr>
          <p:cNvSpPr/>
          <p:nvPr/>
        </p:nvSpPr>
        <p:spPr>
          <a:xfrm>
            <a:off x="1190746" y="2891628"/>
            <a:ext cx="26735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Horizonte en 30 días: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Alertas con riesgo identificadas por el equipo de monitoreo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5" name="Gráfico 30" descr="Hombre con relleno sólido">
            <a:extLst>
              <a:ext uri="{FF2B5EF4-FFF2-40B4-BE49-F238E27FC236}">
                <a16:creationId xmlns:a16="http://schemas.microsoft.com/office/drawing/2014/main" id="{6842244A-9A13-432F-6191-001F5CD72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235" y="1714205"/>
            <a:ext cx="641777" cy="641777"/>
          </a:xfrm>
          <a:prstGeom prst="rect">
            <a:avLst/>
          </a:prstGeom>
        </p:spPr>
      </p:pic>
      <p:sp>
        <p:nvSpPr>
          <p:cNvPr id="76" name="CuadroTexto 1143">
            <a:extLst>
              <a:ext uri="{FF2B5EF4-FFF2-40B4-BE49-F238E27FC236}">
                <a16:creationId xmlns:a16="http://schemas.microsoft.com/office/drawing/2014/main" id="{2A7DF34A-4018-42A6-68FF-0BE7F277D929}"/>
              </a:ext>
            </a:extLst>
          </p:cNvPr>
          <p:cNvSpPr txBox="1"/>
          <p:nvPr/>
        </p:nvSpPr>
        <p:spPr>
          <a:xfrm>
            <a:off x="255897" y="5626537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Metodología</a:t>
            </a:r>
          </a:p>
        </p:txBody>
      </p:sp>
      <p:sp>
        <p:nvSpPr>
          <p:cNvPr id="77" name="Rectángulo: una sola esquina redondeada 1144">
            <a:extLst>
              <a:ext uri="{FF2B5EF4-FFF2-40B4-BE49-F238E27FC236}">
                <a16:creationId xmlns:a16="http://schemas.microsoft.com/office/drawing/2014/main" id="{355ED737-1906-FF41-86D2-61853839D4D2}"/>
              </a:ext>
            </a:extLst>
          </p:cNvPr>
          <p:cNvSpPr/>
          <p:nvPr/>
        </p:nvSpPr>
        <p:spPr>
          <a:xfrm>
            <a:off x="302787" y="158155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ángulo 1145">
            <a:extLst>
              <a:ext uri="{FF2B5EF4-FFF2-40B4-BE49-F238E27FC236}">
                <a16:creationId xmlns:a16="http://schemas.microsoft.com/office/drawing/2014/main" id="{9FF84BBC-E8AC-875E-40BD-1552629394BD}"/>
              </a:ext>
            </a:extLst>
          </p:cNvPr>
          <p:cNvSpPr/>
          <p:nvPr/>
        </p:nvSpPr>
        <p:spPr>
          <a:xfrm>
            <a:off x="1384911" y="5174949"/>
            <a:ext cx="241654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Modelo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Machine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Learning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XGBoost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9" name="CuadroTexto 42">
            <a:extLst>
              <a:ext uri="{FF2B5EF4-FFF2-40B4-BE49-F238E27FC236}">
                <a16:creationId xmlns:a16="http://schemas.microsoft.com/office/drawing/2014/main" id="{3D12C594-559F-DC31-67EF-80ABBEB2EAEE}"/>
              </a:ext>
            </a:extLst>
          </p:cNvPr>
          <p:cNvSpPr txBox="1"/>
          <p:nvPr/>
        </p:nvSpPr>
        <p:spPr>
          <a:xfrm>
            <a:off x="7097088" y="1575960"/>
            <a:ext cx="7024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Geometria" panose="020B0503020204020204" pitchFamily="34" charset="0"/>
                <a:cs typeface="Poppins"/>
              </a:rPr>
              <a:t>Gini</a:t>
            </a:r>
          </a:p>
        </p:txBody>
      </p:sp>
      <p:pic>
        <p:nvPicPr>
          <p:cNvPr id="80" name="Picture 75" descr="calendar-icon - BCSM">
            <a:extLst>
              <a:ext uri="{FF2B5EF4-FFF2-40B4-BE49-F238E27FC236}">
                <a16:creationId xmlns:a16="http://schemas.microsoft.com/office/drawing/2014/main" id="{20A2B342-FEF1-3D5C-2472-32335AB70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rgbClr val="08BD4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2" y="3997257"/>
            <a:ext cx="459747" cy="45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CuadroTexto 62">
            <a:extLst>
              <a:ext uri="{FF2B5EF4-FFF2-40B4-BE49-F238E27FC236}">
                <a16:creationId xmlns:a16="http://schemas.microsoft.com/office/drawing/2014/main" id="{2A3C3E4F-CB8B-44E3-64C0-A72531B04EAF}"/>
              </a:ext>
            </a:extLst>
          </p:cNvPr>
          <p:cNvSpPr txBox="1"/>
          <p:nvPr/>
        </p:nvSpPr>
        <p:spPr>
          <a:xfrm>
            <a:off x="338285" y="4473120"/>
            <a:ext cx="8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Periodos</a:t>
            </a:r>
          </a:p>
        </p:txBody>
      </p:sp>
      <p:sp>
        <p:nvSpPr>
          <p:cNvPr id="82" name="Rectángulo 66">
            <a:extLst>
              <a:ext uri="{FF2B5EF4-FFF2-40B4-BE49-F238E27FC236}">
                <a16:creationId xmlns:a16="http://schemas.microsoft.com/office/drawing/2014/main" id="{83E37E4F-29EE-43F9-81D9-B900B8AEA29E}"/>
              </a:ext>
            </a:extLst>
          </p:cNvPr>
          <p:cNvSpPr/>
          <p:nvPr/>
        </p:nvSpPr>
        <p:spPr>
          <a:xfrm>
            <a:off x="1486721" y="4092273"/>
            <a:ext cx="2168541" cy="56067"/>
          </a:xfrm>
          <a:prstGeom prst="rect">
            <a:avLst/>
          </a:prstGeom>
          <a:solidFill>
            <a:srgbClr val="08BD4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CuadroTexto 71">
            <a:extLst>
              <a:ext uri="{FF2B5EF4-FFF2-40B4-BE49-F238E27FC236}">
                <a16:creationId xmlns:a16="http://schemas.microsoft.com/office/drawing/2014/main" id="{AC1D00B8-42DB-1E13-5AA9-A31FABF7DE20}"/>
              </a:ext>
            </a:extLst>
          </p:cNvPr>
          <p:cNvSpPr txBox="1"/>
          <p:nvPr/>
        </p:nvSpPr>
        <p:spPr>
          <a:xfrm>
            <a:off x="1283638" y="4178411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Ene. 25</a:t>
            </a:r>
          </a:p>
        </p:txBody>
      </p:sp>
      <p:sp>
        <p:nvSpPr>
          <p:cNvPr id="85" name="CuadroTexto 75">
            <a:extLst>
              <a:ext uri="{FF2B5EF4-FFF2-40B4-BE49-F238E27FC236}">
                <a16:creationId xmlns:a16="http://schemas.microsoft.com/office/drawing/2014/main" id="{F7F0F150-A939-B44C-0AC1-3BEFFC8984F7}"/>
              </a:ext>
            </a:extLst>
          </p:cNvPr>
          <p:cNvSpPr txBox="1"/>
          <p:nvPr/>
        </p:nvSpPr>
        <p:spPr>
          <a:xfrm>
            <a:off x="1807071" y="450300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Train</a:t>
            </a:r>
          </a:p>
        </p:txBody>
      </p:sp>
      <p:sp>
        <p:nvSpPr>
          <p:cNvPr id="86" name="Cerrar llave 76">
            <a:extLst>
              <a:ext uri="{FF2B5EF4-FFF2-40B4-BE49-F238E27FC236}">
                <a16:creationId xmlns:a16="http://schemas.microsoft.com/office/drawing/2014/main" id="{70089CB4-A939-4834-BE32-A3B6F056EC7D}"/>
              </a:ext>
            </a:extLst>
          </p:cNvPr>
          <p:cNvSpPr/>
          <p:nvPr/>
        </p:nvSpPr>
        <p:spPr>
          <a:xfrm rot="16200000" flipH="1">
            <a:off x="1950681" y="3935410"/>
            <a:ext cx="143438" cy="985777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CuadroTexto 78">
            <a:extLst>
              <a:ext uri="{FF2B5EF4-FFF2-40B4-BE49-F238E27FC236}">
                <a16:creationId xmlns:a16="http://schemas.microsoft.com/office/drawing/2014/main" id="{1AE7BEC7-B481-0272-7F61-0D95BC832A32}"/>
              </a:ext>
            </a:extLst>
          </p:cNvPr>
          <p:cNvSpPr txBox="1"/>
          <p:nvPr/>
        </p:nvSpPr>
        <p:spPr>
          <a:xfrm>
            <a:off x="2943012" y="4493031"/>
            <a:ext cx="10040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B</a:t>
            </a: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acktest (OOT)</a:t>
            </a:r>
          </a:p>
        </p:txBody>
      </p:sp>
      <p:sp>
        <p:nvSpPr>
          <p:cNvPr id="88" name="CuadroTexto 79">
            <a:extLst>
              <a:ext uri="{FF2B5EF4-FFF2-40B4-BE49-F238E27FC236}">
                <a16:creationId xmlns:a16="http://schemas.microsoft.com/office/drawing/2014/main" id="{30D7FCAE-8AE5-A5A1-5A41-CF59046729D1}"/>
              </a:ext>
            </a:extLst>
          </p:cNvPr>
          <p:cNvSpPr txBox="1"/>
          <p:nvPr/>
        </p:nvSpPr>
        <p:spPr>
          <a:xfrm>
            <a:off x="1773796" y="3892701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7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89" name="CuadroTexto 80">
            <a:extLst>
              <a:ext uri="{FF2B5EF4-FFF2-40B4-BE49-F238E27FC236}">
                <a16:creationId xmlns:a16="http://schemas.microsoft.com/office/drawing/2014/main" id="{28D902BB-4E97-1EC4-9929-C33083C7F674}"/>
              </a:ext>
            </a:extLst>
          </p:cNvPr>
          <p:cNvSpPr txBox="1"/>
          <p:nvPr/>
        </p:nvSpPr>
        <p:spPr>
          <a:xfrm>
            <a:off x="3019127" y="3899902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4 meses</a:t>
            </a:r>
          </a:p>
        </p:txBody>
      </p:sp>
      <p:sp>
        <p:nvSpPr>
          <p:cNvPr id="90" name="CuadroTexto 42">
            <a:extLst>
              <a:ext uri="{FF2B5EF4-FFF2-40B4-BE49-F238E27FC236}">
                <a16:creationId xmlns:a16="http://schemas.microsoft.com/office/drawing/2014/main" id="{D188462A-1E5F-93B9-501B-FF71361B63FA}"/>
              </a:ext>
            </a:extLst>
          </p:cNvPr>
          <p:cNvSpPr txBox="1"/>
          <p:nvPr/>
        </p:nvSpPr>
        <p:spPr>
          <a:xfrm>
            <a:off x="2943012" y="4132428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Oct25</a:t>
            </a:r>
          </a:p>
        </p:txBody>
      </p:sp>
      <p:sp>
        <p:nvSpPr>
          <p:cNvPr id="91" name="Cerrar llave 76">
            <a:extLst>
              <a:ext uri="{FF2B5EF4-FFF2-40B4-BE49-F238E27FC236}">
                <a16:creationId xmlns:a16="http://schemas.microsoft.com/office/drawing/2014/main" id="{2251E806-0A4A-8532-073F-DE90D3A34443}"/>
              </a:ext>
            </a:extLst>
          </p:cNvPr>
          <p:cNvSpPr/>
          <p:nvPr/>
        </p:nvSpPr>
        <p:spPr>
          <a:xfrm rot="16200000" flipH="1">
            <a:off x="3407716" y="4083054"/>
            <a:ext cx="135832" cy="675274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CuadroTexto 72">
            <a:extLst>
              <a:ext uri="{FF2B5EF4-FFF2-40B4-BE49-F238E27FC236}">
                <a16:creationId xmlns:a16="http://schemas.microsoft.com/office/drawing/2014/main" id="{2F210863-1416-7F39-0772-0636FCE9956F}"/>
              </a:ext>
            </a:extLst>
          </p:cNvPr>
          <p:cNvSpPr txBox="1"/>
          <p:nvPr/>
        </p:nvSpPr>
        <p:spPr>
          <a:xfrm>
            <a:off x="2116406" y="416313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Jul 25</a:t>
            </a:r>
          </a:p>
        </p:txBody>
      </p:sp>
      <p:sp>
        <p:nvSpPr>
          <p:cNvPr id="95" name="Rectángulo 1041">
            <a:extLst>
              <a:ext uri="{FF2B5EF4-FFF2-40B4-BE49-F238E27FC236}">
                <a16:creationId xmlns:a16="http://schemas.microsoft.com/office/drawing/2014/main" id="{0683EDAC-E509-4D36-4EB8-D56E55DBC289}"/>
              </a:ext>
            </a:extLst>
          </p:cNvPr>
          <p:cNvSpPr/>
          <p:nvPr/>
        </p:nvSpPr>
        <p:spPr>
          <a:xfrm>
            <a:off x="5007002" y="2478329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Validación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6" name="Rectángulo: una sola esquina redondeada 1042">
            <a:extLst>
              <a:ext uri="{FF2B5EF4-FFF2-40B4-BE49-F238E27FC236}">
                <a16:creationId xmlns:a16="http://schemas.microsoft.com/office/drawing/2014/main" id="{CA6D2E5A-1377-D329-3148-2A92F69AAC4C}"/>
              </a:ext>
            </a:extLst>
          </p:cNvPr>
          <p:cNvSpPr/>
          <p:nvPr/>
        </p:nvSpPr>
        <p:spPr>
          <a:xfrm>
            <a:off x="4975853" y="2480923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lipse 1043">
            <a:extLst>
              <a:ext uri="{FF2B5EF4-FFF2-40B4-BE49-F238E27FC236}">
                <a16:creationId xmlns:a16="http://schemas.microsoft.com/office/drawing/2014/main" id="{EE8CF475-A27C-8C30-0148-79033182B5BE}"/>
              </a:ext>
            </a:extLst>
          </p:cNvPr>
          <p:cNvSpPr/>
          <p:nvPr/>
        </p:nvSpPr>
        <p:spPr>
          <a:xfrm>
            <a:off x="6586607" y="2526718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onector recto 1045">
            <a:extLst>
              <a:ext uri="{FF2B5EF4-FFF2-40B4-BE49-F238E27FC236}">
                <a16:creationId xmlns:a16="http://schemas.microsoft.com/office/drawing/2014/main" id="{1DDC5DD5-6CAD-4DFA-D1EA-7C79363FEA97}"/>
              </a:ext>
            </a:extLst>
          </p:cNvPr>
          <p:cNvCxnSpPr>
            <a:cxnSpLocks/>
          </p:cNvCxnSpPr>
          <p:nvPr/>
        </p:nvCxnSpPr>
        <p:spPr>
          <a:xfrm flipV="1">
            <a:off x="6732902" y="2597100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CuadroTexto 1063">
            <a:extLst>
              <a:ext uri="{FF2B5EF4-FFF2-40B4-BE49-F238E27FC236}">
                <a16:creationId xmlns:a16="http://schemas.microsoft.com/office/drawing/2014/main" id="{F9C71AB9-B8AF-6803-0048-70472A47C4F7}"/>
              </a:ext>
            </a:extLst>
          </p:cNvPr>
          <p:cNvSpPr txBox="1"/>
          <p:nvPr/>
        </p:nvSpPr>
        <p:spPr>
          <a:xfrm>
            <a:off x="6928207" y="2432666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b="1" dirty="0">
                <a:solidFill>
                  <a:srgbClr val="08BD4F"/>
                </a:solidFill>
                <a:latin typeface="Geometria Medium"/>
                <a:ea typeface="Geometria" panose="020B0503020204020204" pitchFamily="34" charset="0"/>
              </a:rPr>
              <a:t>49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00" name="Rectángulo 2">
            <a:extLst>
              <a:ext uri="{FF2B5EF4-FFF2-40B4-BE49-F238E27FC236}">
                <a16:creationId xmlns:a16="http://schemas.microsoft.com/office/drawing/2014/main" id="{84E29605-BA85-7E60-B42A-65E68C79D840}"/>
              </a:ext>
            </a:extLst>
          </p:cNvPr>
          <p:cNvSpPr/>
          <p:nvPr/>
        </p:nvSpPr>
        <p:spPr>
          <a:xfrm>
            <a:off x="8567655" y="4645737"/>
            <a:ext cx="3513161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ectángulo: una sola esquina redondeada 3">
            <a:extLst>
              <a:ext uri="{FF2B5EF4-FFF2-40B4-BE49-F238E27FC236}">
                <a16:creationId xmlns:a16="http://schemas.microsoft.com/office/drawing/2014/main" id="{D152AD97-F3DF-C197-EC60-6BF9E2B9549F}"/>
              </a:ext>
            </a:extLst>
          </p:cNvPr>
          <p:cNvSpPr/>
          <p:nvPr/>
        </p:nvSpPr>
        <p:spPr>
          <a:xfrm>
            <a:off x="8509275" y="4650478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A88D6460-8326-2464-7B68-CC0503A266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8724792" y="4811148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CuadroTexto 1143">
            <a:extLst>
              <a:ext uri="{FF2B5EF4-FFF2-40B4-BE49-F238E27FC236}">
                <a16:creationId xmlns:a16="http://schemas.microsoft.com/office/drawing/2014/main" id="{40583258-711E-F292-8AB9-5DA43C6D44E1}"/>
              </a:ext>
            </a:extLst>
          </p:cNvPr>
          <p:cNvSpPr txBox="1"/>
          <p:nvPr/>
        </p:nvSpPr>
        <p:spPr>
          <a:xfrm>
            <a:off x="8471910" y="5332185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TIER</a:t>
            </a:r>
          </a:p>
        </p:txBody>
      </p:sp>
      <p:sp>
        <p:nvSpPr>
          <p:cNvPr id="104" name="Rectángulo 1145">
            <a:extLst>
              <a:ext uri="{FF2B5EF4-FFF2-40B4-BE49-F238E27FC236}">
                <a16:creationId xmlns:a16="http://schemas.microsoft.com/office/drawing/2014/main" id="{16BFE12D-7EE7-2482-C937-4DA4AB87B9CD}"/>
              </a:ext>
            </a:extLst>
          </p:cNvPr>
          <p:cNvSpPr/>
          <p:nvPr/>
        </p:nvSpPr>
        <p:spPr>
          <a:xfrm>
            <a:off x="9226017" y="5018432"/>
            <a:ext cx="241654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Laboratorio</a:t>
            </a: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DAD3E96-3F05-187D-6064-ABD7BFDC5771}"/>
              </a:ext>
            </a:extLst>
          </p:cNvPr>
          <p:cNvSpPr txBox="1">
            <a:spLocks/>
          </p:cNvSpPr>
          <p:nvPr/>
        </p:nvSpPr>
        <p:spPr>
          <a:xfrm>
            <a:off x="8589520" y="1562986"/>
            <a:ext cx="3602480" cy="1977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Fechas de ejecución: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Ejecución mensual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 uso: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Identificar de nuevas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alertas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Riesgo generadas por el modelo</a:t>
            </a: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Entrega de predicción: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 Ejecución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manual durante la fase de piloto.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8" name="CuadroTexto 80">
            <a:extLst>
              <a:ext uri="{FF2B5EF4-FFF2-40B4-BE49-F238E27FC236}">
                <a16:creationId xmlns:a16="http://schemas.microsoft.com/office/drawing/2014/main" id="{2D4E8BC5-2D7E-447C-7B5C-F9F46FF32B5F}"/>
              </a:ext>
            </a:extLst>
          </p:cNvPr>
          <p:cNvSpPr txBox="1"/>
          <p:nvPr/>
        </p:nvSpPr>
        <p:spPr>
          <a:xfrm>
            <a:off x="2517103" y="3908867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2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109" name="CuadroTexto 78">
            <a:extLst>
              <a:ext uri="{FF2B5EF4-FFF2-40B4-BE49-F238E27FC236}">
                <a16:creationId xmlns:a16="http://schemas.microsoft.com/office/drawing/2014/main" id="{A1775404-331D-30F2-0856-C7CF18F561AF}"/>
              </a:ext>
            </a:extLst>
          </p:cNvPr>
          <p:cNvSpPr txBox="1"/>
          <p:nvPr/>
        </p:nvSpPr>
        <p:spPr>
          <a:xfrm>
            <a:off x="2494776" y="4510960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Val</a:t>
            </a:r>
            <a:endParaRPr kumimoji="0" lang="es-PE" sz="700" b="1" i="0" u="none" strike="noStrike" kern="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/>
              <a:ea typeface="+mn-ea"/>
              <a:cs typeface="+mn-cs"/>
            </a:endParaRPr>
          </a:p>
        </p:txBody>
      </p:sp>
      <p:sp>
        <p:nvSpPr>
          <p:cNvPr id="110" name="CuadroTexto 72">
            <a:extLst>
              <a:ext uri="{FF2B5EF4-FFF2-40B4-BE49-F238E27FC236}">
                <a16:creationId xmlns:a16="http://schemas.microsoft.com/office/drawing/2014/main" id="{FFD68378-7974-9AEA-6A96-00FF233532E8}"/>
              </a:ext>
            </a:extLst>
          </p:cNvPr>
          <p:cNvSpPr txBox="1"/>
          <p:nvPr/>
        </p:nvSpPr>
        <p:spPr>
          <a:xfrm>
            <a:off x="2531977" y="4140656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Ago-</a:t>
            </a:r>
            <a:r>
              <a:rPr kumimoji="0" lang="es-PE" sz="700" b="1" i="0" u="none" strike="noStrike" kern="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Sep</a:t>
            </a: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25</a:t>
            </a:r>
          </a:p>
        </p:txBody>
      </p:sp>
      <p:sp>
        <p:nvSpPr>
          <p:cNvPr id="111" name="Cerrar llave 76">
            <a:extLst>
              <a:ext uri="{FF2B5EF4-FFF2-40B4-BE49-F238E27FC236}">
                <a16:creationId xmlns:a16="http://schemas.microsoft.com/office/drawing/2014/main" id="{E144FEC1-3D0A-49F1-B164-AE94AF0067D6}"/>
              </a:ext>
            </a:extLst>
          </p:cNvPr>
          <p:cNvSpPr/>
          <p:nvPr/>
        </p:nvSpPr>
        <p:spPr>
          <a:xfrm rot="16200000" flipH="1">
            <a:off x="2766739" y="4168219"/>
            <a:ext cx="126867" cy="531839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Marcador de texto 1">
            <a:extLst>
              <a:ext uri="{FF2B5EF4-FFF2-40B4-BE49-F238E27FC236}">
                <a16:creationId xmlns:a16="http://schemas.microsoft.com/office/drawing/2014/main" id="{08BA5FD9-4B7A-62B8-30E8-98018E4437F8}"/>
              </a:ext>
            </a:extLst>
          </p:cNvPr>
          <p:cNvSpPr txBox="1">
            <a:spLocks/>
          </p:cNvSpPr>
          <p:nvPr/>
        </p:nvSpPr>
        <p:spPr>
          <a:xfrm>
            <a:off x="171671" y="330086"/>
            <a:ext cx="10873827" cy="6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Ficha técnica del Modelo PLAFT PN Masivo</a:t>
            </a:r>
          </a:p>
        </p:txBody>
      </p:sp>
      <p:sp>
        <p:nvSpPr>
          <p:cNvPr id="117" name="CuadroTexto 42">
            <a:extLst>
              <a:ext uri="{FF2B5EF4-FFF2-40B4-BE49-F238E27FC236}">
                <a16:creationId xmlns:a16="http://schemas.microsoft.com/office/drawing/2014/main" id="{EC053CFD-662A-4084-289F-0B06791FAF3F}"/>
              </a:ext>
            </a:extLst>
          </p:cNvPr>
          <p:cNvSpPr txBox="1"/>
          <p:nvPr/>
        </p:nvSpPr>
        <p:spPr>
          <a:xfrm>
            <a:off x="3514336" y="4123334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Abri26</a:t>
            </a:r>
          </a:p>
        </p:txBody>
      </p:sp>
      <p:sp>
        <p:nvSpPr>
          <p:cNvPr id="120" name="Diagrama de flujo: preparación 1106">
            <a:extLst>
              <a:ext uri="{FF2B5EF4-FFF2-40B4-BE49-F238E27FC236}">
                <a16:creationId xmlns:a16="http://schemas.microsoft.com/office/drawing/2014/main" id="{C4D9AB03-B410-3920-C7A3-DF2DB2403151}"/>
              </a:ext>
            </a:extLst>
          </p:cNvPr>
          <p:cNvSpPr/>
          <p:nvPr/>
        </p:nvSpPr>
        <p:spPr>
          <a:xfrm>
            <a:off x="5930370" y="4457513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CuadroTexto 1091">
            <a:extLst>
              <a:ext uri="{FF2B5EF4-FFF2-40B4-BE49-F238E27FC236}">
                <a16:creationId xmlns:a16="http://schemas.microsoft.com/office/drawing/2014/main" id="{1B31AC09-373F-C6E6-22AC-C86F1808CB5B}"/>
              </a:ext>
            </a:extLst>
          </p:cNvPr>
          <p:cNvSpPr txBox="1"/>
          <p:nvPr/>
        </p:nvSpPr>
        <p:spPr>
          <a:xfrm>
            <a:off x="5920620" y="4743180"/>
            <a:ext cx="7189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Perfil del Cliente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/>
              <a:ea typeface="+mn-ea"/>
              <a:cs typeface="Calibri"/>
            </a:endParaRPr>
          </a:p>
        </p:txBody>
      </p:sp>
      <p:sp>
        <p:nvSpPr>
          <p:cNvPr id="122" name="Diagrama de flujo: preparación 1107">
            <a:extLst>
              <a:ext uri="{FF2B5EF4-FFF2-40B4-BE49-F238E27FC236}">
                <a16:creationId xmlns:a16="http://schemas.microsoft.com/office/drawing/2014/main" id="{D3962096-495A-68F7-FF50-8EF3BF51B47F}"/>
              </a:ext>
            </a:extLst>
          </p:cNvPr>
          <p:cNvSpPr/>
          <p:nvPr/>
        </p:nvSpPr>
        <p:spPr>
          <a:xfrm>
            <a:off x="5922648" y="5137859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CuadroTexto 1109">
            <a:extLst>
              <a:ext uri="{FF2B5EF4-FFF2-40B4-BE49-F238E27FC236}">
                <a16:creationId xmlns:a16="http://schemas.microsoft.com/office/drawing/2014/main" id="{9606A2E7-9CC4-F2A5-91D1-9D1E4D05D170}"/>
              </a:ext>
            </a:extLst>
          </p:cNvPr>
          <p:cNvSpPr txBox="1"/>
          <p:nvPr/>
        </p:nvSpPr>
        <p:spPr>
          <a:xfrm>
            <a:off x="5920591" y="5500411"/>
            <a:ext cx="713921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Contexto</a:t>
            </a:r>
          </a:p>
        </p:txBody>
      </p:sp>
      <p:sp>
        <p:nvSpPr>
          <p:cNvPr id="124" name="CuadroTexto 1117">
            <a:extLst>
              <a:ext uri="{FF2B5EF4-FFF2-40B4-BE49-F238E27FC236}">
                <a16:creationId xmlns:a16="http://schemas.microsoft.com/office/drawing/2014/main" id="{D3CE0CFF-CBFB-ABA1-7088-95FDA65AD975}"/>
              </a:ext>
            </a:extLst>
          </p:cNvPr>
          <p:cNvSpPr txBox="1"/>
          <p:nvPr/>
        </p:nvSpPr>
        <p:spPr>
          <a:xfrm>
            <a:off x="5920591" y="4169919"/>
            <a:ext cx="8349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5" name="CuadroTexto 1121">
            <a:extLst>
              <a:ext uri="{FF2B5EF4-FFF2-40B4-BE49-F238E27FC236}">
                <a16:creationId xmlns:a16="http://schemas.microsoft.com/office/drawing/2014/main" id="{B8CC97E4-8297-F769-C4E8-19BD7D4ACB91}"/>
              </a:ext>
            </a:extLst>
          </p:cNvPr>
          <p:cNvSpPr txBox="1"/>
          <p:nvPr/>
        </p:nvSpPr>
        <p:spPr>
          <a:xfrm>
            <a:off x="5877062" y="5736222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7" name="Diagrama de flujo: preparación 1107">
            <a:extLst>
              <a:ext uri="{FF2B5EF4-FFF2-40B4-BE49-F238E27FC236}">
                <a16:creationId xmlns:a16="http://schemas.microsoft.com/office/drawing/2014/main" id="{55C4AF9C-1615-479A-A76F-B6F63F88211C}"/>
              </a:ext>
            </a:extLst>
          </p:cNvPr>
          <p:cNvSpPr/>
          <p:nvPr/>
        </p:nvSpPr>
        <p:spPr>
          <a:xfrm>
            <a:off x="5328831" y="4781796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uadroTexto 1121">
            <a:extLst>
              <a:ext uri="{FF2B5EF4-FFF2-40B4-BE49-F238E27FC236}">
                <a16:creationId xmlns:a16="http://schemas.microsoft.com/office/drawing/2014/main" id="{6A7A431E-C617-85C0-19CD-9790DD24DE13}"/>
              </a:ext>
            </a:extLst>
          </p:cNvPr>
          <p:cNvSpPr txBox="1"/>
          <p:nvPr/>
        </p:nvSpPr>
        <p:spPr>
          <a:xfrm>
            <a:off x="5230641" y="5449710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58 %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9" name="CuadroTexto 1112">
            <a:extLst>
              <a:ext uri="{FF2B5EF4-FFF2-40B4-BE49-F238E27FC236}">
                <a16:creationId xmlns:a16="http://schemas.microsoft.com/office/drawing/2014/main" id="{3D7283B4-C17A-8290-0906-16CAF754FC9D}"/>
              </a:ext>
            </a:extLst>
          </p:cNvPr>
          <p:cNvSpPr txBox="1"/>
          <p:nvPr/>
        </p:nvSpPr>
        <p:spPr>
          <a:xfrm>
            <a:off x="5371850" y="5132334"/>
            <a:ext cx="63323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Calibri"/>
              </a:rPr>
              <a:t>TRX</a:t>
            </a:r>
            <a:endParaRPr kumimoji="0" lang="es-PE" sz="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Calibri"/>
            </a:endParaRPr>
          </a:p>
        </p:txBody>
      </p:sp>
      <p:pic>
        <p:nvPicPr>
          <p:cNvPr id="130" name="Picture 7">
            <a:extLst>
              <a:ext uri="{FF2B5EF4-FFF2-40B4-BE49-F238E27FC236}">
                <a16:creationId xmlns:a16="http://schemas.microsoft.com/office/drawing/2014/main" id="{B613697B-B011-85C5-0F2E-BDA4C9B00F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808" y="4834238"/>
            <a:ext cx="270164" cy="316346"/>
          </a:xfrm>
          <a:prstGeom prst="rect">
            <a:avLst/>
          </a:prstGeom>
        </p:spPr>
      </p:pic>
      <p:pic>
        <p:nvPicPr>
          <p:cNvPr id="132" name="Picture 2" descr="Empresa - Iconos gratis de edificios">
            <a:extLst>
              <a:ext uri="{FF2B5EF4-FFF2-40B4-BE49-F238E27FC236}">
                <a16:creationId xmlns:a16="http://schemas.microsoft.com/office/drawing/2014/main" id="{55DB95D6-4815-D4C0-7487-E7BD25C6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272" y="4441351"/>
            <a:ext cx="301829" cy="30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6" descr="254.100+ Bank Ilustraciones de Stock, gráficos vectoriales ...">
            <a:extLst>
              <a:ext uri="{FF2B5EF4-FFF2-40B4-BE49-F238E27FC236}">
                <a16:creationId xmlns:a16="http://schemas.microsoft.com/office/drawing/2014/main" id="{CDC67940-9AF8-AF0C-C3A1-79F5CE11C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576" y="5221732"/>
            <a:ext cx="308605" cy="3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iagrama de flujo: preparación 1105">
            <a:extLst>
              <a:ext uri="{FF2B5EF4-FFF2-40B4-BE49-F238E27FC236}">
                <a16:creationId xmlns:a16="http://schemas.microsoft.com/office/drawing/2014/main" id="{1A2BC0FC-84BF-F7CF-7BED-573F9164FB88}"/>
              </a:ext>
            </a:extLst>
          </p:cNvPr>
          <p:cNvSpPr/>
          <p:nvPr/>
        </p:nvSpPr>
        <p:spPr>
          <a:xfrm>
            <a:off x="6512306" y="4777511"/>
            <a:ext cx="718514" cy="612000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1100">
            <a:extLst>
              <a:ext uri="{FF2B5EF4-FFF2-40B4-BE49-F238E27FC236}">
                <a16:creationId xmlns:a16="http://schemas.microsoft.com/office/drawing/2014/main" id="{8C65375B-86F7-6E61-E301-0135E4D2BBF0}"/>
              </a:ext>
            </a:extLst>
          </p:cNvPr>
          <p:cNvSpPr txBox="1"/>
          <p:nvPr/>
        </p:nvSpPr>
        <p:spPr>
          <a:xfrm>
            <a:off x="6503716" y="5045448"/>
            <a:ext cx="7563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PE" sz="8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CuadroTexto 1122">
            <a:extLst>
              <a:ext uri="{FF2B5EF4-FFF2-40B4-BE49-F238E27FC236}">
                <a16:creationId xmlns:a16="http://schemas.microsoft.com/office/drawing/2014/main" id="{65B0119C-10A5-F888-ABB3-606EE009E316}"/>
              </a:ext>
            </a:extLst>
          </p:cNvPr>
          <p:cNvSpPr txBox="1"/>
          <p:nvPr/>
        </p:nvSpPr>
        <p:spPr>
          <a:xfrm>
            <a:off x="6587859" y="5399517"/>
            <a:ext cx="6155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30 %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5FCF4A8E-650B-B7F7-3B9C-210F2EDDB162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27718" y="480665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FFA-AA7E-EAA1-856B-12960F80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5">
            <a:extLst>
              <a:ext uri="{FF2B5EF4-FFF2-40B4-BE49-F238E27FC236}">
                <a16:creationId xmlns:a16="http://schemas.microsoft.com/office/drawing/2014/main" id="{E22C4B07-60CD-1366-2860-99346F80B0D9}"/>
              </a:ext>
            </a:extLst>
          </p:cNvPr>
          <p:cNvSpPr/>
          <p:nvPr/>
        </p:nvSpPr>
        <p:spPr>
          <a:xfrm>
            <a:off x="7152079" y="1229329"/>
            <a:ext cx="4435021" cy="29114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7.6%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" name="Freeform: Shape 35">
            <a:extLst>
              <a:ext uri="{FF2B5EF4-FFF2-40B4-BE49-F238E27FC236}">
                <a16:creationId xmlns:a16="http://schemas.microsoft.com/office/drawing/2014/main" id="{7F1FBBB8-89D5-4CE8-8EE3-0A70FB828134}"/>
              </a:ext>
            </a:extLst>
          </p:cNvPr>
          <p:cNvSpPr/>
          <p:nvPr/>
        </p:nvSpPr>
        <p:spPr>
          <a:xfrm>
            <a:off x="7152079" y="1746446"/>
            <a:ext cx="363440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Freeform: Shape 35">
            <a:extLst>
              <a:ext uri="{FF2B5EF4-FFF2-40B4-BE49-F238E27FC236}">
                <a16:creationId xmlns:a16="http://schemas.microsoft.com/office/drawing/2014/main" id="{BAF13AFD-9449-D5BE-A055-DD33B425E815}"/>
              </a:ext>
            </a:extLst>
          </p:cNvPr>
          <p:cNvSpPr/>
          <p:nvPr/>
        </p:nvSpPr>
        <p:spPr>
          <a:xfrm>
            <a:off x="7152079" y="2247380"/>
            <a:ext cx="326512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6.8%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Freeform: Shape 35">
            <a:extLst>
              <a:ext uri="{FF2B5EF4-FFF2-40B4-BE49-F238E27FC236}">
                <a16:creationId xmlns:a16="http://schemas.microsoft.com/office/drawing/2014/main" id="{B17199AD-9DBD-12D8-5401-5E3AD78878E4}"/>
              </a:ext>
            </a:extLst>
          </p:cNvPr>
          <p:cNvSpPr/>
          <p:nvPr/>
        </p:nvSpPr>
        <p:spPr>
          <a:xfrm>
            <a:off x="7152079" y="2741628"/>
            <a:ext cx="2784296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5.2%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6" name="Freeform: Shape 35">
            <a:extLst>
              <a:ext uri="{FF2B5EF4-FFF2-40B4-BE49-F238E27FC236}">
                <a16:creationId xmlns:a16="http://schemas.microsoft.com/office/drawing/2014/main" id="{457660AA-6AE1-4A16-0D0A-28CB97CFF143}"/>
              </a:ext>
            </a:extLst>
          </p:cNvPr>
          <p:cNvSpPr/>
          <p:nvPr/>
        </p:nvSpPr>
        <p:spPr>
          <a:xfrm>
            <a:off x="7152079" y="4264700"/>
            <a:ext cx="190832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2.38%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Freeform: Shape 35">
            <a:extLst>
              <a:ext uri="{FF2B5EF4-FFF2-40B4-BE49-F238E27FC236}">
                <a16:creationId xmlns:a16="http://schemas.microsoft.com/office/drawing/2014/main" id="{54446162-4902-D264-87E1-B385C299268D}"/>
              </a:ext>
            </a:extLst>
          </p:cNvPr>
          <p:cNvSpPr/>
          <p:nvPr/>
        </p:nvSpPr>
        <p:spPr>
          <a:xfrm>
            <a:off x="7152079" y="4781417"/>
            <a:ext cx="1727464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2.19%</a:t>
            </a:r>
          </a:p>
        </p:txBody>
      </p:sp>
      <p:cxnSp>
        <p:nvCxnSpPr>
          <p:cNvPr id="18" name="Conector recto de flecha 18">
            <a:extLst>
              <a:ext uri="{FF2B5EF4-FFF2-40B4-BE49-F238E27FC236}">
                <a16:creationId xmlns:a16="http://schemas.microsoft.com/office/drawing/2014/main" id="{2E06C865-D005-998B-96E0-7AF3C99A14FC}"/>
              </a:ext>
            </a:extLst>
          </p:cNvPr>
          <p:cNvCxnSpPr>
            <a:cxnSpLocks/>
          </p:cNvCxnSpPr>
          <p:nvPr/>
        </p:nvCxnSpPr>
        <p:spPr>
          <a:xfrm flipV="1">
            <a:off x="7132855" y="6172276"/>
            <a:ext cx="4042397" cy="27704"/>
          </a:xfrm>
          <a:prstGeom prst="straightConnector1">
            <a:avLst/>
          </a:prstGeom>
          <a:noFill/>
          <a:ln w="571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CuadroTexto 22">
            <a:extLst>
              <a:ext uri="{FF2B5EF4-FFF2-40B4-BE49-F238E27FC236}">
                <a16:creationId xmlns:a16="http://schemas.microsoft.com/office/drawing/2014/main" id="{EE103699-F1C1-4379-4DDA-75399D1E1B76}"/>
              </a:ext>
            </a:extLst>
          </p:cNvPr>
          <p:cNvSpPr txBox="1"/>
          <p:nvPr/>
        </p:nvSpPr>
        <p:spPr>
          <a:xfrm>
            <a:off x="1945518" y="1161445"/>
            <a:ext cx="5068043" cy="408623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depósitos en efectivo (12 meses)</a:t>
            </a:r>
          </a:p>
        </p:txBody>
      </p:sp>
      <p:sp>
        <p:nvSpPr>
          <p:cNvPr id="24" name="CuadroTexto 24">
            <a:extLst>
              <a:ext uri="{FF2B5EF4-FFF2-40B4-BE49-F238E27FC236}">
                <a16:creationId xmlns:a16="http://schemas.microsoft.com/office/drawing/2014/main" id="{6D3189BB-0E02-0CFB-F70F-4FD5CCC2DD61}"/>
              </a:ext>
            </a:extLst>
          </p:cNvPr>
          <p:cNvSpPr txBox="1"/>
          <p:nvPr/>
        </p:nvSpPr>
        <p:spPr>
          <a:xfrm>
            <a:off x="1945518" y="1707695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total de egresos del último mes</a:t>
            </a:r>
          </a:p>
        </p:txBody>
      </p:sp>
      <p:sp>
        <p:nvSpPr>
          <p:cNvPr id="25" name="CuadroTexto 26">
            <a:extLst>
              <a:ext uri="{FF2B5EF4-FFF2-40B4-BE49-F238E27FC236}">
                <a16:creationId xmlns:a16="http://schemas.microsoft.com/office/drawing/2014/main" id="{3018A6D3-FE0A-9161-E048-7118AFC07707}"/>
              </a:ext>
            </a:extLst>
          </p:cNvPr>
          <p:cNvSpPr txBox="1"/>
          <p:nvPr/>
        </p:nvSpPr>
        <p:spPr>
          <a:xfrm>
            <a:off x="1945518" y="2244539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Número de egresos realizados (12 meses)</a:t>
            </a:r>
          </a:p>
        </p:txBody>
      </p:sp>
      <p:sp>
        <p:nvSpPr>
          <p:cNvPr id="27" name="CuadroTexto 30">
            <a:extLst>
              <a:ext uri="{FF2B5EF4-FFF2-40B4-BE49-F238E27FC236}">
                <a16:creationId xmlns:a16="http://schemas.microsoft.com/office/drawing/2014/main" id="{6B55DFCC-50BB-39C8-3C6F-A55D8A3BD12C}"/>
              </a:ext>
            </a:extLst>
          </p:cNvPr>
          <p:cNvSpPr txBox="1"/>
          <p:nvPr/>
        </p:nvSpPr>
        <p:spPr>
          <a:xfrm>
            <a:off x="2084037" y="2703533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Comportamiento atípico de egresos recientes</a:t>
            </a:r>
          </a:p>
        </p:txBody>
      </p:sp>
      <p:sp>
        <p:nvSpPr>
          <p:cNvPr id="28" name="CuadroTexto 1120">
            <a:extLst>
              <a:ext uri="{FF2B5EF4-FFF2-40B4-BE49-F238E27FC236}">
                <a16:creationId xmlns:a16="http://schemas.microsoft.com/office/drawing/2014/main" id="{34A4735D-87F7-C2DE-9704-4B4339A55528}"/>
              </a:ext>
            </a:extLst>
          </p:cNvPr>
          <p:cNvSpPr txBox="1"/>
          <p:nvPr/>
        </p:nvSpPr>
        <p:spPr>
          <a:xfrm>
            <a:off x="1946495" y="3251175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Incremento reciente de depósitos</a:t>
            </a:r>
          </a:p>
        </p:txBody>
      </p:sp>
      <p:sp>
        <p:nvSpPr>
          <p:cNvPr id="29" name="CuadroTexto 1122">
            <a:extLst>
              <a:ext uri="{FF2B5EF4-FFF2-40B4-BE49-F238E27FC236}">
                <a16:creationId xmlns:a16="http://schemas.microsoft.com/office/drawing/2014/main" id="{98CA5E92-A1D6-3D48-8736-405A5381B069}"/>
              </a:ext>
            </a:extLst>
          </p:cNvPr>
          <p:cNvSpPr txBox="1"/>
          <p:nvPr/>
        </p:nvSpPr>
        <p:spPr>
          <a:xfrm>
            <a:off x="1980881" y="3714910"/>
            <a:ext cx="5068041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anual de egresos en efectivo</a:t>
            </a:r>
          </a:p>
        </p:txBody>
      </p:sp>
      <p:sp>
        <p:nvSpPr>
          <p:cNvPr id="30" name="CuadroTexto 1124">
            <a:extLst>
              <a:ext uri="{FF2B5EF4-FFF2-40B4-BE49-F238E27FC236}">
                <a16:creationId xmlns:a16="http://schemas.microsoft.com/office/drawing/2014/main" id="{E0A400D3-D43F-459E-234D-B2FEBED39691}"/>
              </a:ext>
            </a:extLst>
          </p:cNvPr>
          <p:cNvSpPr txBox="1"/>
          <p:nvPr/>
        </p:nvSpPr>
        <p:spPr>
          <a:xfrm>
            <a:off x="1946495" y="4245221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Concentración máxima de transacciones en un día</a:t>
            </a:r>
          </a:p>
        </p:txBody>
      </p:sp>
      <p:sp>
        <p:nvSpPr>
          <p:cNvPr id="31" name="CuadroTexto 1127">
            <a:extLst>
              <a:ext uri="{FF2B5EF4-FFF2-40B4-BE49-F238E27FC236}">
                <a16:creationId xmlns:a16="http://schemas.microsoft.com/office/drawing/2014/main" id="{8003E7A1-641E-1C42-223F-E975ED1902B8}"/>
              </a:ext>
            </a:extLst>
          </p:cNvPr>
          <p:cNvSpPr txBox="1"/>
          <p:nvPr/>
        </p:nvSpPr>
        <p:spPr>
          <a:xfrm>
            <a:off x="1946495" y="5306584"/>
            <a:ext cx="5068039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Diferencia de montos: depósitos vs egresos en efectivo (6m)</a:t>
            </a:r>
          </a:p>
        </p:txBody>
      </p:sp>
      <p:sp>
        <p:nvSpPr>
          <p:cNvPr id="32" name="CuadroTexto 1129">
            <a:extLst>
              <a:ext uri="{FF2B5EF4-FFF2-40B4-BE49-F238E27FC236}">
                <a16:creationId xmlns:a16="http://schemas.microsoft.com/office/drawing/2014/main" id="{B01BD706-B8FF-B9B1-645E-049F3616A2BC}"/>
              </a:ext>
            </a:extLst>
          </p:cNvPr>
          <p:cNvSpPr txBox="1"/>
          <p:nvPr/>
        </p:nvSpPr>
        <p:spPr>
          <a:xfrm>
            <a:off x="1945518" y="4741680"/>
            <a:ext cx="5068040" cy="306467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r">
              <a:defRPr sz="1200"/>
            </a:lvl1pPr>
          </a:lstStyle>
          <a:p>
            <a:pPr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Intensidad de uso de fondos (rotación</a:t>
            </a:r>
            <a:r>
              <a:rPr lang="es-PE" dirty="0"/>
              <a:t>)</a:t>
            </a:r>
          </a:p>
        </p:txBody>
      </p:sp>
      <p:sp>
        <p:nvSpPr>
          <p:cNvPr id="118" name="Freeform: Shape 35">
            <a:extLst>
              <a:ext uri="{FF2B5EF4-FFF2-40B4-BE49-F238E27FC236}">
                <a16:creationId xmlns:a16="http://schemas.microsoft.com/office/drawing/2014/main" id="{BDCB71A7-36F7-7FBF-31A8-0281C7EBD04C}"/>
              </a:ext>
            </a:extLst>
          </p:cNvPr>
          <p:cNvSpPr/>
          <p:nvPr/>
        </p:nvSpPr>
        <p:spPr>
          <a:xfrm>
            <a:off x="7152079" y="3743900"/>
            <a:ext cx="209519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4.1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%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reeform: Shape 35">
            <a:extLst>
              <a:ext uri="{FF2B5EF4-FFF2-40B4-BE49-F238E27FC236}">
                <a16:creationId xmlns:a16="http://schemas.microsoft.com/office/drawing/2014/main" id="{B569240D-1D20-F56B-B00E-4FE68B690227}"/>
              </a:ext>
            </a:extLst>
          </p:cNvPr>
          <p:cNvSpPr/>
          <p:nvPr/>
        </p:nvSpPr>
        <p:spPr>
          <a:xfrm>
            <a:off x="7152079" y="3255254"/>
            <a:ext cx="2272637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4.12%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0" name="Freeform: Shape 35">
            <a:extLst>
              <a:ext uri="{FF2B5EF4-FFF2-40B4-BE49-F238E27FC236}">
                <a16:creationId xmlns:a16="http://schemas.microsoft.com/office/drawing/2014/main" id="{C0DD65F0-2393-37CF-6328-9A9684735599}"/>
              </a:ext>
            </a:extLst>
          </p:cNvPr>
          <p:cNvSpPr/>
          <p:nvPr/>
        </p:nvSpPr>
        <p:spPr>
          <a:xfrm>
            <a:off x="7152079" y="5287269"/>
            <a:ext cx="157546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1.78%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1" name="CuadroTexto 38">
            <a:extLst>
              <a:ext uri="{FF2B5EF4-FFF2-40B4-BE49-F238E27FC236}">
                <a16:creationId xmlns:a16="http://schemas.microsoft.com/office/drawing/2014/main" id="{EA609676-C7F0-DE3A-9FF4-E3C36F3AFD55}"/>
              </a:ext>
            </a:extLst>
          </p:cNvPr>
          <p:cNvSpPr txBox="1"/>
          <p:nvPr/>
        </p:nvSpPr>
        <p:spPr>
          <a:xfrm>
            <a:off x="7799906" y="905325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% importancia</a:t>
            </a:r>
          </a:p>
        </p:txBody>
      </p:sp>
      <p:sp>
        <p:nvSpPr>
          <p:cNvPr id="122" name="CuadroTexto 38">
            <a:extLst>
              <a:ext uri="{FF2B5EF4-FFF2-40B4-BE49-F238E27FC236}">
                <a16:creationId xmlns:a16="http://schemas.microsoft.com/office/drawing/2014/main" id="{2AFDF0D3-63BB-FE14-0E0B-FF1103D83883}"/>
              </a:ext>
            </a:extLst>
          </p:cNvPr>
          <p:cNvSpPr txBox="1"/>
          <p:nvPr/>
        </p:nvSpPr>
        <p:spPr>
          <a:xfrm>
            <a:off x="3530619" y="905324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Nombre de la variable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3" name="CuadroTexto 38">
            <a:extLst>
              <a:ext uri="{FF2B5EF4-FFF2-40B4-BE49-F238E27FC236}">
                <a16:creationId xmlns:a16="http://schemas.microsoft.com/office/drawing/2014/main" id="{91F1DEBA-AA8C-A472-B447-D16C1C042B64}"/>
              </a:ext>
            </a:extLst>
          </p:cNvPr>
          <p:cNvSpPr txBox="1"/>
          <p:nvPr/>
        </p:nvSpPr>
        <p:spPr>
          <a:xfrm>
            <a:off x="284289" y="884446"/>
            <a:ext cx="147938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Fuentes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0" name="Title 2">
            <a:extLst>
              <a:ext uri="{FF2B5EF4-FFF2-40B4-BE49-F238E27FC236}">
                <a16:creationId xmlns:a16="http://schemas.microsoft.com/office/drawing/2014/main" id="{65DB6501-90EC-61D4-664C-0F8639E2D478}"/>
              </a:ext>
            </a:extLst>
          </p:cNvPr>
          <p:cNvSpPr txBox="1">
            <a:spLocks/>
          </p:cNvSpPr>
          <p:nvPr/>
        </p:nvSpPr>
        <p:spPr>
          <a:xfrm>
            <a:off x="218399" y="127615"/>
            <a:ext cx="11044112" cy="79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dirty="0"/>
              <a:t>Top 10 variables del Modelo PLAFT PN Masivo</a:t>
            </a:r>
          </a:p>
        </p:txBody>
      </p:sp>
      <p:sp>
        <p:nvSpPr>
          <p:cNvPr id="2" name="Freeform: Shape 35">
            <a:extLst>
              <a:ext uri="{FF2B5EF4-FFF2-40B4-BE49-F238E27FC236}">
                <a16:creationId xmlns:a16="http://schemas.microsoft.com/office/drawing/2014/main" id="{524B6D74-BF1D-39AA-2056-211321A99505}"/>
              </a:ext>
            </a:extLst>
          </p:cNvPr>
          <p:cNvSpPr/>
          <p:nvPr/>
        </p:nvSpPr>
        <p:spPr>
          <a:xfrm>
            <a:off x="7157825" y="5793121"/>
            <a:ext cx="1569716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1.78%</a:t>
            </a:r>
          </a:p>
        </p:txBody>
      </p:sp>
      <p:sp>
        <p:nvSpPr>
          <p:cNvPr id="3" name="CuadroTexto 1127">
            <a:extLst>
              <a:ext uri="{FF2B5EF4-FFF2-40B4-BE49-F238E27FC236}">
                <a16:creationId xmlns:a16="http://schemas.microsoft.com/office/drawing/2014/main" id="{B1DDBCED-CA6C-F69D-02B9-030B37108102}"/>
              </a:ext>
            </a:extLst>
          </p:cNvPr>
          <p:cNvSpPr txBox="1"/>
          <p:nvPr/>
        </p:nvSpPr>
        <p:spPr>
          <a:xfrm>
            <a:off x="1946495" y="5793121"/>
            <a:ext cx="5068039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de débitos vs créditos</a:t>
            </a:r>
          </a:p>
        </p:txBody>
      </p:sp>
      <p:sp>
        <p:nvSpPr>
          <p:cNvPr id="6" name="Arrow: Pentagon 1095">
            <a:extLst>
              <a:ext uri="{FF2B5EF4-FFF2-40B4-BE49-F238E27FC236}">
                <a16:creationId xmlns:a16="http://schemas.microsoft.com/office/drawing/2014/main" id="{ED8F58A2-AA7D-076E-BA14-611A0A81C0FC}"/>
              </a:ext>
            </a:extLst>
          </p:cNvPr>
          <p:cNvSpPr/>
          <p:nvPr/>
        </p:nvSpPr>
        <p:spPr>
          <a:xfrm>
            <a:off x="264524" y="1707695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Arrow: Pentagon 1095">
            <a:extLst>
              <a:ext uri="{FF2B5EF4-FFF2-40B4-BE49-F238E27FC236}">
                <a16:creationId xmlns:a16="http://schemas.microsoft.com/office/drawing/2014/main" id="{1DF84CA6-8F06-43DD-B9D4-5C009CF69307}"/>
              </a:ext>
            </a:extLst>
          </p:cNvPr>
          <p:cNvSpPr/>
          <p:nvPr/>
        </p:nvSpPr>
        <p:spPr>
          <a:xfrm>
            <a:off x="264524" y="2249913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Arrow: Pentagon 1095">
            <a:extLst>
              <a:ext uri="{FF2B5EF4-FFF2-40B4-BE49-F238E27FC236}">
                <a16:creationId xmlns:a16="http://schemas.microsoft.com/office/drawing/2014/main" id="{80A58956-14C7-09F5-7206-151CF2BB928D}"/>
              </a:ext>
            </a:extLst>
          </p:cNvPr>
          <p:cNvSpPr/>
          <p:nvPr/>
        </p:nvSpPr>
        <p:spPr>
          <a:xfrm>
            <a:off x="261579" y="3734981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6" name="Arrow: Pentagon 1095">
            <a:extLst>
              <a:ext uri="{FF2B5EF4-FFF2-40B4-BE49-F238E27FC236}">
                <a16:creationId xmlns:a16="http://schemas.microsoft.com/office/drawing/2014/main" id="{C355FA39-BB63-B0E5-D368-604FA236926E}"/>
              </a:ext>
            </a:extLst>
          </p:cNvPr>
          <p:cNvSpPr/>
          <p:nvPr/>
        </p:nvSpPr>
        <p:spPr>
          <a:xfrm>
            <a:off x="282226" y="579312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Arrow: Pentagon 1095">
            <a:extLst>
              <a:ext uri="{FF2B5EF4-FFF2-40B4-BE49-F238E27FC236}">
                <a16:creationId xmlns:a16="http://schemas.microsoft.com/office/drawing/2014/main" id="{B600CA25-9BC5-8838-2F3C-0D50F73D7652}"/>
              </a:ext>
            </a:extLst>
          </p:cNvPr>
          <p:cNvSpPr/>
          <p:nvPr/>
        </p:nvSpPr>
        <p:spPr>
          <a:xfrm>
            <a:off x="326825" y="122896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Arrow: Pentagon 1095">
            <a:extLst>
              <a:ext uri="{FF2B5EF4-FFF2-40B4-BE49-F238E27FC236}">
                <a16:creationId xmlns:a16="http://schemas.microsoft.com/office/drawing/2014/main" id="{0D123A2A-0F58-4184-1C33-B17F488D6376}"/>
              </a:ext>
            </a:extLst>
          </p:cNvPr>
          <p:cNvSpPr/>
          <p:nvPr/>
        </p:nvSpPr>
        <p:spPr>
          <a:xfrm>
            <a:off x="204251" y="2667974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41" name="Arrow: Pentagon 1095">
            <a:extLst>
              <a:ext uri="{FF2B5EF4-FFF2-40B4-BE49-F238E27FC236}">
                <a16:creationId xmlns:a16="http://schemas.microsoft.com/office/drawing/2014/main" id="{648562A4-2892-7181-10A8-D9653435EFC7}"/>
              </a:ext>
            </a:extLst>
          </p:cNvPr>
          <p:cNvSpPr/>
          <p:nvPr/>
        </p:nvSpPr>
        <p:spPr>
          <a:xfrm>
            <a:off x="264524" y="5287269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Arrow: Pentagon 1095">
            <a:extLst>
              <a:ext uri="{FF2B5EF4-FFF2-40B4-BE49-F238E27FC236}">
                <a16:creationId xmlns:a16="http://schemas.microsoft.com/office/drawing/2014/main" id="{F014575D-9940-66C7-CBE8-8746A4544657}"/>
              </a:ext>
            </a:extLst>
          </p:cNvPr>
          <p:cNvSpPr/>
          <p:nvPr/>
        </p:nvSpPr>
        <p:spPr>
          <a:xfrm>
            <a:off x="220846" y="3229130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10" name="Arrow: Pentagon 1095">
            <a:extLst>
              <a:ext uri="{FF2B5EF4-FFF2-40B4-BE49-F238E27FC236}">
                <a16:creationId xmlns:a16="http://schemas.microsoft.com/office/drawing/2014/main" id="{C50B9433-1385-6FEA-76E3-7D3FBEA17BDC}"/>
              </a:ext>
            </a:extLst>
          </p:cNvPr>
          <p:cNvSpPr/>
          <p:nvPr/>
        </p:nvSpPr>
        <p:spPr>
          <a:xfrm>
            <a:off x="219746" y="4262659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21" name="Arrow: Pentagon 1095">
            <a:extLst>
              <a:ext uri="{FF2B5EF4-FFF2-40B4-BE49-F238E27FC236}">
                <a16:creationId xmlns:a16="http://schemas.microsoft.com/office/drawing/2014/main" id="{1AA638D7-D55F-5E33-AF69-AA7BCBCF42BC}"/>
              </a:ext>
            </a:extLst>
          </p:cNvPr>
          <p:cNvSpPr/>
          <p:nvPr/>
        </p:nvSpPr>
        <p:spPr>
          <a:xfrm>
            <a:off x="218399" y="4741394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33" name="Flecha: hacia arriba 32">
            <a:extLst>
              <a:ext uri="{FF2B5EF4-FFF2-40B4-BE49-F238E27FC236}">
                <a16:creationId xmlns:a16="http://schemas.microsoft.com/office/drawing/2014/main" id="{43879CC6-573B-1053-3433-1BE19B6F6133}"/>
              </a:ext>
            </a:extLst>
          </p:cNvPr>
          <p:cNvSpPr/>
          <p:nvPr/>
        </p:nvSpPr>
        <p:spPr>
          <a:xfrm>
            <a:off x="11686867" y="1235950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Flecha: hacia arriba 37">
            <a:extLst>
              <a:ext uri="{FF2B5EF4-FFF2-40B4-BE49-F238E27FC236}">
                <a16:creationId xmlns:a16="http://schemas.microsoft.com/office/drawing/2014/main" id="{512BF69E-3261-FECA-7170-253C724844F2}"/>
              </a:ext>
            </a:extLst>
          </p:cNvPr>
          <p:cNvSpPr/>
          <p:nvPr/>
        </p:nvSpPr>
        <p:spPr>
          <a:xfrm>
            <a:off x="10608178" y="2291894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lecha: hacia arriba 7">
            <a:extLst>
              <a:ext uri="{FF2B5EF4-FFF2-40B4-BE49-F238E27FC236}">
                <a16:creationId xmlns:a16="http://schemas.microsoft.com/office/drawing/2014/main" id="{EE0E641A-F5FB-37FB-8ADC-9FC4D9C6649D}"/>
              </a:ext>
            </a:extLst>
          </p:cNvPr>
          <p:cNvSpPr/>
          <p:nvPr/>
        </p:nvSpPr>
        <p:spPr>
          <a:xfrm>
            <a:off x="10394432" y="2755156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Flecha: hacia arriba 19">
            <a:extLst>
              <a:ext uri="{FF2B5EF4-FFF2-40B4-BE49-F238E27FC236}">
                <a16:creationId xmlns:a16="http://schemas.microsoft.com/office/drawing/2014/main" id="{8D1740B9-4A7F-A0E9-1CAE-4E286A3CF952}"/>
              </a:ext>
            </a:extLst>
          </p:cNvPr>
          <p:cNvSpPr/>
          <p:nvPr/>
        </p:nvSpPr>
        <p:spPr>
          <a:xfrm rot="10800000">
            <a:off x="9068963" y="5262443"/>
            <a:ext cx="356616" cy="25961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Flecha: hacia arriba 35">
            <a:extLst>
              <a:ext uri="{FF2B5EF4-FFF2-40B4-BE49-F238E27FC236}">
                <a16:creationId xmlns:a16="http://schemas.microsoft.com/office/drawing/2014/main" id="{1C26E450-27EF-C1C1-9AC3-21E8B81B80DC}"/>
              </a:ext>
            </a:extLst>
          </p:cNvPr>
          <p:cNvSpPr/>
          <p:nvPr/>
        </p:nvSpPr>
        <p:spPr>
          <a:xfrm>
            <a:off x="10996944" y="17691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Flecha: hacia arriba 38">
            <a:extLst>
              <a:ext uri="{FF2B5EF4-FFF2-40B4-BE49-F238E27FC236}">
                <a16:creationId xmlns:a16="http://schemas.microsoft.com/office/drawing/2014/main" id="{EDF29F2D-77D8-EDE8-7E84-8F80D9803699}"/>
              </a:ext>
            </a:extLst>
          </p:cNvPr>
          <p:cNvSpPr/>
          <p:nvPr/>
        </p:nvSpPr>
        <p:spPr>
          <a:xfrm>
            <a:off x="10113158" y="3169389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Flecha: hacia arriba 42">
            <a:extLst>
              <a:ext uri="{FF2B5EF4-FFF2-40B4-BE49-F238E27FC236}">
                <a16:creationId xmlns:a16="http://schemas.microsoft.com/office/drawing/2014/main" id="{47167E72-FBFA-3C1D-D338-ED1140D49132}"/>
              </a:ext>
            </a:extLst>
          </p:cNvPr>
          <p:cNvSpPr/>
          <p:nvPr/>
        </p:nvSpPr>
        <p:spPr>
          <a:xfrm>
            <a:off x="9799966" y="3749895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Flecha: hacia arriba 44">
            <a:extLst>
              <a:ext uri="{FF2B5EF4-FFF2-40B4-BE49-F238E27FC236}">
                <a16:creationId xmlns:a16="http://schemas.microsoft.com/office/drawing/2014/main" id="{AAA14260-E057-0A5D-F521-680103A8E0B6}"/>
              </a:ext>
            </a:extLst>
          </p:cNvPr>
          <p:cNvSpPr/>
          <p:nvPr/>
        </p:nvSpPr>
        <p:spPr>
          <a:xfrm>
            <a:off x="9486428" y="4270696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B3F2FE95-A317-7369-146D-BE1AB690EB44}"/>
              </a:ext>
            </a:extLst>
          </p:cNvPr>
          <p:cNvSpPr/>
          <p:nvPr/>
        </p:nvSpPr>
        <p:spPr>
          <a:xfrm>
            <a:off x="9129812" y="47246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8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DA57-0497-0C25-1B85-778BBC7E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13B98CD8-DFD9-CCBA-94C1-27C353B5F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06" y="4296728"/>
            <a:ext cx="8898730" cy="24307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7E0DCD-BBC6-1C05-3BA5-B563B308B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69" y="1007525"/>
            <a:ext cx="11246810" cy="3332657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F8E66EC-67C3-EE54-2569-BBB275DD25C4}"/>
              </a:ext>
            </a:extLst>
          </p:cNvPr>
          <p:cNvSpPr/>
          <p:nvPr/>
        </p:nvSpPr>
        <p:spPr>
          <a:xfrm>
            <a:off x="380396" y="5038836"/>
            <a:ext cx="938049" cy="4502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AE46206D-6220-ECF0-4E36-220BC5E71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97" y="143927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prioridad-Alertas Automáticas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F5373D-CD8A-0A73-FF37-AACAB4188439}"/>
              </a:ext>
            </a:extLst>
          </p:cNvPr>
          <p:cNvSpPr/>
          <p:nvPr/>
        </p:nvSpPr>
        <p:spPr>
          <a:xfrm>
            <a:off x="1859082" y="6058424"/>
            <a:ext cx="8743720" cy="300578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8705FA-8F88-4842-A387-03687B319C3F}"/>
              </a:ext>
            </a:extLst>
          </p:cNvPr>
          <p:cNvSpPr/>
          <p:nvPr/>
        </p:nvSpPr>
        <p:spPr>
          <a:xfrm>
            <a:off x="1810526" y="4847056"/>
            <a:ext cx="8792276" cy="917825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60C3746E-A105-A6EF-DC50-1593C3E4D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9" y="5125173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47522DFE-147E-28C6-8E9D-CA0F56F64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6" y="4606184"/>
            <a:ext cx="124702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r>
              <a:rPr lang="es-PE" altLang="es-PE" sz="1200" dirty="0"/>
              <a:t>%</a:t>
            </a:r>
            <a:r>
              <a:rPr lang="es-PE" altLang="es-PE" sz="1200" dirty="0" err="1"/>
              <a:t>Recall</a:t>
            </a:r>
            <a:endParaRPr lang="es-PE" altLang="es-PE" sz="1200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FC451A8A-4662-C5DE-E501-8E393C76427D}"/>
              </a:ext>
            </a:extLst>
          </p:cNvPr>
          <p:cNvSpPr/>
          <p:nvPr/>
        </p:nvSpPr>
        <p:spPr>
          <a:xfrm>
            <a:off x="1384516" y="5128178"/>
            <a:ext cx="410854" cy="31092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07B8D17-2332-B936-4261-9031BA340AA6}"/>
              </a:ext>
            </a:extLst>
          </p:cNvPr>
          <p:cNvSpPr/>
          <p:nvPr/>
        </p:nvSpPr>
        <p:spPr>
          <a:xfrm>
            <a:off x="1384516" y="6053328"/>
            <a:ext cx="410854" cy="3109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23">
            <a:extLst>
              <a:ext uri="{FF2B5EF4-FFF2-40B4-BE49-F238E27FC236}">
                <a16:creationId xmlns:a16="http://schemas.microsoft.com/office/drawing/2014/main" id="{2EAC2ED4-85C6-7638-39D4-723D6327AB58}"/>
              </a:ext>
            </a:extLst>
          </p:cNvPr>
          <p:cNvSpPr/>
          <p:nvPr/>
        </p:nvSpPr>
        <p:spPr>
          <a:xfrm>
            <a:off x="5106172" y="965120"/>
            <a:ext cx="1837944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dirty="0">
                <a:solidFill>
                  <a:srgbClr val="0038A6"/>
                </a:solidFill>
                <a:latin typeface="Poppins"/>
                <a:cs typeface="Arial"/>
              </a:rPr>
              <a:t>Corte 08-2025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06B0FA7B-BA9C-C859-F5CD-DD50F4D1D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15" y="5764882"/>
            <a:ext cx="1368455" cy="7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endParaRPr lang="es-PE" altLang="es-PE" sz="1200" dirty="0"/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225F3411-CAE1-7478-317C-23574A5C0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4" y="6191019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3E936FA-C608-9755-E6D8-7BC24454160F}"/>
              </a:ext>
            </a:extLst>
          </p:cNvPr>
          <p:cNvSpPr/>
          <p:nvPr/>
        </p:nvSpPr>
        <p:spPr>
          <a:xfrm>
            <a:off x="339469" y="5934456"/>
            <a:ext cx="938049" cy="45020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2D807FB6-405E-83C6-3B16-2625DC637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2" y="5985295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1%</a:t>
            </a:r>
          </a:p>
        </p:txBody>
      </p:sp>
    </p:spTree>
    <p:extLst>
      <p:ext uri="{BB962C8B-B14F-4D97-AF65-F5344CB8AC3E}">
        <p14:creationId xmlns:p14="http://schemas.microsoft.com/office/powerpoint/2010/main" val="62475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BE3B771F-4007-458C-649B-E64451ED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06" y="2014006"/>
            <a:ext cx="2833796" cy="4215273"/>
          </a:xfrm>
          <a:prstGeom prst="rect">
            <a:avLst/>
          </a:prstGeom>
        </p:spPr>
      </p:pic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0AC34DD-C796-8B55-D8D2-2986EBFCCED2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4845084" y="4121643"/>
            <a:ext cx="3118892" cy="652498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7">
            <a:extLst>
              <a:ext uri="{FF2B5EF4-FFF2-40B4-BE49-F238E27FC236}">
                <a16:creationId xmlns:a16="http://schemas.microsoft.com/office/drawing/2014/main" id="{B73275F1-97B2-4A1B-C677-9E3449ACA3EC}"/>
              </a:ext>
            </a:extLst>
          </p:cNvPr>
          <p:cNvSpPr/>
          <p:nvPr/>
        </p:nvSpPr>
        <p:spPr>
          <a:xfrm>
            <a:off x="289687" y="699500"/>
            <a:ext cx="5760000" cy="5898524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6" name="Rectángulo redondeado 7">
            <a:extLst>
              <a:ext uri="{FF2B5EF4-FFF2-40B4-BE49-F238E27FC236}">
                <a16:creationId xmlns:a16="http://schemas.microsoft.com/office/drawing/2014/main" id="{2CB775A5-DA53-EF6F-D66F-C1E0E64B88D7}"/>
              </a:ext>
            </a:extLst>
          </p:cNvPr>
          <p:cNvSpPr/>
          <p:nvPr/>
        </p:nvSpPr>
        <p:spPr>
          <a:xfrm>
            <a:off x="6160294" y="718882"/>
            <a:ext cx="5760000" cy="5879142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1693916-947A-B098-2697-F6E2363C2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05" y="13662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471F5121-C45B-DEA3-F30B-04CDE83FD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28" y="1337847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401 Cliente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con alertas automáticas</a:t>
            </a:r>
          </a:p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18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 En Febrero - 26</a:t>
            </a: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FA16BC4A-25AD-B76C-7293-71DF1DD64860}"/>
              </a:ext>
            </a:extLst>
          </p:cNvPr>
          <p:cNvSpPr/>
          <p:nvPr/>
        </p:nvSpPr>
        <p:spPr>
          <a:xfrm>
            <a:off x="7623914" y="4020504"/>
            <a:ext cx="1572328" cy="13274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90E49F5-FF47-2ACE-F14F-5662D25E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61" t="5270" b="8177"/>
          <a:stretch>
            <a:fillRect/>
          </a:stretch>
        </p:blipFill>
        <p:spPr>
          <a:xfrm>
            <a:off x="7988605" y="3998554"/>
            <a:ext cx="974550" cy="643595"/>
          </a:xfrm>
          <a:prstGeom prst="rect">
            <a:avLst/>
          </a:prstGeom>
        </p:spPr>
      </p:pic>
      <p:pic>
        <p:nvPicPr>
          <p:cNvPr id="22" name="Picture 6" descr="Iconos Verdes de Inteligencia artificial - Descarga SVG, PNG, GIF Gratis">
            <a:extLst>
              <a:ext uri="{FF2B5EF4-FFF2-40B4-BE49-F238E27FC236}">
                <a16:creationId xmlns:a16="http://schemas.microsoft.com/office/drawing/2014/main" id="{2FB08F42-92C1-60C5-F836-F68479B68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369" y="3606485"/>
            <a:ext cx="392070" cy="3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13F79D8-FB5D-A884-50E1-BCFF258E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" t="44059" r="-505" b="30543"/>
          <a:stretch>
            <a:fillRect/>
          </a:stretch>
        </p:blipFill>
        <p:spPr>
          <a:xfrm>
            <a:off x="7632303" y="4684217"/>
            <a:ext cx="1572904" cy="337552"/>
          </a:xfrm>
          <a:prstGeom prst="rect">
            <a:avLst/>
          </a:prstGeom>
        </p:spPr>
      </p:pic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DDF55-0258-4C02-4496-DD33E2463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77" y="3076178"/>
            <a:ext cx="3360658" cy="8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Oportunidad de nueva base potencial con riesgo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93176618-40D7-AD21-5858-C8E1FD339E53}"/>
              </a:ext>
            </a:extLst>
          </p:cNvPr>
          <p:cNvSpPr/>
          <p:nvPr/>
        </p:nvSpPr>
        <p:spPr>
          <a:xfrm rot="5400000">
            <a:off x="8931480" y="3982220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765A62C1-F748-AEE8-D90D-7FA764DD0B10}"/>
              </a:ext>
            </a:extLst>
          </p:cNvPr>
          <p:cNvSpPr/>
          <p:nvPr/>
        </p:nvSpPr>
        <p:spPr>
          <a:xfrm rot="5400000">
            <a:off x="9092848" y="4343583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4E3681DF-41C1-BF08-0CAC-9439AF432AFC}"/>
              </a:ext>
            </a:extLst>
          </p:cNvPr>
          <p:cNvSpPr txBox="1"/>
          <p:nvPr/>
        </p:nvSpPr>
        <p:spPr>
          <a:xfrm>
            <a:off x="8945803" y="4360026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312</a:t>
            </a:r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A75501D5-EABC-FC28-013C-B8BF8C85ED92}"/>
              </a:ext>
            </a:extLst>
          </p:cNvPr>
          <p:cNvSpPr/>
          <p:nvPr/>
        </p:nvSpPr>
        <p:spPr>
          <a:xfrm rot="5400000">
            <a:off x="9257116" y="4658798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610BE978-A79B-9870-7051-8C5A8589708B}"/>
              </a:ext>
            </a:extLst>
          </p:cNvPr>
          <p:cNvSpPr txBox="1"/>
          <p:nvPr/>
        </p:nvSpPr>
        <p:spPr>
          <a:xfrm>
            <a:off x="9110071" y="4675241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993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D0A043-9088-6167-C231-7E715EFBA8F3}"/>
              </a:ext>
            </a:extLst>
          </p:cNvPr>
          <p:cNvSpPr txBox="1"/>
          <p:nvPr/>
        </p:nvSpPr>
        <p:spPr>
          <a:xfrm>
            <a:off x="6962115" y="1366729"/>
            <a:ext cx="446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5M </a:t>
            </a:r>
            <a:r>
              <a:rPr lang="es-PE" altLang="es-PE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Clientes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totales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55692AA8-8161-5634-7F04-5FF7F35B4E8C}"/>
              </a:ext>
            </a:extLst>
          </p:cNvPr>
          <p:cNvSpPr/>
          <p:nvPr/>
        </p:nvSpPr>
        <p:spPr>
          <a:xfrm rot="5400000">
            <a:off x="9481725" y="4992082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0A8F51C3-8237-BF86-1DC8-1F2080D2D9D2}"/>
              </a:ext>
            </a:extLst>
          </p:cNvPr>
          <p:cNvSpPr txBox="1"/>
          <p:nvPr/>
        </p:nvSpPr>
        <p:spPr>
          <a:xfrm>
            <a:off x="9334680" y="5008525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+5 </a:t>
            </a: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M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F3C4B968-EDB9-C877-202B-E37E582DBDC9}"/>
              </a:ext>
            </a:extLst>
          </p:cNvPr>
          <p:cNvSpPr txBox="1"/>
          <p:nvPr/>
        </p:nvSpPr>
        <p:spPr>
          <a:xfrm>
            <a:off x="10202488" y="4667384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(corte por score</a:t>
            </a:r>
            <a:r>
              <a:rPr lang="es-ES" sz="9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E6C0AF9F-29DE-6E7B-4285-1261D6B95DC7}"/>
              </a:ext>
            </a:extLst>
          </p:cNvPr>
          <p:cNvSpPr/>
          <p:nvPr/>
        </p:nvSpPr>
        <p:spPr>
          <a:xfrm rot="3359464">
            <a:off x="4435521" y="4668576"/>
            <a:ext cx="421973" cy="47910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6CB50C23-D1FC-3ABB-869B-9FFEEE8140C4}"/>
              </a:ext>
            </a:extLst>
          </p:cNvPr>
          <p:cNvSpPr/>
          <p:nvPr/>
        </p:nvSpPr>
        <p:spPr>
          <a:xfrm>
            <a:off x="8166595" y="4042828"/>
            <a:ext cx="498448" cy="442201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redondeado 29">
            <a:extLst>
              <a:ext uri="{FF2B5EF4-FFF2-40B4-BE49-F238E27FC236}">
                <a16:creationId xmlns:a16="http://schemas.microsoft.com/office/drawing/2014/main" id="{BB82FBDE-A8AC-D7C2-A84C-9CB01CFA6588}"/>
              </a:ext>
            </a:extLst>
          </p:cNvPr>
          <p:cNvSpPr/>
          <p:nvPr/>
        </p:nvSpPr>
        <p:spPr>
          <a:xfrm>
            <a:off x="289687" y="689738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lertas Generadas por el Sistema de Monitoreo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41ACFD8-9066-DFC0-1786-F503E9314308}"/>
              </a:ext>
            </a:extLst>
          </p:cNvPr>
          <p:cNvSpPr/>
          <p:nvPr/>
        </p:nvSpPr>
        <p:spPr>
          <a:xfrm>
            <a:off x="1343475" y="4486889"/>
            <a:ext cx="2919128" cy="1218967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59C1233-2613-428E-0354-507DA2DF075C}"/>
              </a:ext>
            </a:extLst>
          </p:cNvPr>
          <p:cNvSpPr txBox="1"/>
          <p:nvPr/>
        </p:nvSpPr>
        <p:spPr>
          <a:xfrm>
            <a:off x="9892871" y="4341957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algn="ctr">
              <a:lnSpc>
                <a:spcPts val="3000"/>
              </a:lnSpc>
              <a:spcBef>
                <a:spcPts val="1090"/>
              </a:spcBef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(P1 riesgo)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09C0DAE-419B-CB25-AB15-F1672DD9E54B}"/>
              </a:ext>
            </a:extLst>
          </p:cNvPr>
          <p:cNvSpPr txBox="1"/>
          <p:nvPr/>
        </p:nvSpPr>
        <p:spPr>
          <a:xfrm>
            <a:off x="8805501" y="3994831"/>
            <a:ext cx="1664976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>
                <a:solidFill>
                  <a:srgbClr val="005F1E"/>
                </a:solidFill>
                <a:latin typeface="Poppins"/>
                <a:cs typeface="Poppins"/>
              </a:rPr>
              <a:t>84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34D4A28-BE05-5794-6010-EC267CB8C2B5}"/>
              </a:ext>
            </a:extLst>
          </p:cNvPr>
          <p:cNvSpPr txBox="1"/>
          <p:nvPr/>
        </p:nvSpPr>
        <p:spPr>
          <a:xfrm>
            <a:off x="9758645" y="3979210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fontAlgn="auto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</a:t>
            </a:r>
            <a:r>
              <a:rPr lang="es-PE" sz="1200" dirty="0" err="1">
                <a:solidFill>
                  <a:srgbClr val="005F1E"/>
                </a:solidFill>
                <a:latin typeface="Poppins"/>
                <a:cs typeface="Poppins"/>
              </a:rPr>
              <a:t>Thresholds</a:t>
            </a:r>
            <a:r>
              <a:rPr lang="es-PE" sz="1200" dirty="0">
                <a:solidFill>
                  <a:srgbClr val="005F1E"/>
                </a:solidFill>
                <a:latin typeface="Poppins"/>
                <a:cs typeface="Poppins"/>
              </a:rPr>
              <a:t> óptimo</a:t>
            </a: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</a:p>
        </p:txBody>
      </p:sp>
      <p:sp>
        <p:nvSpPr>
          <p:cNvPr id="5" name="Rectángulo redondeado 29">
            <a:extLst>
              <a:ext uri="{FF2B5EF4-FFF2-40B4-BE49-F238E27FC236}">
                <a16:creationId xmlns:a16="http://schemas.microsoft.com/office/drawing/2014/main" id="{D10F5E71-3838-65CA-3C99-6F9C97160538}"/>
              </a:ext>
            </a:extLst>
          </p:cNvPr>
          <p:cNvSpPr/>
          <p:nvPr/>
        </p:nvSpPr>
        <p:spPr>
          <a:xfrm>
            <a:off x="6160294" y="689737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s-PE" sz="1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Clientes sin alertas</a:t>
            </a:r>
            <a:endParaRPr kumimoji="0" lang="es-P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EDEE6D-D17F-076F-B681-BC9DD8C3B494}"/>
              </a:ext>
            </a:extLst>
          </p:cNvPr>
          <p:cNvSpPr txBox="1"/>
          <p:nvPr/>
        </p:nvSpPr>
        <p:spPr>
          <a:xfrm>
            <a:off x="8302029" y="60468"/>
            <a:ext cx="382223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altLang="es-PE">
                <a:solidFill>
                  <a:srgbClr val="005F1E"/>
                </a:solidFill>
                <a:latin typeface="Poppins SemiBold"/>
                <a:cs typeface="Poppins SemiBold"/>
              </a:rPr>
              <a:t>Masivo</a:t>
            </a:r>
            <a:endParaRPr lang="es-PE" altLang="es-PE" sz="18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7135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41" grpId="0"/>
      <p:bldP spid="45" grpId="0" animBg="1"/>
      <p:bldP spid="15" grpId="0" animBg="1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D388-FE72-7F65-C1E2-0C4B7276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33D3B-C2CF-BE4F-33B4-C7872A66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06706"/>
            <a:ext cx="10479741" cy="19050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bg1"/>
                </a:solidFill>
              </a:rPr>
              <a:t>Modelo predictivo PLAFT </a:t>
            </a:r>
            <a:br>
              <a:rPr lang="es-MX" dirty="0"/>
            </a:b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6D4B9C-1D7A-9DB2-D6DF-F705529692CE}"/>
              </a:ext>
            </a:extLst>
          </p:cNvPr>
          <p:cNvSpPr txBox="1"/>
          <p:nvPr/>
        </p:nvSpPr>
        <p:spPr>
          <a:xfrm>
            <a:off x="1102659" y="3136612"/>
            <a:ext cx="9565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 PN Consumo Inicial</a:t>
            </a:r>
            <a:endParaRPr lang="es-PE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50BDCB-5209-1CE3-C480-8736BA41C9A0}"/>
              </a:ext>
            </a:extLst>
          </p:cNvPr>
          <p:cNvSpPr txBox="1"/>
          <p:nvPr/>
        </p:nvSpPr>
        <p:spPr>
          <a:xfrm>
            <a:off x="-89114" y="48723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Junio 2026</a:t>
            </a:r>
            <a:endParaRPr lang="es-PE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3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8E7F-2532-D0ED-E50B-443AB302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Rectángulo">
            <a:extLst>
              <a:ext uri="{FF2B5EF4-FFF2-40B4-BE49-F238E27FC236}">
                <a16:creationId xmlns:a16="http://schemas.microsoft.com/office/drawing/2014/main" id="{27F3C5F5-C6F2-11E5-91F3-2A424574D070}"/>
              </a:ext>
            </a:extLst>
          </p:cNvPr>
          <p:cNvSpPr/>
          <p:nvPr/>
        </p:nvSpPr>
        <p:spPr>
          <a:xfrm>
            <a:off x="4268656" y="1001855"/>
            <a:ext cx="4121116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Resultados</a:t>
            </a:r>
          </a:p>
        </p:txBody>
      </p:sp>
      <p:sp>
        <p:nvSpPr>
          <p:cNvPr id="3" name="10 Rectángulo">
            <a:extLst>
              <a:ext uri="{FF2B5EF4-FFF2-40B4-BE49-F238E27FC236}">
                <a16:creationId xmlns:a16="http://schemas.microsoft.com/office/drawing/2014/main" id="{33C45F3D-733C-142A-63C5-B6E604E78607}"/>
              </a:ext>
            </a:extLst>
          </p:cNvPr>
          <p:cNvSpPr/>
          <p:nvPr/>
        </p:nvSpPr>
        <p:spPr>
          <a:xfrm>
            <a:off x="4279861" y="1540968"/>
            <a:ext cx="4121116" cy="457279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 anchorCtr="0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4" name="8 Rectángulo">
            <a:extLst>
              <a:ext uri="{FF2B5EF4-FFF2-40B4-BE49-F238E27FC236}">
                <a16:creationId xmlns:a16="http://schemas.microsoft.com/office/drawing/2014/main" id="{729C87CA-9CF5-70D0-B966-69CCBE0B5AB0}"/>
              </a:ext>
            </a:extLst>
          </p:cNvPr>
          <p:cNvSpPr/>
          <p:nvPr/>
        </p:nvSpPr>
        <p:spPr>
          <a:xfrm>
            <a:off x="8501499" y="990120"/>
            <a:ext cx="3602480" cy="504000"/>
          </a:xfrm>
          <a:prstGeom prst="rect">
            <a:avLst/>
          </a:prstGeom>
          <a:solidFill>
            <a:srgbClr val="00D03C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65" tIns="34289" rIns="68465" bIns="34289" rtlCol="0" anchor="ctr"/>
          <a:lstStyle/>
          <a:p>
            <a:pPr marL="0" marR="0" lvl="0" indent="0" algn="ctr" defTabSz="6844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Limitaciones</a:t>
            </a:r>
          </a:p>
        </p:txBody>
      </p:sp>
      <p:sp>
        <p:nvSpPr>
          <p:cNvPr id="8" name="Rectángulo 1041">
            <a:extLst>
              <a:ext uri="{FF2B5EF4-FFF2-40B4-BE49-F238E27FC236}">
                <a16:creationId xmlns:a16="http://schemas.microsoft.com/office/drawing/2014/main" id="{FC462EEF-01DA-61EE-8761-ECAA861F382F}"/>
              </a:ext>
            </a:extLst>
          </p:cNvPr>
          <p:cNvSpPr/>
          <p:nvPr/>
        </p:nvSpPr>
        <p:spPr>
          <a:xfrm>
            <a:off x="4998041" y="2048025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Entrenamiento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" name="Rectángulo: una sola esquina redondeada 1042">
            <a:extLst>
              <a:ext uri="{FF2B5EF4-FFF2-40B4-BE49-F238E27FC236}">
                <a16:creationId xmlns:a16="http://schemas.microsoft.com/office/drawing/2014/main" id="{214F19BB-395B-595D-54A0-91C47B4C769A}"/>
              </a:ext>
            </a:extLst>
          </p:cNvPr>
          <p:cNvSpPr/>
          <p:nvPr/>
        </p:nvSpPr>
        <p:spPr>
          <a:xfrm>
            <a:off x="4966892" y="2050619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Elipse 1043">
            <a:extLst>
              <a:ext uri="{FF2B5EF4-FFF2-40B4-BE49-F238E27FC236}">
                <a16:creationId xmlns:a16="http://schemas.microsoft.com/office/drawing/2014/main" id="{9B025DCE-A7F7-758C-0744-C6319BB6B7D6}"/>
              </a:ext>
            </a:extLst>
          </p:cNvPr>
          <p:cNvSpPr/>
          <p:nvPr/>
        </p:nvSpPr>
        <p:spPr>
          <a:xfrm>
            <a:off x="6577646" y="2096414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Conector recto 1045">
            <a:extLst>
              <a:ext uri="{FF2B5EF4-FFF2-40B4-BE49-F238E27FC236}">
                <a16:creationId xmlns:a16="http://schemas.microsoft.com/office/drawing/2014/main" id="{CD3E3C4B-CAF2-5BBD-D22C-44C0A6AC135B}"/>
              </a:ext>
            </a:extLst>
          </p:cNvPr>
          <p:cNvCxnSpPr>
            <a:cxnSpLocks/>
          </p:cNvCxnSpPr>
          <p:nvPr/>
        </p:nvCxnSpPr>
        <p:spPr>
          <a:xfrm flipV="1">
            <a:off x="6723941" y="2166796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Freeform 29">
            <a:extLst>
              <a:ext uri="{FF2B5EF4-FFF2-40B4-BE49-F238E27FC236}">
                <a16:creationId xmlns:a16="http://schemas.microsoft.com/office/drawing/2014/main" id="{4E221D8C-8465-676A-1CC0-B707EC034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008" y="1562307"/>
            <a:ext cx="718513" cy="89715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uadroTexto 1063">
            <a:extLst>
              <a:ext uri="{FF2B5EF4-FFF2-40B4-BE49-F238E27FC236}">
                <a16:creationId xmlns:a16="http://schemas.microsoft.com/office/drawing/2014/main" id="{FF5FFB00-D942-E93B-6231-C6FE2EB14365}"/>
              </a:ext>
            </a:extLst>
          </p:cNvPr>
          <p:cNvSpPr txBox="1"/>
          <p:nvPr/>
        </p:nvSpPr>
        <p:spPr>
          <a:xfrm>
            <a:off x="6919246" y="1984074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4</a:t>
            </a:r>
            <a:r>
              <a:rPr lang="es-ES" sz="2000" b="1" dirty="0">
                <a:solidFill>
                  <a:srgbClr val="08BD4F"/>
                </a:solidFill>
                <a:latin typeface="Geometria Medium"/>
                <a:ea typeface="Geometria" panose="020B0503020204020204" pitchFamily="34" charset="0"/>
              </a:rPr>
              <a:t>8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7" name="Rectángulo 1065">
            <a:extLst>
              <a:ext uri="{FF2B5EF4-FFF2-40B4-BE49-F238E27FC236}">
                <a16:creationId xmlns:a16="http://schemas.microsoft.com/office/drawing/2014/main" id="{837C4370-2D4A-C023-410B-456AD445DA37}"/>
              </a:ext>
            </a:extLst>
          </p:cNvPr>
          <p:cNvSpPr/>
          <p:nvPr/>
        </p:nvSpPr>
        <p:spPr>
          <a:xfrm>
            <a:off x="4998041" y="2871927"/>
            <a:ext cx="1523241" cy="40011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Backtest</a:t>
            </a:r>
            <a:b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</a:b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+mn-cs"/>
              </a:rPr>
              <a:t>(3 meses OOT)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38" name="Rectángulo: una sola esquina redondeada 1066">
            <a:extLst>
              <a:ext uri="{FF2B5EF4-FFF2-40B4-BE49-F238E27FC236}">
                <a16:creationId xmlns:a16="http://schemas.microsoft.com/office/drawing/2014/main" id="{3FA75C27-04CF-1BD1-80B4-C6C7C7BBF925}"/>
              </a:ext>
            </a:extLst>
          </p:cNvPr>
          <p:cNvSpPr/>
          <p:nvPr/>
        </p:nvSpPr>
        <p:spPr>
          <a:xfrm>
            <a:off x="4966892" y="2874521"/>
            <a:ext cx="45719" cy="396000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Elipse 1067">
            <a:extLst>
              <a:ext uri="{FF2B5EF4-FFF2-40B4-BE49-F238E27FC236}">
                <a16:creationId xmlns:a16="http://schemas.microsoft.com/office/drawing/2014/main" id="{A9951F3C-504C-E48C-F246-EA7CC6A29A3B}"/>
              </a:ext>
            </a:extLst>
          </p:cNvPr>
          <p:cNvSpPr/>
          <p:nvPr/>
        </p:nvSpPr>
        <p:spPr>
          <a:xfrm>
            <a:off x="6569309" y="2993526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Conector recto 1068">
            <a:extLst>
              <a:ext uri="{FF2B5EF4-FFF2-40B4-BE49-F238E27FC236}">
                <a16:creationId xmlns:a16="http://schemas.microsoft.com/office/drawing/2014/main" id="{B1917339-8DAA-34E7-ECA0-80980D6AF0C3}"/>
              </a:ext>
            </a:extLst>
          </p:cNvPr>
          <p:cNvCxnSpPr>
            <a:cxnSpLocks/>
          </p:cNvCxnSpPr>
          <p:nvPr/>
        </p:nvCxnSpPr>
        <p:spPr>
          <a:xfrm flipV="1">
            <a:off x="6715604" y="3063383"/>
            <a:ext cx="234933" cy="2457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Freeform 29">
            <a:extLst>
              <a:ext uri="{FF2B5EF4-FFF2-40B4-BE49-F238E27FC236}">
                <a16:creationId xmlns:a16="http://schemas.microsoft.com/office/drawing/2014/main" id="{7A6A35FC-835E-1127-CE15-58F3CE7B9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42" y="2568283"/>
            <a:ext cx="389242" cy="411403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>
            <a:defPPr>
              <a:defRPr lang="ru-RU"/>
            </a:defPPr>
            <a:lvl1pPr marL="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0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017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526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034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543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051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0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069" algn="l" defTabSz="121901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uadroTexto 1081">
            <a:extLst>
              <a:ext uri="{FF2B5EF4-FFF2-40B4-BE49-F238E27FC236}">
                <a16:creationId xmlns:a16="http://schemas.microsoft.com/office/drawing/2014/main" id="{3D996BD6-59E9-8DF8-F7BB-CB6B87A41979}"/>
              </a:ext>
            </a:extLst>
          </p:cNvPr>
          <p:cNvSpPr txBox="1"/>
          <p:nvPr/>
        </p:nvSpPr>
        <p:spPr>
          <a:xfrm>
            <a:off x="6920447" y="2893681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45%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43" name="Rectángulo 1082">
            <a:extLst>
              <a:ext uri="{FF2B5EF4-FFF2-40B4-BE49-F238E27FC236}">
                <a16:creationId xmlns:a16="http://schemas.microsoft.com/office/drawing/2014/main" id="{59523327-9358-6652-7BF7-A4E0A9C76CDC}"/>
              </a:ext>
            </a:extLst>
          </p:cNvPr>
          <p:cNvSpPr/>
          <p:nvPr/>
        </p:nvSpPr>
        <p:spPr>
          <a:xfrm>
            <a:off x="4916066" y="3411368"/>
            <a:ext cx="286403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 w="0"/>
                <a:solidFill>
                  <a:srgbClr val="196B2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Calidad</a:t>
            </a:r>
            <a:r>
              <a:rPr kumimoji="0" lang="es-ES" sz="2400" b="0" i="0" u="none" strike="noStrike" kern="1200" cap="none" spc="0" normalizeH="0" baseline="0" noProof="0" dirty="0">
                <a:ln w="0"/>
                <a:solidFill>
                  <a:srgbClr val="08BD4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Poppins"/>
                <a:ea typeface="+mn-ea"/>
                <a:cs typeface="Poppins"/>
              </a:rPr>
              <a:t> Satisfactorio</a:t>
            </a:r>
          </a:p>
        </p:txBody>
      </p:sp>
      <p:sp>
        <p:nvSpPr>
          <p:cNvPr id="56" name="Rectángulo 1130">
            <a:extLst>
              <a:ext uri="{FF2B5EF4-FFF2-40B4-BE49-F238E27FC236}">
                <a16:creationId xmlns:a16="http://schemas.microsoft.com/office/drawing/2014/main" id="{5F95E512-D45D-985C-9EF9-387474E39F9F}"/>
              </a:ext>
            </a:extLst>
          </p:cNvPr>
          <p:cNvSpPr/>
          <p:nvPr/>
        </p:nvSpPr>
        <p:spPr>
          <a:xfrm>
            <a:off x="4476726" y="4309797"/>
            <a:ext cx="299312" cy="154566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Fuentes</a:t>
            </a: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57" name="Rectángulo: una sola esquina redondeada 1131">
            <a:extLst>
              <a:ext uri="{FF2B5EF4-FFF2-40B4-BE49-F238E27FC236}">
                <a16:creationId xmlns:a16="http://schemas.microsoft.com/office/drawing/2014/main" id="{DC24BB2F-058F-0567-6CBF-8783CA0E7D82}"/>
              </a:ext>
            </a:extLst>
          </p:cNvPr>
          <p:cNvSpPr/>
          <p:nvPr/>
        </p:nvSpPr>
        <p:spPr>
          <a:xfrm>
            <a:off x="4443036" y="4334797"/>
            <a:ext cx="45719" cy="153884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ángulo 1132">
            <a:extLst>
              <a:ext uri="{FF2B5EF4-FFF2-40B4-BE49-F238E27FC236}">
                <a16:creationId xmlns:a16="http://schemas.microsoft.com/office/drawing/2014/main" id="{EC702584-0C64-5D45-59F5-3536211A8DFD}"/>
              </a:ext>
            </a:extLst>
          </p:cNvPr>
          <p:cNvSpPr/>
          <p:nvPr/>
        </p:nvSpPr>
        <p:spPr>
          <a:xfrm>
            <a:off x="4393427" y="3981703"/>
            <a:ext cx="3886542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ángulo 2">
            <a:extLst>
              <a:ext uri="{FF2B5EF4-FFF2-40B4-BE49-F238E27FC236}">
                <a16:creationId xmlns:a16="http://schemas.microsoft.com/office/drawing/2014/main" id="{BD9B7B61-249E-7FAC-B184-B22FA263D6D5}"/>
              </a:ext>
            </a:extLst>
          </p:cNvPr>
          <p:cNvSpPr/>
          <p:nvPr/>
        </p:nvSpPr>
        <p:spPr>
          <a:xfrm>
            <a:off x="351642" y="4940089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ángulo: una sola esquina redondeada 3">
            <a:extLst>
              <a:ext uri="{FF2B5EF4-FFF2-40B4-BE49-F238E27FC236}">
                <a16:creationId xmlns:a16="http://schemas.microsoft.com/office/drawing/2014/main" id="{7BA1FCEF-2B51-B414-C761-B9E1ABA555C8}"/>
              </a:ext>
            </a:extLst>
          </p:cNvPr>
          <p:cNvSpPr/>
          <p:nvPr/>
        </p:nvSpPr>
        <p:spPr>
          <a:xfrm>
            <a:off x="293262" y="4944830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ángulo 9">
            <a:extLst>
              <a:ext uri="{FF2B5EF4-FFF2-40B4-BE49-F238E27FC236}">
                <a16:creationId xmlns:a16="http://schemas.microsoft.com/office/drawing/2014/main" id="{D7F7EE1D-51E7-42A8-3F67-E23232EB9114}"/>
              </a:ext>
            </a:extLst>
          </p:cNvPr>
          <p:cNvSpPr/>
          <p:nvPr/>
        </p:nvSpPr>
        <p:spPr>
          <a:xfrm>
            <a:off x="352473" y="382620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ángulo: una sola esquina redondeada 14">
            <a:extLst>
              <a:ext uri="{FF2B5EF4-FFF2-40B4-BE49-F238E27FC236}">
                <a16:creationId xmlns:a16="http://schemas.microsoft.com/office/drawing/2014/main" id="{5B18FE8B-23ED-C4B3-13A0-3D5DED394DD6}"/>
              </a:ext>
            </a:extLst>
          </p:cNvPr>
          <p:cNvSpPr/>
          <p:nvPr/>
        </p:nvSpPr>
        <p:spPr>
          <a:xfrm>
            <a:off x="294093" y="383094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ángulo 15">
            <a:extLst>
              <a:ext uri="{FF2B5EF4-FFF2-40B4-BE49-F238E27FC236}">
                <a16:creationId xmlns:a16="http://schemas.microsoft.com/office/drawing/2014/main" id="{487793D4-24DA-6B52-3D31-6B13FD4D6C68}"/>
              </a:ext>
            </a:extLst>
          </p:cNvPr>
          <p:cNvSpPr/>
          <p:nvPr/>
        </p:nvSpPr>
        <p:spPr>
          <a:xfrm>
            <a:off x="352473" y="2692022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ángulo: una sola esquina redondeada 16">
            <a:extLst>
              <a:ext uri="{FF2B5EF4-FFF2-40B4-BE49-F238E27FC236}">
                <a16:creationId xmlns:a16="http://schemas.microsoft.com/office/drawing/2014/main" id="{A948FABF-885B-FF4A-1BCA-7AF129371A9D}"/>
              </a:ext>
            </a:extLst>
          </p:cNvPr>
          <p:cNvSpPr/>
          <p:nvPr/>
        </p:nvSpPr>
        <p:spPr>
          <a:xfrm>
            <a:off x="294093" y="2696763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ángulo 17">
            <a:extLst>
              <a:ext uri="{FF2B5EF4-FFF2-40B4-BE49-F238E27FC236}">
                <a16:creationId xmlns:a16="http://schemas.microsoft.com/office/drawing/2014/main" id="{2935EA1A-D97F-F7D9-0EE7-89123C860A00}"/>
              </a:ext>
            </a:extLst>
          </p:cNvPr>
          <p:cNvSpPr/>
          <p:nvPr/>
        </p:nvSpPr>
        <p:spPr>
          <a:xfrm>
            <a:off x="361167" y="1576816"/>
            <a:ext cx="3607787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9 Rectángulo">
            <a:extLst>
              <a:ext uri="{FF2B5EF4-FFF2-40B4-BE49-F238E27FC236}">
                <a16:creationId xmlns:a16="http://schemas.microsoft.com/office/drawing/2014/main" id="{55A3170F-3409-B37C-1446-896451447C18}"/>
              </a:ext>
            </a:extLst>
          </p:cNvPr>
          <p:cNvSpPr/>
          <p:nvPr/>
        </p:nvSpPr>
        <p:spPr>
          <a:xfrm>
            <a:off x="111184" y="1001855"/>
            <a:ext cx="3935913" cy="504000"/>
          </a:xfrm>
          <a:prstGeom prst="rect">
            <a:avLst/>
          </a:prstGeom>
          <a:solidFill>
            <a:srgbClr val="00D03C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68465" tIns="34289" rIns="68465" bIns="34289" rtlCol="0" anchor="ctr"/>
          <a:lstStyle/>
          <a:p>
            <a:pPr marL="0" marR="0" lvl="0" indent="0" algn="ctr" defTabSz="684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Ficha técnica</a:t>
            </a:r>
          </a:p>
        </p:txBody>
      </p:sp>
      <p:sp>
        <p:nvSpPr>
          <p:cNvPr id="67" name="11 Rectángulo">
            <a:extLst>
              <a:ext uri="{FF2B5EF4-FFF2-40B4-BE49-F238E27FC236}">
                <a16:creationId xmlns:a16="http://schemas.microsoft.com/office/drawing/2014/main" id="{FCF0DE57-2392-F86A-F620-CE98924F9E4C}"/>
              </a:ext>
            </a:extLst>
          </p:cNvPr>
          <p:cNvSpPr/>
          <p:nvPr/>
        </p:nvSpPr>
        <p:spPr>
          <a:xfrm>
            <a:off x="111184" y="1505853"/>
            <a:ext cx="3935913" cy="4561403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lIns="72000" tIns="0" rIns="72000" bIns="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CuadroTexto 21">
            <a:extLst>
              <a:ext uri="{FF2B5EF4-FFF2-40B4-BE49-F238E27FC236}">
                <a16:creationId xmlns:a16="http://schemas.microsoft.com/office/drawing/2014/main" id="{C0E27351-52E5-3AAF-9EED-3DD87DEFE606}"/>
              </a:ext>
            </a:extLst>
          </p:cNvPr>
          <p:cNvSpPr txBox="1"/>
          <p:nvPr/>
        </p:nvSpPr>
        <p:spPr>
          <a:xfrm>
            <a:off x="171671" y="2336915"/>
            <a:ext cx="1224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Población</a:t>
            </a:r>
          </a:p>
        </p:txBody>
      </p:sp>
      <p:sp>
        <p:nvSpPr>
          <p:cNvPr id="69" name="Rectángulo 22">
            <a:extLst>
              <a:ext uri="{FF2B5EF4-FFF2-40B4-BE49-F238E27FC236}">
                <a16:creationId xmlns:a16="http://schemas.microsoft.com/office/drawing/2014/main" id="{5CFD0210-A84F-11F9-532F-D75464FD173D}"/>
              </a:ext>
            </a:extLst>
          </p:cNvPr>
          <p:cNvSpPr/>
          <p:nvPr/>
        </p:nvSpPr>
        <p:spPr>
          <a:xfrm>
            <a:off x="1361640" y="1755548"/>
            <a:ext cx="20866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0" name="Rectángulo 23">
            <a:extLst>
              <a:ext uri="{FF2B5EF4-FFF2-40B4-BE49-F238E27FC236}">
                <a16:creationId xmlns:a16="http://schemas.microsoft.com/office/drawing/2014/main" id="{80FC0BB8-C918-4F0C-270E-54EF761BC212}"/>
              </a:ext>
            </a:extLst>
          </p:cNvPr>
          <p:cNvSpPr/>
          <p:nvPr/>
        </p:nvSpPr>
        <p:spPr>
          <a:xfrm>
            <a:off x="1230287" y="1838301"/>
            <a:ext cx="263405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Persona Natural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38A6"/>
                </a:solidFill>
                <a:latin typeface="Poppins"/>
                <a:cs typeface="Arial"/>
              </a:rPr>
              <a:t>Masivo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1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B9460B29-841F-BAC2-859D-5C8F8D885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508779" y="5105500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CuadroTexto 26">
            <a:extLst>
              <a:ext uri="{FF2B5EF4-FFF2-40B4-BE49-F238E27FC236}">
                <a16:creationId xmlns:a16="http://schemas.microsoft.com/office/drawing/2014/main" id="{4008FD77-F712-1205-2837-593A72674321}"/>
              </a:ext>
            </a:extLst>
          </p:cNvPr>
          <p:cNvSpPr txBox="1"/>
          <p:nvPr/>
        </p:nvSpPr>
        <p:spPr>
          <a:xfrm>
            <a:off x="216668" y="3306770"/>
            <a:ext cx="11160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Variable Objetivo</a:t>
            </a:r>
          </a:p>
        </p:txBody>
      </p:sp>
      <p:pic>
        <p:nvPicPr>
          <p:cNvPr id="73" name="Gráfico 111" descr="Diana con relleno sólido">
            <a:extLst>
              <a:ext uri="{FF2B5EF4-FFF2-40B4-BE49-F238E27FC236}">
                <a16:creationId xmlns:a16="http://schemas.microsoft.com/office/drawing/2014/main" id="{E77E9F7E-828D-D640-381D-FECF672CD88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769" y="2741420"/>
            <a:ext cx="596707" cy="596707"/>
          </a:xfrm>
          <a:prstGeom prst="rect">
            <a:avLst/>
          </a:prstGeom>
        </p:spPr>
      </p:pic>
      <p:sp>
        <p:nvSpPr>
          <p:cNvPr id="74" name="Rectángulo 29">
            <a:extLst>
              <a:ext uri="{FF2B5EF4-FFF2-40B4-BE49-F238E27FC236}">
                <a16:creationId xmlns:a16="http://schemas.microsoft.com/office/drawing/2014/main" id="{2BDECA5B-9166-271E-4070-B228DD2B0EF4}"/>
              </a:ext>
            </a:extLst>
          </p:cNvPr>
          <p:cNvSpPr/>
          <p:nvPr/>
        </p:nvSpPr>
        <p:spPr>
          <a:xfrm>
            <a:off x="1190746" y="2891628"/>
            <a:ext cx="26735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Horizonte en 30 días: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Alertas con riesgo identificadas por el equipo de monitoreo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Arial"/>
            </a:endParaRPr>
          </a:p>
        </p:txBody>
      </p:sp>
      <p:pic>
        <p:nvPicPr>
          <p:cNvPr id="75" name="Gráfico 30" descr="Hombre con relleno sólido">
            <a:extLst>
              <a:ext uri="{FF2B5EF4-FFF2-40B4-BE49-F238E27FC236}">
                <a16:creationId xmlns:a16="http://schemas.microsoft.com/office/drawing/2014/main" id="{F1DA2B9A-68A4-F2F9-8D7D-D9976422B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235" y="1714205"/>
            <a:ext cx="641777" cy="641777"/>
          </a:xfrm>
          <a:prstGeom prst="rect">
            <a:avLst/>
          </a:prstGeom>
        </p:spPr>
      </p:pic>
      <p:sp>
        <p:nvSpPr>
          <p:cNvPr id="76" name="CuadroTexto 1143">
            <a:extLst>
              <a:ext uri="{FF2B5EF4-FFF2-40B4-BE49-F238E27FC236}">
                <a16:creationId xmlns:a16="http://schemas.microsoft.com/office/drawing/2014/main" id="{216703D5-A3B3-6687-2F3B-7F67DB61A99A}"/>
              </a:ext>
            </a:extLst>
          </p:cNvPr>
          <p:cNvSpPr txBox="1"/>
          <p:nvPr/>
        </p:nvSpPr>
        <p:spPr>
          <a:xfrm>
            <a:off x="255897" y="5626537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Metodología</a:t>
            </a:r>
          </a:p>
        </p:txBody>
      </p:sp>
      <p:sp>
        <p:nvSpPr>
          <p:cNvPr id="77" name="Rectángulo: una sola esquina redondeada 1144">
            <a:extLst>
              <a:ext uri="{FF2B5EF4-FFF2-40B4-BE49-F238E27FC236}">
                <a16:creationId xmlns:a16="http://schemas.microsoft.com/office/drawing/2014/main" id="{C7E00730-62AA-D71B-104A-627A68429F3D}"/>
              </a:ext>
            </a:extLst>
          </p:cNvPr>
          <p:cNvSpPr/>
          <p:nvPr/>
        </p:nvSpPr>
        <p:spPr>
          <a:xfrm>
            <a:off x="302787" y="1581557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ángulo 1145">
            <a:extLst>
              <a:ext uri="{FF2B5EF4-FFF2-40B4-BE49-F238E27FC236}">
                <a16:creationId xmlns:a16="http://schemas.microsoft.com/office/drawing/2014/main" id="{B1719617-EE74-1DB7-9E1C-AA5731EF579C}"/>
              </a:ext>
            </a:extLst>
          </p:cNvPr>
          <p:cNvSpPr/>
          <p:nvPr/>
        </p:nvSpPr>
        <p:spPr>
          <a:xfrm>
            <a:off x="1384911" y="5174949"/>
            <a:ext cx="241654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Modelo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Machine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Learning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XGBoost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9" name="CuadroTexto 42">
            <a:extLst>
              <a:ext uri="{FF2B5EF4-FFF2-40B4-BE49-F238E27FC236}">
                <a16:creationId xmlns:a16="http://schemas.microsoft.com/office/drawing/2014/main" id="{E5E9613E-7D3F-E0C0-870F-2D6ECFA32776}"/>
              </a:ext>
            </a:extLst>
          </p:cNvPr>
          <p:cNvSpPr txBox="1"/>
          <p:nvPr/>
        </p:nvSpPr>
        <p:spPr>
          <a:xfrm>
            <a:off x="7097088" y="1575960"/>
            <a:ext cx="7024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Geometria" panose="020B0503020204020204" pitchFamily="34" charset="0"/>
                <a:cs typeface="Poppins"/>
              </a:rPr>
              <a:t>Gini</a:t>
            </a:r>
          </a:p>
        </p:txBody>
      </p:sp>
      <p:pic>
        <p:nvPicPr>
          <p:cNvPr id="80" name="Picture 75" descr="calendar-icon - BCSM">
            <a:extLst>
              <a:ext uri="{FF2B5EF4-FFF2-40B4-BE49-F238E27FC236}">
                <a16:creationId xmlns:a16="http://schemas.microsoft.com/office/drawing/2014/main" id="{50E3B98F-EDFF-568D-A117-2171504FC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rgbClr val="08BD4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2" y="3997257"/>
            <a:ext cx="459747" cy="45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CuadroTexto 62">
            <a:extLst>
              <a:ext uri="{FF2B5EF4-FFF2-40B4-BE49-F238E27FC236}">
                <a16:creationId xmlns:a16="http://schemas.microsoft.com/office/drawing/2014/main" id="{7BC60EDD-80D4-6F07-2974-774AF13B15B2}"/>
              </a:ext>
            </a:extLst>
          </p:cNvPr>
          <p:cNvSpPr txBox="1"/>
          <p:nvPr/>
        </p:nvSpPr>
        <p:spPr>
          <a:xfrm>
            <a:off x="338285" y="4473120"/>
            <a:ext cx="8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Periodos</a:t>
            </a:r>
          </a:p>
        </p:txBody>
      </p:sp>
      <p:sp>
        <p:nvSpPr>
          <p:cNvPr id="82" name="Rectángulo 66">
            <a:extLst>
              <a:ext uri="{FF2B5EF4-FFF2-40B4-BE49-F238E27FC236}">
                <a16:creationId xmlns:a16="http://schemas.microsoft.com/office/drawing/2014/main" id="{C0BFAE3D-38D1-A329-1A51-55C5F71DB4F2}"/>
              </a:ext>
            </a:extLst>
          </p:cNvPr>
          <p:cNvSpPr/>
          <p:nvPr/>
        </p:nvSpPr>
        <p:spPr>
          <a:xfrm>
            <a:off x="1486721" y="4092273"/>
            <a:ext cx="2168541" cy="56067"/>
          </a:xfrm>
          <a:prstGeom prst="rect">
            <a:avLst/>
          </a:prstGeom>
          <a:solidFill>
            <a:srgbClr val="08BD4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CuadroTexto 71">
            <a:extLst>
              <a:ext uri="{FF2B5EF4-FFF2-40B4-BE49-F238E27FC236}">
                <a16:creationId xmlns:a16="http://schemas.microsoft.com/office/drawing/2014/main" id="{7327B4E3-B05A-D8DA-9DB0-AD7A96FF7F1A}"/>
              </a:ext>
            </a:extLst>
          </p:cNvPr>
          <p:cNvSpPr txBox="1"/>
          <p:nvPr/>
        </p:nvSpPr>
        <p:spPr>
          <a:xfrm>
            <a:off x="1283638" y="4178411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Ene. 25</a:t>
            </a:r>
          </a:p>
        </p:txBody>
      </p:sp>
      <p:sp>
        <p:nvSpPr>
          <p:cNvPr id="85" name="CuadroTexto 75">
            <a:extLst>
              <a:ext uri="{FF2B5EF4-FFF2-40B4-BE49-F238E27FC236}">
                <a16:creationId xmlns:a16="http://schemas.microsoft.com/office/drawing/2014/main" id="{766CE9D3-D0C8-A274-C95D-7B23E52E087F}"/>
              </a:ext>
            </a:extLst>
          </p:cNvPr>
          <p:cNvSpPr txBox="1"/>
          <p:nvPr/>
        </p:nvSpPr>
        <p:spPr>
          <a:xfrm>
            <a:off x="1807071" y="450300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Train</a:t>
            </a:r>
          </a:p>
        </p:txBody>
      </p:sp>
      <p:sp>
        <p:nvSpPr>
          <p:cNvPr id="86" name="Cerrar llave 76">
            <a:extLst>
              <a:ext uri="{FF2B5EF4-FFF2-40B4-BE49-F238E27FC236}">
                <a16:creationId xmlns:a16="http://schemas.microsoft.com/office/drawing/2014/main" id="{3519ECA0-4700-7E11-406A-B4AD54C98C71}"/>
              </a:ext>
            </a:extLst>
          </p:cNvPr>
          <p:cNvSpPr/>
          <p:nvPr/>
        </p:nvSpPr>
        <p:spPr>
          <a:xfrm rot="16200000" flipH="1">
            <a:off x="1950681" y="3935410"/>
            <a:ext cx="143438" cy="985777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CuadroTexto 78">
            <a:extLst>
              <a:ext uri="{FF2B5EF4-FFF2-40B4-BE49-F238E27FC236}">
                <a16:creationId xmlns:a16="http://schemas.microsoft.com/office/drawing/2014/main" id="{BE9111F2-95D6-9C1A-8DDE-8BDCA2355F95}"/>
              </a:ext>
            </a:extLst>
          </p:cNvPr>
          <p:cNvSpPr txBox="1"/>
          <p:nvPr/>
        </p:nvSpPr>
        <p:spPr>
          <a:xfrm>
            <a:off x="2943012" y="4493031"/>
            <a:ext cx="100405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B</a:t>
            </a:r>
            <a:r>
              <a:rPr kumimoji="0" lang="es-PE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acktest (OOT)</a:t>
            </a:r>
          </a:p>
        </p:txBody>
      </p:sp>
      <p:sp>
        <p:nvSpPr>
          <p:cNvPr id="88" name="CuadroTexto 79">
            <a:extLst>
              <a:ext uri="{FF2B5EF4-FFF2-40B4-BE49-F238E27FC236}">
                <a16:creationId xmlns:a16="http://schemas.microsoft.com/office/drawing/2014/main" id="{9C5BC686-FE8C-C118-CCBC-1BBFFD300C8A}"/>
              </a:ext>
            </a:extLst>
          </p:cNvPr>
          <p:cNvSpPr txBox="1"/>
          <p:nvPr/>
        </p:nvSpPr>
        <p:spPr>
          <a:xfrm>
            <a:off x="1773796" y="3892701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7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89" name="CuadroTexto 80">
            <a:extLst>
              <a:ext uri="{FF2B5EF4-FFF2-40B4-BE49-F238E27FC236}">
                <a16:creationId xmlns:a16="http://schemas.microsoft.com/office/drawing/2014/main" id="{964A609C-DA09-18AE-8EFD-405B022F061A}"/>
              </a:ext>
            </a:extLst>
          </p:cNvPr>
          <p:cNvSpPr txBox="1"/>
          <p:nvPr/>
        </p:nvSpPr>
        <p:spPr>
          <a:xfrm>
            <a:off x="3019127" y="3899902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4 meses</a:t>
            </a:r>
          </a:p>
        </p:txBody>
      </p:sp>
      <p:sp>
        <p:nvSpPr>
          <p:cNvPr id="90" name="CuadroTexto 42">
            <a:extLst>
              <a:ext uri="{FF2B5EF4-FFF2-40B4-BE49-F238E27FC236}">
                <a16:creationId xmlns:a16="http://schemas.microsoft.com/office/drawing/2014/main" id="{8164BC57-0354-9759-C769-EDF44021C05C}"/>
              </a:ext>
            </a:extLst>
          </p:cNvPr>
          <p:cNvSpPr txBox="1"/>
          <p:nvPr/>
        </p:nvSpPr>
        <p:spPr>
          <a:xfrm>
            <a:off x="2943012" y="4132428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Oct25</a:t>
            </a:r>
          </a:p>
        </p:txBody>
      </p:sp>
      <p:sp>
        <p:nvSpPr>
          <p:cNvPr id="91" name="Cerrar llave 76">
            <a:extLst>
              <a:ext uri="{FF2B5EF4-FFF2-40B4-BE49-F238E27FC236}">
                <a16:creationId xmlns:a16="http://schemas.microsoft.com/office/drawing/2014/main" id="{7C783399-AFEF-5F2E-01A3-1F5430D5B292}"/>
              </a:ext>
            </a:extLst>
          </p:cNvPr>
          <p:cNvSpPr/>
          <p:nvPr/>
        </p:nvSpPr>
        <p:spPr>
          <a:xfrm rot="16200000" flipH="1">
            <a:off x="3407716" y="4083054"/>
            <a:ext cx="135832" cy="675274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CuadroTexto 72">
            <a:extLst>
              <a:ext uri="{FF2B5EF4-FFF2-40B4-BE49-F238E27FC236}">
                <a16:creationId xmlns:a16="http://schemas.microsoft.com/office/drawing/2014/main" id="{23A0FB5F-EFD7-6C2B-0265-81C081FAF6BD}"/>
              </a:ext>
            </a:extLst>
          </p:cNvPr>
          <p:cNvSpPr txBox="1"/>
          <p:nvPr/>
        </p:nvSpPr>
        <p:spPr>
          <a:xfrm>
            <a:off x="2116406" y="4163136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Jul 25</a:t>
            </a:r>
          </a:p>
        </p:txBody>
      </p:sp>
      <p:sp>
        <p:nvSpPr>
          <p:cNvPr id="95" name="Rectángulo 1041">
            <a:extLst>
              <a:ext uri="{FF2B5EF4-FFF2-40B4-BE49-F238E27FC236}">
                <a16:creationId xmlns:a16="http://schemas.microsoft.com/office/drawing/2014/main" id="{6D9A2894-55ED-299B-D54D-A02EEF282E9E}"/>
              </a:ext>
            </a:extLst>
          </p:cNvPr>
          <p:cNvSpPr/>
          <p:nvPr/>
        </p:nvSpPr>
        <p:spPr>
          <a:xfrm>
            <a:off x="5007002" y="2478329"/>
            <a:ext cx="1523241" cy="27699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 pitchFamily="34" charset="0"/>
                <a:ea typeface="Geometria" panose="020B0503020204020204" pitchFamily="34" charset="0"/>
                <a:cs typeface="+mn-cs"/>
              </a:rPr>
              <a:t>Validación</a:t>
            </a: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96" name="Rectángulo: una sola esquina redondeada 1042">
            <a:extLst>
              <a:ext uri="{FF2B5EF4-FFF2-40B4-BE49-F238E27FC236}">
                <a16:creationId xmlns:a16="http://schemas.microsoft.com/office/drawing/2014/main" id="{60C1B4F1-0C93-0137-AFF4-F13694F29258}"/>
              </a:ext>
            </a:extLst>
          </p:cNvPr>
          <p:cNvSpPr/>
          <p:nvPr/>
        </p:nvSpPr>
        <p:spPr>
          <a:xfrm>
            <a:off x="4975853" y="2480923"/>
            <a:ext cx="45719" cy="274714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lipse 1043">
            <a:extLst>
              <a:ext uri="{FF2B5EF4-FFF2-40B4-BE49-F238E27FC236}">
                <a16:creationId xmlns:a16="http://schemas.microsoft.com/office/drawing/2014/main" id="{4BB908D3-347B-EF57-9D3C-0FDCA4F760A9}"/>
              </a:ext>
            </a:extLst>
          </p:cNvPr>
          <p:cNvSpPr/>
          <p:nvPr/>
        </p:nvSpPr>
        <p:spPr>
          <a:xfrm>
            <a:off x="6586607" y="2526718"/>
            <a:ext cx="146295" cy="14462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Conector recto 1045">
            <a:extLst>
              <a:ext uri="{FF2B5EF4-FFF2-40B4-BE49-F238E27FC236}">
                <a16:creationId xmlns:a16="http://schemas.microsoft.com/office/drawing/2014/main" id="{A6C66695-EFF5-10CC-C274-9F4995F68F0D}"/>
              </a:ext>
            </a:extLst>
          </p:cNvPr>
          <p:cNvCxnSpPr>
            <a:cxnSpLocks/>
          </p:cNvCxnSpPr>
          <p:nvPr/>
        </p:nvCxnSpPr>
        <p:spPr>
          <a:xfrm flipV="1">
            <a:off x="6732902" y="2597100"/>
            <a:ext cx="261708" cy="1932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CuadroTexto 1063">
            <a:extLst>
              <a:ext uri="{FF2B5EF4-FFF2-40B4-BE49-F238E27FC236}">
                <a16:creationId xmlns:a16="http://schemas.microsoft.com/office/drawing/2014/main" id="{1BF014BC-CC8F-74FA-E57B-10A07EB6B73E}"/>
              </a:ext>
            </a:extLst>
          </p:cNvPr>
          <p:cNvSpPr txBox="1"/>
          <p:nvPr/>
        </p:nvSpPr>
        <p:spPr>
          <a:xfrm>
            <a:off x="6928207" y="2432666"/>
            <a:ext cx="106572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08BD4F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51%</a:t>
            </a: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srgbClr val="08BD4F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00" name="Rectángulo 2">
            <a:extLst>
              <a:ext uri="{FF2B5EF4-FFF2-40B4-BE49-F238E27FC236}">
                <a16:creationId xmlns:a16="http://schemas.microsoft.com/office/drawing/2014/main" id="{A20F28A5-C482-B6A7-8A65-E8D801C3721B}"/>
              </a:ext>
            </a:extLst>
          </p:cNvPr>
          <p:cNvSpPr/>
          <p:nvPr/>
        </p:nvSpPr>
        <p:spPr>
          <a:xfrm>
            <a:off x="8567655" y="4645737"/>
            <a:ext cx="3513161" cy="1031234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ectángulo: una sola esquina redondeada 3">
            <a:extLst>
              <a:ext uri="{FF2B5EF4-FFF2-40B4-BE49-F238E27FC236}">
                <a16:creationId xmlns:a16="http://schemas.microsoft.com/office/drawing/2014/main" id="{DC69F488-6F82-2D17-8293-3EBBC5E9B0F0}"/>
              </a:ext>
            </a:extLst>
          </p:cNvPr>
          <p:cNvSpPr/>
          <p:nvPr/>
        </p:nvSpPr>
        <p:spPr>
          <a:xfrm>
            <a:off x="8509275" y="4650478"/>
            <a:ext cx="80920" cy="1026493"/>
          </a:xfrm>
          <a:prstGeom prst="round1Rect">
            <a:avLst/>
          </a:prstGeom>
          <a:solidFill>
            <a:srgbClr val="0038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" name="Picture 2" descr="Machine learning icon artificial intelligence Vector Image">
            <a:extLst>
              <a:ext uri="{FF2B5EF4-FFF2-40B4-BE49-F238E27FC236}">
                <a16:creationId xmlns:a16="http://schemas.microsoft.com/office/drawing/2014/main" id="{229882E2-D9FC-61D9-F596-DE0B9662A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13144" r="18671" b="38124"/>
          <a:stretch/>
        </p:blipFill>
        <p:spPr bwMode="auto">
          <a:xfrm>
            <a:off x="8724792" y="4811148"/>
            <a:ext cx="549784" cy="48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CuadroTexto 1143">
            <a:extLst>
              <a:ext uri="{FF2B5EF4-FFF2-40B4-BE49-F238E27FC236}">
                <a16:creationId xmlns:a16="http://schemas.microsoft.com/office/drawing/2014/main" id="{3EDC0F8F-EB12-5F87-7913-A6019C19D7CC}"/>
              </a:ext>
            </a:extLst>
          </p:cNvPr>
          <p:cNvSpPr txBox="1"/>
          <p:nvPr/>
        </p:nvSpPr>
        <p:spPr>
          <a:xfrm>
            <a:off x="8471910" y="5332185"/>
            <a:ext cx="116110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050" b="1" i="0" u="none" strike="noStrike" kern="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 Bold"/>
                <a:ea typeface="+mn-ea"/>
                <a:cs typeface="Poppins Bold"/>
              </a:rPr>
              <a:t>TIER</a:t>
            </a:r>
          </a:p>
        </p:txBody>
      </p:sp>
      <p:sp>
        <p:nvSpPr>
          <p:cNvPr id="104" name="Rectángulo 1145">
            <a:extLst>
              <a:ext uri="{FF2B5EF4-FFF2-40B4-BE49-F238E27FC236}">
                <a16:creationId xmlns:a16="http://schemas.microsoft.com/office/drawing/2014/main" id="{8DB73F2B-49C6-07E6-F196-901DDE253916}"/>
              </a:ext>
            </a:extLst>
          </p:cNvPr>
          <p:cNvSpPr/>
          <p:nvPr/>
        </p:nvSpPr>
        <p:spPr>
          <a:xfrm>
            <a:off x="9226017" y="5018432"/>
            <a:ext cx="241654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Laboratorio</a:t>
            </a: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59C1DCD-2C8C-0560-DAE5-F42AB44718E2}"/>
              </a:ext>
            </a:extLst>
          </p:cNvPr>
          <p:cNvSpPr txBox="1">
            <a:spLocks/>
          </p:cNvSpPr>
          <p:nvPr/>
        </p:nvSpPr>
        <p:spPr>
          <a:xfrm>
            <a:off x="8589520" y="1562986"/>
            <a:ext cx="3602480" cy="1977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Fechas de ejecución: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Ejecución mensual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 uso: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Identificar de nuevas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alertas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de Riesgo generadas por el modelo</a:t>
            </a: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Entrega de predicción: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 Ejecución </a:t>
            </a:r>
            <a:r>
              <a:rPr kumimoji="0" lang="es-P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manual durante la fase de piloto.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20B0604020202020204" pitchFamily="34" charset="0"/>
              <a:buChar char="q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8" name="CuadroTexto 80">
            <a:extLst>
              <a:ext uri="{FF2B5EF4-FFF2-40B4-BE49-F238E27FC236}">
                <a16:creationId xmlns:a16="http://schemas.microsoft.com/office/drawing/2014/main" id="{2805DA54-C202-2080-1F6C-69F9381AE7DA}"/>
              </a:ext>
            </a:extLst>
          </p:cNvPr>
          <p:cNvSpPr txBox="1"/>
          <p:nvPr/>
        </p:nvSpPr>
        <p:spPr>
          <a:xfrm>
            <a:off x="2517103" y="3908867"/>
            <a:ext cx="687443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0" dirty="0">
                <a:solidFill>
                  <a:srgbClr val="FFFFFF">
                    <a:lumMod val="65000"/>
                  </a:srgbClr>
                </a:solidFill>
              </a:rPr>
              <a:t>2</a:t>
            </a:r>
            <a:r>
              <a:rPr kumimoji="0" lang="es-PE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meses</a:t>
            </a:r>
          </a:p>
        </p:txBody>
      </p:sp>
      <p:sp>
        <p:nvSpPr>
          <p:cNvPr id="109" name="CuadroTexto 78">
            <a:extLst>
              <a:ext uri="{FF2B5EF4-FFF2-40B4-BE49-F238E27FC236}">
                <a16:creationId xmlns:a16="http://schemas.microsoft.com/office/drawing/2014/main" id="{0A023780-CE3E-BF62-59BA-C2191B21D4C6}"/>
              </a:ext>
            </a:extLst>
          </p:cNvPr>
          <p:cNvSpPr txBox="1"/>
          <p:nvPr/>
        </p:nvSpPr>
        <p:spPr>
          <a:xfrm>
            <a:off x="2494776" y="4510960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1" i="0" u="none" strike="noStrike" kern="0" cap="none" spc="0" normalizeH="0" baseline="0" noProof="0">
                <a:ln>
                  <a:noFill/>
                </a:ln>
                <a:solidFill>
                  <a:srgbClr val="08BD4F">
                    <a:lumMod val="75000"/>
                  </a:srgbClr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Val</a:t>
            </a:r>
            <a:endParaRPr kumimoji="0" lang="es-PE" sz="700" b="1" i="0" u="none" strike="noStrike" kern="0" cap="none" spc="0" normalizeH="0" baseline="0" noProof="0">
              <a:ln>
                <a:noFill/>
              </a:ln>
              <a:solidFill>
                <a:srgbClr val="08BD4F">
                  <a:lumMod val="75000"/>
                </a:srgbClr>
              </a:solidFill>
              <a:effectLst/>
              <a:uLnTx/>
              <a:uFillTx/>
              <a:latin typeface="Geometria" panose="020B0503020204020204"/>
              <a:ea typeface="+mn-ea"/>
              <a:cs typeface="+mn-cs"/>
            </a:endParaRPr>
          </a:p>
        </p:txBody>
      </p:sp>
      <p:sp>
        <p:nvSpPr>
          <p:cNvPr id="110" name="CuadroTexto 72">
            <a:extLst>
              <a:ext uri="{FF2B5EF4-FFF2-40B4-BE49-F238E27FC236}">
                <a16:creationId xmlns:a16="http://schemas.microsoft.com/office/drawing/2014/main" id="{C1CEF1F6-B1B0-8041-7CB0-CC31CDA6BB1E}"/>
              </a:ext>
            </a:extLst>
          </p:cNvPr>
          <p:cNvSpPr txBox="1"/>
          <p:nvPr/>
        </p:nvSpPr>
        <p:spPr>
          <a:xfrm>
            <a:off x="2531977" y="4140656"/>
            <a:ext cx="600643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Ago-</a:t>
            </a:r>
            <a:r>
              <a:rPr kumimoji="0" lang="es-PE" sz="700" b="1" i="0" u="none" strike="noStrike" kern="0" cap="none" spc="0" normalizeH="0" baseline="0" noProof="0" dirty="0" err="1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Sep</a:t>
            </a: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25</a:t>
            </a:r>
          </a:p>
        </p:txBody>
      </p:sp>
      <p:sp>
        <p:nvSpPr>
          <p:cNvPr id="111" name="Cerrar llave 76">
            <a:extLst>
              <a:ext uri="{FF2B5EF4-FFF2-40B4-BE49-F238E27FC236}">
                <a16:creationId xmlns:a16="http://schemas.microsoft.com/office/drawing/2014/main" id="{968D9C87-31B8-59F4-0552-03AB223933BC}"/>
              </a:ext>
            </a:extLst>
          </p:cNvPr>
          <p:cNvSpPr/>
          <p:nvPr/>
        </p:nvSpPr>
        <p:spPr>
          <a:xfrm rot="16200000" flipH="1">
            <a:off x="2766739" y="4168219"/>
            <a:ext cx="126867" cy="531839"/>
          </a:xfrm>
          <a:prstGeom prst="rightBrace">
            <a:avLst>
              <a:gd name="adj1" fmla="val 44325"/>
              <a:gd name="adj2" fmla="val 50000"/>
            </a:avLst>
          </a:prstGeom>
          <a:noFill/>
          <a:ln w="19050" cap="flat" cmpd="sng" algn="ctr">
            <a:solidFill>
              <a:srgbClr val="EB004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Marcador de texto 1">
            <a:extLst>
              <a:ext uri="{FF2B5EF4-FFF2-40B4-BE49-F238E27FC236}">
                <a16:creationId xmlns:a16="http://schemas.microsoft.com/office/drawing/2014/main" id="{5E30D6AB-7E85-8FE1-D70F-97F14B83F25C}"/>
              </a:ext>
            </a:extLst>
          </p:cNvPr>
          <p:cNvSpPr txBox="1">
            <a:spLocks/>
          </p:cNvSpPr>
          <p:nvPr/>
        </p:nvSpPr>
        <p:spPr>
          <a:xfrm>
            <a:off x="171671" y="330086"/>
            <a:ext cx="10873827" cy="6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Ficha técnica del Modelo PLAFT PN Consumo Inicial</a:t>
            </a:r>
          </a:p>
        </p:txBody>
      </p:sp>
      <p:sp>
        <p:nvSpPr>
          <p:cNvPr id="117" name="CuadroTexto 42">
            <a:extLst>
              <a:ext uri="{FF2B5EF4-FFF2-40B4-BE49-F238E27FC236}">
                <a16:creationId xmlns:a16="http://schemas.microsoft.com/office/drawing/2014/main" id="{40045640-9895-71B5-EED7-D07AAB4B48D3}"/>
              </a:ext>
            </a:extLst>
          </p:cNvPr>
          <p:cNvSpPr txBox="1"/>
          <p:nvPr/>
        </p:nvSpPr>
        <p:spPr>
          <a:xfrm>
            <a:off x="3514336" y="4123334"/>
            <a:ext cx="538234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700" b="1" i="0" u="none" strike="noStrike" kern="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 panose="020B0503020204020204"/>
                <a:ea typeface="+mn-ea"/>
                <a:cs typeface="+mn-cs"/>
              </a:rPr>
              <a:t> Abri26</a:t>
            </a:r>
          </a:p>
        </p:txBody>
      </p:sp>
      <p:sp>
        <p:nvSpPr>
          <p:cNvPr id="120" name="Diagrama de flujo: preparación 1106">
            <a:extLst>
              <a:ext uri="{FF2B5EF4-FFF2-40B4-BE49-F238E27FC236}">
                <a16:creationId xmlns:a16="http://schemas.microsoft.com/office/drawing/2014/main" id="{6433C8BF-1CE7-54AF-AD90-05DD60C62EE1}"/>
              </a:ext>
            </a:extLst>
          </p:cNvPr>
          <p:cNvSpPr/>
          <p:nvPr/>
        </p:nvSpPr>
        <p:spPr>
          <a:xfrm>
            <a:off x="5930370" y="4457513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CuadroTexto 1091">
            <a:extLst>
              <a:ext uri="{FF2B5EF4-FFF2-40B4-BE49-F238E27FC236}">
                <a16:creationId xmlns:a16="http://schemas.microsoft.com/office/drawing/2014/main" id="{A1310D9D-303F-E091-3802-F08E9F3A7AA9}"/>
              </a:ext>
            </a:extLst>
          </p:cNvPr>
          <p:cNvSpPr txBox="1"/>
          <p:nvPr/>
        </p:nvSpPr>
        <p:spPr>
          <a:xfrm>
            <a:off x="5920620" y="4743180"/>
            <a:ext cx="71892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Perfil del Cliente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/>
              <a:ea typeface="+mn-ea"/>
              <a:cs typeface="Calibri"/>
            </a:endParaRPr>
          </a:p>
        </p:txBody>
      </p:sp>
      <p:sp>
        <p:nvSpPr>
          <p:cNvPr id="122" name="Diagrama de flujo: preparación 1107">
            <a:extLst>
              <a:ext uri="{FF2B5EF4-FFF2-40B4-BE49-F238E27FC236}">
                <a16:creationId xmlns:a16="http://schemas.microsoft.com/office/drawing/2014/main" id="{DE1FC4F9-7AEC-30F3-C770-752E06B31F48}"/>
              </a:ext>
            </a:extLst>
          </p:cNvPr>
          <p:cNvSpPr/>
          <p:nvPr/>
        </p:nvSpPr>
        <p:spPr>
          <a:xfrm>
            <a:off x="5922648" y="5137859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CuadroTexto 1109">
            <a:extLst>
              <a:ext uri="{FF2B5EF4-FFF2-40B4-BE49-F238E27FC236}">
                <a16:creationId xmlns:a16="http://schemas.microsoft.com/office/drawing/2014/main" id="{3722A71C-2BB6-596D-D876-5F99C1A894E4}"/>
              </a:ext>
            </a:extLst>
          </p:cNvPr>
          <p:cNvSpPr txBox="1"/>
          <p:nvPr/>
        </p:nvSpPr>
        <p:spPr>
          <a:xfrm>
            <a:off x="5920591" y="5500411"/>
            <a:ext cx="713921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+mn-ea"/>
                <a:cs typeface="Calibri"/>
              </a:rPr>
              <a:t>Contexto</a:t>
            </a:r>
          </a:p>
        </p:txBody>
      </p:sp>
      <p:sp>
        <p:nvSpPr>
          <p:cNvPr id="124" name="CuadroTexto 1117">
            <a:extLst>
              <a:ext uri="{FF2B5EF4-FFF2-40B4-BE49-F238E27FC236}">
                <a16:creationId xmlns:a16="http://schemas.microsoft.com/office/drawing/2014/main" id="{CE77FA46-5E4A-EC76-6031-DDEE072751C5}"/>
              </a:ext>
            </a:extLst>
          </p:cNvPr>
          <p:cNvSpPr txBox="1"/>
          <p:nvPr/>
        </p:nvSpPr>
        <p:spPr>
          <a:xfrm>
            <a:off x="5920591" y="4169919"/>
            <a:ext cx="8349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5" name="CuadroTexto 1121">
            <a:extLst>
              <a:ext uri="{FF2B5EF4-FFF2-40B4-BE49-F238E27FC236}">
                <a16:creationId xmlns:a16="http://schemas.microsoft.com/office/drawing/2014/main" id="{175557ED-4270-7142-181D-937E1E927C92}"/>
              </a:ext>
            </a:extLst>
          </p:cNvPr>
          <p:cNvSpPr txBox="1"/>
          <p:nvPr/>
        </p:nvSpPr>
        <p:spPr>
          <a:xfrm>
            <a:off x="5877062" y="5736222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7" name="Diagrama de flujo: preparación 1107">
            <a:extLst>
              <a:ext uri="{FF2B5EF4-FFF2-40B4-BE49-F238E27FC236}">
                <a16:creationId xmlns:a16="http://schemas.microsoft.com/office/drawing/2014/main" id="{FF5784F2-5B88-AB34-A9F4-31A4500E747D}"/>
              </a:ext>
            </a:extLst>
          </p:cNvPr>
          <p:cNvSpPr/>
          <p:nvPr/>
        </p:nvSpPr>
        <p:spPr>
          <a:xfrm>
            <a:off x="5328831" y="4781796"/>
            <a:ext cx="718514" cy="617033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uadroTexto 1121">
            <a:extLst>
              <a:ext uri="{FF2B5EF4-FFF2-40B4-BE49-F238E27FC236}">
                <a16:creationId xmlns:a16="http://schemas.microsoft.com/office/drawing/2014/main" id="{06FBD25E-59BA-95FC-49BB-A724A1AC0302}"/>
              </a:ext>
            </a:extLst>
          </p:cNvPr>
          <p:cNvSpPr txBox="1"/>
          <p:nvPr/>
        </p:nvSpPr>
        <p:spPr>
          <a:xfrm>
            <a:off x="5230641" y="5449710"/>
            <a:ext cx="9157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rgbClr val="0038A6"/>
                </a:solidFill>
                <a:latin typeface="Geometria Medium"/>
              </a:rPr>
              <a:t>63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/>
              <a:ea typeface="Geometria" panose="020B0503020204020204" pitchFamily="34" charset="0"/>
              <a:cs typeface="+mn-cs"/>
            </a:endParaRPr>
          </a:p>
        </p:txBody>
      </p:sp>
      <p:sp>
        <p:nvSpPr>
          <p:cNvPr id="129" name="CuadroTexto 1112">
            <a:extLst>
              <a:ext uri="{FF2B5EF4-FFF2-40B4-BE49-F238E27FC236}">
                <a16:creationId xmlns:a16="http://schemas.microsoft.com/office/drawing/2014/main" id="{13D0F972-5179-273B-B03D-FA4018807494}"/>
              </a:ext>
            </a:extLst>
          </p:cNvPr>
          <p:cNvSpPr txBox="1"/>
          <p:nvPr/>
        </p:nvSpPr>
        <p:spPr>
          <a:xfrm>
            <a:off x="5371850" y="5132334"/>
            <a:ext cx="63323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800" b="0" i="0" u="none" strike="noStrike" kern="1200" cap="none" spc="0" normalizeH="0" baseline="0" noProof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"/>
                <a:ea typeface="Geometria" panose="020B0503020204020204" pitchFamily="34" charset="0"/>
                <a:cs typeface="Calibri"/>
              </a:rPr>
              <a:t>TRX</a:t>
            </a:r>
            <a:endParaRPr kumimoji="0" lang="es-PE" sz="8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" panose="020B0503020204020204" pitchFamily="34" charset="0"/>
              <a:ea typeface="Geometria" panose="020B0503020204020204" pitchFamily="34" charset="0"/>
              <a:cs typeface="Calibri"/>
            </a:endParaRPr>
          </a:p>
        </p:txBody>
      </p:sp>
      <p:pic>
        <p:nvPicPr>
          <p:cNvPr id="130" name="Picture 7">
            <a:extLst>
              <a:ext uri="{FF2B5EF4-FFF2-40B4-BE49-F238E27FC236}">
                <a16:creationId xmlns:a16="http://schemas.microsoft.com/office/drawing/2014/main" id="{4AA31B36-EAEE-3831-9BA7-D133B42369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808" y="4834238"/>
            <a:ext cx="270164" cy="316346"/>
          </a:xfrm>
          <a:prstGeom prst="rect">
            <a:avLst/>
          </a:prstGeom>
        </p:spPr>
      </p:pic>
      <p:pic>
        <p:nvPicPr>
          <p:cNvPr id="132" name="Picture 2" descr="Empresa - Iconos gratis de edificios">
            <a:extLst>
              <a:ext uri="{FF2B5EF4-FFF2-40B4-BE49-F238E27FC236}">
                <a16:creationId xmlns:a16="http://schemas.microsoft.com/office/drawing/2014/main" id="{BEC33C4C-0680-8733-1CD1-53BC43CE1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272" y="4441351"/>
            <a:ext cx="301829" cy="30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6" descr="254.100+ Bank Ilustraciones de Stock, gráficos vectoriales ...">
            <a:extLst>
              <a:ext uri="{FF2B5EF4-FFF2-40B4-BE49-F238E27FC236}">
                <a16:creationId xmlns:a16="http://schemas.microsoft.com/office/drawing/2014/main" id="{AAC2081A-D3D8-9D0E-859E-35A7BDB96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576" y="5221732"/>
            <a:ext cx="308605" cy="3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iagrama de flujo: preparación 1105">
            <a:extLst>
              <a:ext uri="{FF2B5EF4-FFF2-40B4-BE49-F238E27FC236}">
                <a16:creationId xmlns:a16="http://schemas.microsoft.com/office/drawing/2014/main" id="{FF628F94-BA35-E3C0-A8FF-72878B537951}"/>
              </a:ext>
            </a:extLst>
          </p:cNvPr>
          <p:cNvSpPr/>
          <p:nvPr/>
        </p:nvSpPr>
        <p:spPr>
          <a:xfrm>
            <a:off x="6512306" y="4777511"/>
            <a:ext cx="718514" cy="612000"/>
          </a:xfrm>
          <a:prstGeom prst="flowChartPreparation">
            <a:avLst/>
          </a:prstGeom>
          <a:solidFill>
            <a:schemeClr val="bg1"/>
          </a:solidFill>
          <a:ln>
            <a:solidFill>
              <a:srgbClr val="00B050"/>
            </a:solidFill>
            <a:prstDash val="sysDot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1100">
            <a:extLst>
              <a:ext uri="{FF2B5EF4-FFF2-40B4-BE49-F238E27FC236}">
                <a16:creationId xmlns:a16="http://schemas.microsoft.com/office/drawing/2014/main" id="{2A4E67AC-549D-4AED-8AA3-85DB08C8E93B}"/>
              </a:ext>
            </a:extLst>
          </p:cNvPr>
          <p:cNvSpPr txBox="1"/>
          <p:nvPr/>
        </p:nvSpPr>
        <p:spPr>
          <a:xfrm>
            <a:off x="6503716" y="5045448"/>
            <a:ext cx="7563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PE" sz="8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CuadroTexto 1122">
            <a:extLst>
              <a:ext uri="{FF2B5EF4-FFF2-40B4-BE49-F238E27FC236}">
                <a16:creationId xmlns:a16="http://schemas.microsoft.com/office/drawing/2014/main" id="{12243FE3-1894-C5FA-4D98-4881390727A3}"/>
              </a:ext>
            </a:extLst>
          </p:cNvPr>
          <p:cNvSpPr txBox="1"/>
          <p:nvPr/>
        </p:nvSpPr>
        <p:spPr>
          <a:xfrm>
            <a:off x="6587859" y="5399517"/>
            <a:ext cx="6155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ctr">
              <a:defRPr sz="2000" b="1">
                <a:solidFill>
                  <a:schemeClr val="accent1"/>
                </a:solidFill>
                <a:latin typeface="Geometria Medium" panose="020B0603020204020204" pitchFamily="34" charset="0"/>
                <a:ea typeface="Geometria" panose="020B05030202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38A6"/>
                </a:solidFill>
                <a:latin typeface="Geometria Medium"/>
              </a:rPr>
              <a:t>25</a:t>
            </a: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38A6"/>
                </a:solidFill>
                <a:effectLst/>
                <a:uLnTx/>
                <a:uFillTx/>
                <a:latin typeface="Geometria Medium"/>
                <a:ea typeface="Geometria" panose="020B0503020204020204" pitchFamily="34" charset="0"/>
                <a:cs typeface="+mn-cs"/>
              </a:rPr>
              <a:t> %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Geometria Medium" panose="020B0603020204020204" pitchFamily="34" charset="0"/>
              <a:ea typeface="Geometria" panose="020B0503020204020204" pitchFamily="34" charset="0"/>
              <a:cs typeface="+mn-cs"/>
            </a:endParaRPr>
          </a:p>
        </p:txBody>
      </p:sp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82DDA61E-697E-68B6-84D4-E10E0B2BC7B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27718" y="480665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00C6-95BD-2789-EFC5-A1964D70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5">
            <a:extLst>
              <a:ext uri="{FF2B5EF4-FFF2-40B4-BE49-F238E27FC236}">
                <a16:creationId xmlns:a16="http://schemas.microsoft.com/office/drawing/2014/main" id="{C2225967-4FFC-0481-3BA6-F9A01B28DCB2}"/>
              </a:ext>
            </a:extLst>
          </p:cNvPr>
          <p:cNvSpPr/>
          <p:nvPr/>
        </p:nvSpPr>
        <p:spPr>
          <a:xfrm>
            <a:off x="7152079" y="1229329"/>
            <a:ext cx="4435021" cy="29114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39.9%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" name="Freeform: Shape 35">
            <a:extLst>
              <a:ext uri="{FF2B5EF4-FFF2-40B4-BE49-F238E27FC236}">
                <a16:creationId xmlns:a16="http://schemas.microsoft.com/office/drawing/2014/main" id="{D2B51FE4-6BE0-D63D-DDD0-1C099A94AC33}"/>
              </a:ext>
            </a:extLst>
          </p:cNvPr>
          <p:cNvSpPr/>
          <p:nvPr/>
        </p:nvSpPr>
        <p:spPr>
          <a:xfrm>
            <a:off x="7152079" y="1746446"/>
            <a:ext cx="363440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14.7%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Freeform: Shape 35">
            <a:extLst>
              <a:ext uri="{FF2B5EF4-FFF2-40B4-BE49-F238E27FC236}">
                <a16:creationId xmlns:a16="http://schemas.microsoft.com/office/drawing/2014/main" id="{360900A3-E5D0-C4D4-B3B4-1F3BAA10DE06}"/>
              </a:ext>
            </a:extLst>
          </p:cNvPr>
          <p:cNvSpPr/>
          <p:nvPr/>
        </p:nvSpPr>
        <p:spPr>
          <a:xfrm>
            <a:off x="7152079" y="2247380"/>
            <a:ext cx="3265127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14.1%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Freeform: Shape 35">
            <a:extLst>
              <a:ext uri="{FF2B5EF4-FFF2-40B4-BE49-F238E27FC236}">
                <a16:creationId xmlns:a16="http://schemas.microsoft.com/office/drawing/2014/main" id="{48B77D51-E436-958B-C42E-F119E5862316}"/>
              </a:ext>
            </a:extLst>
          </p:cNvPr>
          <p:cNvSpPr/>
          <p:nvPr/>
        </p:nvSpPr>
        <p:spPr>
          <a:xfrm>
            <a:off x="7152079" y="2741628"/>
            <a:ext cx="2784296" cy="271604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13.7%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6" name="Freeform: Shape 35">
            <a:extLst>
              <a:ext uri="{FF2B5EF4-FFF2-40B4-BE49-F238E27FC236}">
                <a16:creationId xmlns:a16="http://schemas.microsoft.com/office/drawing/2014/main" id="{B810C19D-7503-AF9D-2B9D-5F2EAB97083F}"/>
              </a:ext>
            </a:extLst>
          </p:cNvPr>
          <p:cNvSpPr/>
          <p:nvPr/>
        </p:nvSpPr>
        <p:spPr>
          <a:xfrm>
            <a:off x="7152079" y="4264700"/>
            <a:ext cx="190832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8.5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Freeform: Shape 35">
            <a:extLst>
              <a:ext uri="{FF2B5EF4-FFF2-40B4-BE49-F238E27FC236}">
                <a16:creationId xmlns:a16="http://schemas.microsoft.com/office/drawing/2014/main" id="{C0AE960B-B2AC-1EDF-CA77-6CBC89688B03}"/>
              </a:ext>
            </a:extLst>
          </p:cNvPr>
          <p:cNvSpPr/>
          <p:nvPr/>
        </p:nvSpPr>
        <p:spPr>
          <a:xfrm>
            <a:off x="7152079" y="4781417"/>
            <a:ext cx="1727464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5.7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</a:t>
            </a:r>
          </a:p>
        </p:txBody>
      </p:sp>
      <p:cxnSp>
        <p:nvCxnSpPr>
          <p:cNvPr id="18" name="Conector recto de flecha 18">
            <a:extLst>
              <a:ext uri="{FF2B5EF4-FFF2-40B4-BE49-F238E27FC236}">
                <a16:creationId xmlns:a16="http://schemas.microsoft.com/office/drawing/2014/main" id="{8480D490-4F3A-2B0E-BA2C-C42B361AB538}"/>
              </a:ext>
            </a:extLst>
          </p:cNvPr>
          <p:cNvCxnSpPr>
            <a:cxnSpLocks/>
          </p:cNvCxnSpPr>
          <p:nvPr/>
        </p:nvCxnSpPr>
        <p:spPr>
          <a:xfrm flipV="1">
            <a:off x="7132855" y="6172276"/>
            <a:ext cx="4042397" cy="27704"/>
          </a:xfrm>
          <a:prstGeom prst="straightConnector1">
            <a:avLst/>
          </a:prstGeom>
          <a:noFill/>
          <a:ln w="571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CuadroTexto 22">
            <a:extLst>
              <a:ext uri="{FF2B5EF4-FFF2-40B4-BE49-F238E27FC236}">
                <a16:creationId xmlns:a16="http://schemas.microsoft.com/office/drawing/2014/main" id="{58E6D9FD-B6BE-6841-DC60-F13891CB7030}"/>
              </a:ext>
            </a:extLst>
          </p:cNvPr>
          <p:cNvSpPr txBox="1"/>
          <p:nvPr/>
        </p:nvSpPr>
        <p:spPr>
          <a:xfrm>
            <a:off x="1945518" y="1161445"/>
            <a:ext cx="5068043" cy="408623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/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egresos (último mese)</a:t>
            </a:r>
          </a:p>
        </p:txBody>
      </p:sp>
      <p:sp>
        <p:nvSpPr>
          <p:cNvPr id="24" name="CuadroTexto 24">
            <a:extLst>
              <a:ext uri="{FF2B5EF4-FFF2-40B4-BE49-F238E27FC236}">
                <a16:creationId xmlns:a16="http://schemas.microsoft.com/office/drawing/2014/main" id="{EC5F9711-2AB4-B1BF-93FE-06F047BB2D7E}"/>
              </a:ext>
            </a:extLst>
          </p:cNvPr>
          <p:cNvSpPr txBox="1"/>
          <p:nvPr/>
        </p:nvSpPr>
        <p:spPr>
          <a:xfrm>
            <a:off x="1945518" y="1707695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Variación de egresos reciente (último vs últimos 6 meses)</a:t>
            </a:r>
          </a:p>
        </p:txBody>
      </p:sp>
      <p:sp>
        <p:nvSpPr>
          <p:cNvPr id="25" name="CuadroTexto 26">
            <a:extLst>
              <a:ext uri="{FF2B5EF4-FFF2-40B4-BE49-F238E27FC236}">
                <a16:creationId xmlns:a16="http://schemas.microsoft.com/office/drawing/2014/main" id="{DED3A7E4-C9BC-ABA2-9327-75101AB5C066}"/>
              </a:ext>
            </a:extLst>
          </p:cNvPr>
          <p:cNvSpPr txBox="1"/>
          <p:nvPr/>
        </p:nvSpPr>
        <p:spPr>
          <a:xfrm>
            <a:off x="1945518" y="2244539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débitos vs créditos</a:t>
            </a:r>
          </a:p>
        </p:txBody>
      </p:sp>
      <p:sp>
        <p:nvSpPr>
          <p:cNvPr id="27" name="CuadroTexto 30">
            <a:extLst>
              <a:ext uri="{FF2B5EF4-FFF2-40B4-BE49-F238E27FC236}">
                <a16:creationId xmlns:a16="http://schemas.microsoft.com/office/drawing/2014/main" id="{265FDCDE-2076-4A12-44F0-DF307543FDDE}"/>
              </a:ext>
            </a:extLst>
          </p:cNvPr>
          <p:cNvSpPr txBox="1"/>
          <p:nvPr/>
        </p:nvSpPr>
        <p:spPr>
          <a:xfrm>
            <a:off x="2084037" y="2703533"/>
            <a:ext cx="5068042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</a:t>
            </a:r>
            <a:r>
              <a:rPr lang="es-PE" sz="1100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total</a:t>
            </a:r>
            <a:r>
              <a:rPr lang="es-PE" sz="1100" dirty="0"/>
              <a:t> </a:t>
            </a: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depósitos en efectivo (12 meses)</a:t>
            </a:r>
          </a:p>
        </p:txBody>
      </p:sp>
      <p:sp>
        <p:nvSpPr>
          <p:cNvPr id="28" name="CuadroTexto 1120">
            <a:extLst>
              <a:ext uri="{FF2B5EF4-FFF2-40B4-BE49-F238E27FC236}">
                <a16:creationId xmlns:a16="http://schemas.microsoft.com/office/drawing/2014/main" id="{50597DD1-D967-4B2B-5A17-392D1E10ECB7}"/>
              </a:ext>
            </a:extLst>
          </p:cNvPr>
          <p:cNvSpPr txBox="1"/>
          <p:nvPr/>
        </p:nvSpPr>
        <p:spPr>
          <a:xfrm>
            <a:off x="1946495" y="3251175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Concentración transacciones</a:t>
            </a:r>
          </a:p>
        </p:txBody>
      </p:sp>
      <p:sp>
        <p:nvSpPr>
          <p:cNvPr id="29" name="CuadroTexto 1122">
            <a:extLst>
              <a:ext uri="{FF2B5EF4-FFF2-40B4-BE49-F238E27FC236}">
                <a16:creationId xmlns:a16="http://schemas.microsoft.com/office/drawing/2014/main" id="{403D2002-DFC6-25BF-CE0C-74B7335FFB2C}"/>
              </a:ext>
            </a:extLst>
          </p:cNvPr>
          <p:cNvSpPr txBox="1"/>
          <p:nvPr/>
        </p:nvSpPr>
        <p:spPr>
          <a:xfrm>
            <a:off x="1980881" y="3714910"/>
            <a:ext cx="5068041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Cantidad de meses sin abonos</a:t>
            </a:r>
          </a:p>
        </p:txBody>
      </p:sp>
      <p:sp>
        <p:nvSpPr>
          <p:cNvPr id="30" name="CuadroTexto 1124">
            <a:extLst>
              <a:ext uri="{FF2B5EF4-FFF2-40B4-BE49-F238E27FC236}">
                <a16:creationId xmlns:a16="http://schemas.microsoft.com/office/drawing/2014/main" id="{57D416BE-7619-4B23-DCAB-2178E313A167}"/>
              </a:ext>
            </a:extLst>
          </p:cNvPr>
          <p:cNvSpPr txBox="1"/>
          <p:nvPr/>
        </p:nvSpPr>
        <p:spPr>
          <a:xfrm>
            <a:off x="1946495" y="4245221"/>
            <a:ext cx="5068041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Antigüedad del cliente</a:t>
            </a:r>
          </a:p>
        </p:txBody>
      </p:sp>
      <p:sp>
        <p:nvSpPr>
          <p:cNvPr id="31" name="CuadroTexto 1127">
            <a:extLst>
              <a:ext uri="{FF2B5EF4-FFF2-40B4-BE49-F238E27FC236}">
                <a16:creationId xmlns:a16="http://schemas.microsoft.com/office/drawing/2014/main" id="{A7FC0D51-5412-89CD-AB02-7AB329584EA8}"/>
              </a:ext>
            </a:extLst>
          </p:cNvPr>
          <p:cNvSpPr txBox="1"/>
          <p:nvPr/>
        </p:nvSpPr>
        <p:spPr>
          <a:xfrm>
            <a:off x="1946495" y="5306584"/>
            <a:ext cx="5068039" cy="289441"/>
          </a:xfrm>
          <a:prstGeom prst="round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Ratio de abonos (último mes vs 6 meses)</a:t>
            </a:r>
          </a:p>
        </p:txBody>
      </p:sp>
      <p:sp>
        <p:nvSpPr>
          <p:cNvPr id="32" name="CuadroTexto 1129">
            <a:extLst>
              <a:ext uri="{FF2B5EF4-FFF2-40B4-BE49-F238E27FC236}">
                <a16:creationId xmlns:a16="http://schemas.microsoft.com/office/drawing/2014/main" id="{A60D0F39-A7A9-A873-04AE-A45FDFBFF9B1}"/>
              </a:ext>
            </a:extLst>
          </p:cNvPr>
          <p:cNvSpPr txBox="1"/>
          <p:nvPr/>
        </p:nvSpPr>
        <p:spPr>
          <a:xfrm>
            <a:off x="1945518" y="4741680"/>
            <a:ext cx="5068040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 algn="r">
              <a:defRPr sz="1200"/>
            </a:lvl1pPr>
          </a:lstStyle>
          <a:p>
            <a:pPr fontAlgn="t"/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Monto pasivo en soles</a:t>
            </a:r>
            <a:endParaRPr lang="es-PE" dirty="0"/>
          </a:p>
        </p:txBody>
      </p:sp>
      <p:sp>
        <p:nvSpPr>
          <p:cNvPr id="118" name="Freeform: Shape 35">
            <a:extLst>
              <a:ext uri="{FF2B5EF4-FFF2-40B4-BE49-F238E27FC236}">
                <a16:creationId xmlns:a16="http://schemas.microsoft.com/office/drawing/2014/main" id="{FDE8895E-41F2-D296-356D-F4FC6B5409A2}"/>
              </a:ext>
            </a:extLst>
          </p:cNvPr>
          <p:cNvSpPr/>
          <p:nvPr/>
        </p:nvSpPr>
        <p:spPr>
          <a:xfrm>
            <a:off x="7152079" y="3743900"/>
            <a:ext cx="209519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8.7%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reeform: Shape 35">
            <a:extLst>
              <a:ext uri="{FF2B5EF4-FFF2-40B4-BE49-F238E27FC236}">
                <a16:creationId xmlns:a16="http://schemas.microsoft.com/office/drawing/2014/main" id="{F2BBB464-BC07-D69B-A861-CC67FCC48E57}"/>
              </a:ext>
            </a:extLst>
          </p:cNvPr>
          <p:cNvSpPr/>
          <p:nvPr/>
        </p:nvSpPr>
        <p:spPr>
          <a:xfrm>
            <a:off x="7152079" y="3255254"/>
            <a:ext cx="2272637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13.5%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0" name="Freeform: Shape 35">
            <a:extLst>
              <a:ext uri="{FF2B5EF4-FFF2-40B4-BE49-F238E27FC236}">
                <a16:creationId xmlns:a16="http://schemas.microsoft.com/office/drawing/2014/main" id="{BE6DD04B-7ED7-1A25-527B-EFF9905B9BB6}"/>
              </a:ext>
            </a:extLst>
          </p:cNvPr>
          <p:cNvSpPr/>
          <p:nvPr/>
        </p:nvSpPr>
        <p:spPr>
          <a:xfrm>
            <a:off x="7152079" y="5287269"/>
            <a:ext cx="1575462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5.1%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1" name="CuadroTexto 38">
            <a:extLst>
              <a:ext uri="{FF2B5EF4-FFF2-40B4-BE49-F238E27FC236}">
                <a16:creationId xmlns:a16="http://schemas.microsoft.com/office/drawing/2014/main" id="{13D440AC-7729-4C31-A3EE-3A29424A0FDF}"/>
              </a:ext>
            </a:extLst>
          </p:cNvPr>
          <p:cNvSpPr txBox="1"/>
          <p:nvPr/>
        </p:nvSpPr>
        <p:spPr>
          <a:xfrm>
            <a:off x="7799906" y="905325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% importancia</a:t>
            </a:r>
          </a:p>
        </p:txBody>
      </p:sp>
      <p:sp>
        <p:nvSpPr>
          <p:cNvPr id="122" name="CuadroTexto 38">
            <a:extLst>
              <a:ext uri="{FF2B5EF4-FFF2-40B4-BE49-F238E27FC236}">
                <a16:creationId xmlns:a16="http://schemas.microsoft.com/office/drawing/2014/main" id="{87CB7A84-DF5E-5C90-6616-25ADF3D5A7D4}"/>
              </a:ext>
            </a:extLst>
          </p:cNvPr>
          <p:cNvSpPr txBox="1"/>
          <p:nvPr/>
        </p:nvSpPr>
        <p:spPr>
          <a:xfrm>
            <a:off x="3530619" y="905324"/>
            <a:ext cx="30973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Nombre de la variable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3" name="CuadroTexto 38">
            <a:extLst>
              <a:ext uri="{FF2B5EF4-FFF2-40B4-BE49-F238E27FC236}">
                <a16:creationId xmlns:a16="http://schemas.microsoft.com/office/drawing/2014/main" id="{0AECE77F-EA1B-EFAE-9148-B5B713B19119}"/>
              </a:ext>
            </a:extLst>
          </p:cNvPr>
          <p:cNvSpPr txBox="1"/>
          <p:nvPr/>
        </p:nvSpPr>
        <p:spPr>
          <a:xfrm>
            <a:off x="284289" y="884446"/>
            <a:ext cx="147938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63B4E5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Fuentes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8A6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0" name="Title 2">
            <a:extLst>
              <a:ext uri="{FF2B5EF4-FFF2-40B4-BE49-F238E27FC236}">
                <a16:creationId xmlns:a16="http://schemas.microsoft.com/office/drawing/2014/main" id="{0F770F45-6A0D-872B-C3F2-E958FF680767}"/>
              </a:ext>
            </a:extLst>
          </p:cNvPr>
          <p:cNvSpPr txBox="1">
            <a:spLocks/>
          </p:cNvSpPr>
          <p:nvPr/>
        </p:nvSpPr>
        <p:spPr>
          <a:xfrm>
            <a:off x="218399" y="127615"/>
            <a:ext cx="11044112" cy="79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dirty="0"/>
              <a:t>Top 10 variables del Modelo PLAFT PN Consumo Inicial</a:t>
            </a:r>
          </a:p>
        </p:txBody>
      </p:sp>
      <p:sp>
        <p:nvSpPr>
          <p:cNvPr id="2" name="Freeform: Shape 35">
            <a:extLst>
              <a:ext uri="{FF2B5EF4-FFF2-40B4-BE49-F238E27FC236}">
                <a16:creationId xmlns:a16="http://schemas.microsoft.com/office/drawing/2014/main" id="{FA9E05E1-2FF6-5256-F684-790B057B2F41}"/>
              </a:ext>
            </a:extLst>
          </p:cNvPr>
          <p:cNvSpPr/>
          <p:nvPr/>
        </p:nvSpPr>
        <p:spPr>
          <a:xfrm>
            <a:off x="7157825" y="5793121"/>
            <a:ext cx="1569716" cy="271605"/>
          </a:xfrm>
          <a:custGeom>
            <a:avLst/>
            <a:gdLst>
              <a:gd name="connsiteX0" fmla="*/ 8051661 w 8344216"/>
              <a:gd name="connsiteY0" fmla="*/ 585113 h 585112"/>
              <a:gd name="connsiteX1" fmla="*/ 292556 w 8344216"/>
              <a:gd name="connsiteY1" fmla="*/ 585113 h 585112"/>
              <a:gd name="connsiteX2" fmla="*/ 0 w 8344216"/>
              <a:gd name="connsiteY2" fmla="*/ 292556 h 585112"/>
              <a:gd name="connsiteX3" fmla="*/ 0 w 8344216"/>
              <a:gd name="connsiteY3" fmla="*/ 292556 h 585112"/>
              <a:gd name="connsiteX4" fmla="*/ 292556 w 8344216"/>
              <a:gd name="connsiteY4" fmla="*/ 0 h 585112"/>
              <a:gd name="connsiteX5" fmla="*/ 8051661 w 8344216"/>
              <a:gd name="connsiteY5" fmla="*/ 0 h 585112"/>
              <a:gd name="connsiteX6" fmla="*/ 8344217 w 8344216"/>
              <a:gd name="connsiteY6" fmla="*/ 292556 h 585112"/>
              <a:gd name="connsiteX7" fmla="*/ 8344217 w 8344216"/>
              <a:gd name="connsiteY7" fmla="*/ 292556 h 585112"/>
              <a:gd name="connsiteX8" fmla="*/ 8051661 w 8344216"/>
              <a:gd name="connsiteY8" fmla="*/ 585113 h 585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44216" h="585112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 w="25440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r" defTabSz="24382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4.8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</a:t>
            </a:r>
          </a:p>
        </p:txBody>
      </p:sp>
      <p:sp>
        <p:nvSpPr>
          <p:cNvPr id="3" name="CuadroTexto 1127">
            <a:extLst>
              <a:ext uri="{FF2B5EF4-FFF2-40B4-BE49-F238E27FC236}">
                <a16:creationId xmlns:a16="http://schemas.microsoft.com/office/drawing/2014/main" id="{E83AD24F-9875-9B5E-9AB7-A5C163BA0873}"/>
              </a:ext>
            </a:extLst>
          </p:cNvPr>
          <p:cNvSpPr txBox="1"/>
          <p:nvPr/>
        </p:nvSpPr>
        <p:spPr>
          <a:xfrm>
            <a:off x="1946495" y="5793121"/>
            <a:ext cx="5068039" cy="289441"/>
          </a:xfrm>
          <a:prstGeom prst="roundRect">
            <a:avLst/>
          </a:prstGeom>
          <a:solidFill>
            <a:srgbClr val="FFFFFF">
              <a:lumMod val="95000"/>
            </a:srgb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es-PE"/>
            </a:defPPr>
            <a:lvl1pPr>
              <a:defRPr sz="1400"/>
            </a:lvl1pPr>
          </a:lstStyle>
          <a:p>
            <a:pPr algn="r" fontAlgn="t">
              <a:defRPr/>
            </a:pPr>
            <a:r>
              <a:rPr lang="es-PE" sz="1100" kern="0" dirty="0">
                <a:solidFill>
                  <a:srgbClr val="0038A6"/>
                </a:solidFill>
                <a:latin typeface="Poppins"/>
                <a:ea typeface="+mn-lt"/>
                <a:cs typeface="Poppins"/>
              </a:rPr>
              <a:t>Indicador de productos activos</a:t>
            </a:r>
          </a:p>
        </p:txBody>
      </p:sp>
      <p:sp>
        <p:nvSpPr>
          <p:cNvPr id="6" name="Arrow: Pentagon 1095">
            <a:extLst>
              <a:ext uri="{FF2B5EF4-FFF2-40B4-BE49-F238E27FC236}">
                <a16:creationId xmlns:a16="http://schemas.microsoft.com/office/drawing/2014/main" id="{6F1A6386-D760-A96A-D1FB-1F36246DDAC7}"/>
              </a:ext>
            </a:extLst>
          </p:cNvPr>
          <p:cNvSpPr/>
          <p:nvPr/>
        </p:nvSpPr>
        <p:spPr>
          <a:xfrm>
            <a:off x="264524" y="1707695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Arrow: Pentagon 1095">
            <a:extLst>
              <a:ext uri="{FF2B5EF4-FFF2-40B4-BE49-F238E27FC236}">
                <a16:creationId xmlns:a16="http://schemas.microsoft.com/office/drawing/2014/main" id="{F2A69339-98EB-0882-8216-117C63B0B2C5}"/>
              </a:ext>
            </a:extLst>
          </p:cNvPr>
          <p:cNvSpPr/>
          <p:nvPr/>
        </p:nvSpPr>
        <p:spPr>
          <a:xfrm>
            <a:off x="264524" y="2249913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3" name="Arrow: Pentagon 1095">
            <a:extLst>
              <a:ext uri="{FF2B5EF4-FFF2-40B4-BE49-F238E27FC236}">
                <a16:creationId xmlns:a16="http://schemas.microsoft.com/office/drawing/2014/main" id="{5126BD31-9FBD-9677-BBFC-14BA9C016188}"/>
              </a:ext>
            </a:extLst>
          </p:cNvPr>
          <p:cNvSpPr/>
          <p:nvPr/>
        </p:nvSpPr>
        <p:spPr>
          <a:xfrm>
            <a:off x="261579" y="3734981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Arrow: Pentagon 1095">
            <a:extLst>
              <a:ext uri="{FF2B5EF4-FFF2-40B4-BE49-F238E27FC236}">
                <a16:creationId xmlns:a16="http://schemas.microsoft.com/office/drawing/2014/main" id="{7525FC8C-F77D-396D-47C0-498281F97FD4}"/>
              </a:ext>
            </a:extLst>
          </p:cNvPr>
          <p:cNvSpPr/>
          <p:nvPr/>
        </p:nvSpPr>
        <p:spPr>
          <a:xfrm>
            <a:off x="326825" y="1228960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" name="Arrow: Pentagon 1095">
            <a:extLst>
              <a:ext uri="{FF2B5EF4-FFF2-40B4-BE49-F238E27FC236}">
                <a16:creationId xmlns:a16="http://schemas.microsoft.com/office/drawing/2014/main" id="{F09A3521-EC7C-EBF2-2EB0-2FA127B1A8CD}"/>
              </a:ext>
            </a:extLst>
          </p:cNvPr>
          <p:cNvSpPr/>
          <p:nvPr/>
        </p:nvSpPr>
        <p:spPr>
          <a:xfrm>
            <a:off x="264524" y="5287269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Arrow: Pentagon 1095">
            <a:extLst>
              <a:ext uri="{FF2B5EF4-FFF2-40B4-BE49-F238E27FC236}">
                <a16:creationId xmlns:a16="http://schemas.microsoft.com/office/drawing/2014/main" id="{8D11ADD1-D7A3-6725-0B4C-F4C70E8F4586}"/>
              </a:ext>
            </a:extLst>
          </p:cNvPr>
          <p:cNvSpPr/>
          <p:nvPr/>
        </p:nvSpPr>
        <p:spPr>
          <a:xfrm>
            <a:off x="219746" y="4262659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33" name="Flecha: hacia arriba 32">
            <a:extLst>
              <a:ext uri="{FF2B5EF4-FFF2-40B4-BE49-F238E27FC236}">
                <a16:creationId xmlns:a16="http://schemas.microsoft.com/office/drawing/2014/main" id="{04757FF8-2CA0-C281-1492-FA04F0EEFA23}"/>
              </a:ext>
            </a:extLst>
          </p:cNvPr>
          <p:cNvSpPr/>
          <p:nvPr/>
        </p:nvSpPr>
        <p:spPr>
          <a:xfrm>
            <a:off x="11686867" y="1235950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Flecha: hacia arriba 37">
            <a:extLst>
              <a:ext uri="{FF2B5EF4-FFF2-40B4-BE49-F238E27FC236}">
                <a16:creationId xmlns:a16="http://schemas.microsoft.com/office/drawing/2014/main" id="{6EB6F48E-A533-A65A-BC5B-DB8913D5A600}"/>
              </a:ext>
            </a:extLst>
          </p:cNvPr>
          <p:cNvSpPr/>
          <p:nvPr/>
        </p:nvSpPr>
        <p:spPr>
          <a:xfrm>
            <a:off x="10608178" y="2291894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lecha: hacia arriba 7">
            <a:extLst>
              <a:ext uri="{FF2B5EF4-FFF2-40B4-BE49-F238E27FC236}">
                <a16:creationId xmlns:a16="http://schemas.microsoft.com/office/drawing/2014/main" id="{2C4EA205-5DE3-65A2-982D-46D4F2DFC02D}"/>
              </a:ext>
            </a:extLst>
          </p:cNvPr>
          <p:cNvSpPr/>
          <p:nvPr/>
        </p:nvSpPr>
        <p:spPr>
          <a:xfrm>
            <a:off x="10394432" y="2755156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Flecha: hacia arriba 19">
            <a:extLst>
              <a:ext uri="{FF2B5EF4-FFF2-40B4-BE49-F238E27FC236}">
                <a16:creationId xmlns:a16="http://schemas.microsoft.com/office/drawing/2014/main" id="{4A0D55B6-F0FD-AE4B-0FDD-FDBC11922ACC}"/>
              </a:ext>
            </a:extLst>
          </p:cNvPr>
          <p:cNvSpPr/>
          <p:nvPr/>
        </p:nvSpPr>
        <p:spPr>
          <a:xfrm rot="10800000">
            <a:off x="8866137" y="5838112"/>
            <a:ext cx="356616" cy="25961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Flecha: hacia arriba 35">
            <a:extLst>
              <a:ext uri="{FF2B5EF4-FFF2-40B4-BE49-F238E27FC236}">
                <a16:creationId xmlns:a16="http://schemas.microsoft.com/office/drawing/2014/main" id="{0EB9E97D-F163-AB12-E968-9A2DB1538019}"/>
              </a:ext>
            </a:extLst>
          </p:cNvPr>
          <p:cNvSpPr/>
          <p:nvPr/>
        </p:nvSpPr>
        <p:spPr>
          <a:xfrm>
            <a:off x="10996944" y="17691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Flecha: hacia arriba 38">
            <a:extLst>
              <a:ext uri="{FF2B5EF4-FFF2-40B4-BE49-F238E27FC236}">
                <a16:creationId xmlns:a16="http://schemas.microsoft.com/office/drawing/2014/main" id="{3720014C-C5B3-95AC-6862-2B46CEE1B5E9}"/>
              </a:ext>
            </a:extLst>
          </p:cNvPr>
          <p:cNvSpPr/>
          <p:nvPr/>
        </p:nvSpPr>
        <p:spPr>
          <a:xfrm>
            <a:off x="10113158" y="3169389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Flecha: hacia arriba 42">
            <a:extLst>
              <a:ext uri="{FF2B5EF4-FFF2-40B4-BE49-F238E27FC236}">
                <a16:creationId xmlns:a16="http://schemas.microsoft.com/office/drawing/2014/main" id="{0DB195CF-0620-EC70-B16F-D1A3A148DB6F}"/>
              </a:ext>
            </a:extLst>
          </p:cNvPr>
          <p:cNvSpPr/>
          <p:nvPr/>
        </p:nvSpPr>
        <p:spPr>
          <a:xfrm>
            <a:off x="9799966" y="3749895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5D598E28-8B76-8049-B039-CCBEB4CE416B}"/>
              </a:ext>
            </a:extLst>
          </p:cNvPr>
          <p:cNvSpPr/>
          <p:nvPr/>
        </p:nvSpPr>
        <p:spPr>
          <a:xfrm>
            <a:off x="9129812" y="4724618"/>
            <a:ext cx="356616" cy="259611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Flecha: hacia arriba 3">
            <a:extLst>
              <a:ext uri="{FF2B5EF4-FFF2-40B4-BE49-F238E27FC236}">
                <a16:creationId xmlns:a16="http://schemas.microsoft.com/office/drawing/2014/main" id="{48D7D65E-72D4-2FBD-A06C-8369430C92CE}"/>
              </a:ext>
            </a:extLst>
          </p:cNvPr>
          <p:cNvSpPr/>
          <p:nvPr/>
        </p:nvSpPr>
        <p:spPr>
          <a:xfrm>
            <a:off x="8954719" y="5262260"/>
            <a:ext cx="356616" cy="271605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Flecha: hacia arriba 13">
            <a:extLst>
              <a:ext uri="{FF2B5EF4-FFF2-40B4-BE49-F238E27FC236}">
                <a16:creationId xmlns:a16="http://schemas.microsoft.com/office/drawing/2014/main" id="{495CA5F8-789E-5D58-1382-A71124E566CD}"/>
              </a:ext>
            </a:extLst>
          </p:cNvPr>
          <p:cNvSpPr/>
          <p:nvPr/>
        </p:nvSpPr>
        <p:spPr>
          <a:xfrm rot="10800000">
            <a:off x="9369589" y="4254551"/>
            <a:ext cx="356616" cy="25961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Arrow: Pentagon 1095">
            <a:extLst>
              <a:ext uri="{FF2B5EF4-FFF2-40B4-BE49-F238E27FC236}">
                <a16:creationId xmlns:a16="http://schemas.microsoft.com/office/drawing/2014/main" id="{98886099-ABF5-9B61-2629-2A428BD70205}"/>
              </a:ext>
            </a:extLst>
          </p:cNvPr>
          <p:cNvSpPr/>
          <p:nvPr/>
        </p:nvSpPr>
        <p:spPr>
          <a:xfrm>
            <a:off x="218399" y="5849527"/>
            <a:ext cx="1713169" cy="289441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s-PE" sz="1000" dirty="0">
                <a:solidFill>
                  <a:srgbClr val="0038A6"/>
                </a:solidFill>
                <a:latin typeface="Geometria"/>
                <a:cs typeface="Calibri"/>
              </a:rPr>
              <a:t>Comportamental</a:t>
            </a:r>
          </a:p>
        </p:txBody>
      </p:sp>
      <p:sp>
        <p:nvSpPr>
          <p:cNvPr id="35" name="Arrow: Pentagon 1095">
            <a:extLst>
              <a:ext uri="{FF2B5EF4-FFF2-40B4-BE49-F238E27FC236}">
                <a16:creationId xmlns:a16="http://schemas.microsoft.com/office/drawing/2014/main" id="{5BEB8A54-D951-B0CD-9978-CFD775B0B001}"/>
              </a:ext>
            </a:extLst>
          </p:cNvPr>
          <p:cNvSpPr/>
          <p:nvPr/>
        </p:nvSpPr>
        <p:spPr>
          <a:xfrm>
            <a:off x="227668" y="4790337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7" name="Arrow: Pentagon 1095">
            <a:extLst>
              <a:ext uri="{FF2B5EF4-FFF2-40B4-BE49-F238E27FC236}">
                <a16:creationId xmlns:a16="http://schemas.microsoft.com/office/drawing/2014/main" id="{520D490B-A0EF-2B3A-159D-31599EDB5912}"/>
              </a:ext>
            </a:extLst>
          </p:cNvPr>
          <p:cNvSpPr/>
          <p:nvPr/>
        </p:nvSpPr>
        <p:spPr>
          <a:xfrm>
            <a:off x="284289" y="2774848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0" name="Arrow: Pentagon 1095">
            <a:extLst>
              <a:ext uri="{FF2B5EF4-FFF2-40B4-BE49-F238E27FC236}">
                <a16:creationId xmlns:a16="http://schemas.microsoft.com/office/drawing/2014/main" id="{C4E4CD3D-408F-2131-3D16-F2C249144916}"/>
              </a:ext>
            </a:extLst>
          </p:cNvPr>
          <p:cNvSpPr/>
          <p:nvPr/>
        </p:nvSpPr>
        <p:spPr>
          <a:xfrm>
            <a:off x="261579" y="3268404"/>
            <a:ext cx="1592624" cy="289441"/>
          </a:xfrm>
          <a:prstGeom prst="homePlate">
            <a:avLst/>
          </a:prstGeom>
          <a:solidFill>
            <a:srgbClr val="215F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Transacciones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858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B494-A16F-0D3D-D420-3D5E2651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11AA4A65-EDE1-6344-5DD0-3DD2BC309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58"/>
          <a:stretch>
            <a:fillRect/>
          </a:stretch>
        </p:blipFill>
        <p:spPr>
          <a:xfrm>
            <a:off x="1919569" y="4438804"/>
            <a:ext cx="8758263" cy="2375155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83C6A6D-40AB-2973-9C20-0FF919ECE236}"/>
              </a:ext>
            </a:extLst>
          </p:cNvPr>
          <p:cNvSpPr/>
          <p:nvPr/>
        </p:nvSpPr>
        <p:spPr>
          <a:xfrm>
            <a:off x="380396" y="5038836"/>
            <a:ext cx="938049" cy="4502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B56250FB-7D3F-1F45-8727-8E548758D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97" y="143927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dirty="0"/>
              <a:t>Backtesting</a:t>
            </a:r>
          </a:p>
          <a:p>
            <a:r>
              <a:rPr lang="es-PE" altLang="es-PE" sz="1800" dirty="0"/>
              <a:t>El modelo clasifica las alertas con riesgo en niveles de prioridad-Alertas Automáticas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AB1E254-7FE8-B12E-1C60-5D4FDC8EC6E2}"/>
              </a:ext>
            </a:extLst>
          </p:cNvPr>
          <p:cNvSpPr/>
          <p:nvPr/>
        </p:nvSpPr>
        <p:spPr>
          <a:xfrm>
            <a:off x="1950564" y="5969971"/>
            <a:ext cx="9420442" cy="310922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5890B82-198F-316E-B861-428B3E684743}"/>
              </a:ext>
            </a:extLst>
          </p:cNvPr>
          <p:cNvSpPr/>
          <p:nvPr/>
        </p:nvSpPr>
        <p:spPr>
          <a:xfrm>
            <a:off x="1997447" y="5125172"/>
            <a:ext cx="9373559" cy="384051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1148150F-23D8-98E2-371A-9B112EC53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9" y="5125173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84%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03E350AC-9204-D2FC-97C8-01ADD641E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76" y="4606184"/>
            <a:ext cx="124702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r>
              <a:rPr lang="es-PE" altLang="es-PE" sz="1200" dirty="0"/>
              <a:t>%</a:t>
            </a:r>
            <a:r>
              <a:rPr lang="es-PE" altLang="es-PE" sz="1200" dirty="0" err="1"/>
              <a:t>Recall</a:t>
            </a:r>
            <a:endParaRPr lang="es-PE" altLang="es-PE" sz="1200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FA7D563C-8A8A-52D2-B7E0-7866DAECDF7F}"/>
              </a:ext>
            </a:extLst>
          </p:cNvPr>
          <p:cNvSpPr/>
          <p:nvPr/>
        </p:nvSpPr>
        <p:spPr>
          <a:xfrm>
            <a:off x="1384516" y="5128178"/>
            <a:ext cx="410854" cy="31092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8E93C82E-6295-B327-D82B-F17065A486FD}"/>
              </a:ext>
            </a:extLst>
          </p:cNvPr>
          <p:cNvSpPr/>
          <p:nvPr/>
        </p:nvSpPr>
        <p:spPr>
          <a:xfrm>
            <a:off x="1384516" y="6053328"/>
            <a:ext cx="410854" cy="31092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DF814890-2082-1986-E206-544B4F5B2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15" y="5764882"/>
            <a:ext cx="1368455" cy="7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pPr algn="ctr"/>
            <a:endParaRPr lang="es-PE" altLang="es-PE" sz="1200" dirty="0"/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333D2648-E558-51B7-70EC-6ACC9E771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4" y="6191019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85%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9188C53-DCF6-3D68-25FC-4DCC5021A32C}"/>
              </a:ext>
            </a:extLst>
          </p:cNvPr>
          <p:cNvSpPr/>
          <p:nvPr/>
        </p:nvSpPr>
        <p:spPr>
          <a:xfrm>
            <a:off x="339469" y="5934456"/>
            <a:ext cx="938049" cy="45020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0DC851CC-9163-2743-6AB3-E995E856E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2" y="5985295"/>
            <a:ext cx="838016" cy="37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PE"/>
            </a:defPPr>
            <a:lvl1pPr marR="0" lvl="0" indent="0" defTabSz="1317365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defRPr>
            </a:lvl1pPr>
            <a:lvl2pPr marL="988022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>
                <a:latin typeface="Poppins" pitchFamily="2" charset="77"/>
                <a:cs typeface="Poppins" pitchFamily="2" charset="77"/>
              </a:defRPr>
            </a:lvl2pPr>
            <a:lvl3pPr marL="1646705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>
                <a:latin typeface="Poppins" pitchFamily="2" charset="77"/>
                <a:cs typeface="Poppins" pitchFamily="2" charset="77"/>
              </a:defRPr>
            </a:lvl3pPr>
            <a:lvl4pPr marL="230538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4pPr>
            <a:lvl5pPr marL="2964069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>
                <a:latin typeface="Poppins" pitchFamily="2" charset="77"/>
                <a:cs typeface="Poppins" pitchFamily="2" charset="77"/>
              </a:defRPr>
            </a:lvl5pPr>
            <a:lvl6pPr marL="3622751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6pPr>
            <a:lvl7pPr marL="428143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7pPr>
            <a:lvl8pPr marL="4940114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8pPr>
            <a:lvl9pPr marL="5598797" indent="-329340" defTabSz="1317365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/>
            </a:lvl9pPr>
          </a:lstStyle>
          <a:p>
            <a:r>
              <a:rPr lang="es-PE" altLang="es-PE" sz="1800" dirty="0">
                <a:solidFill>
                  <a:schemeClr val="bg1"/>
                </a:solidFill>
              </a:rPr>
              <a:t>3%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F363E96-DDC3-1059-F0C9-6E46BD611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70" y="815259"/>
            <a:ext cx="9373559" cy="35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12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83A15C0-8D62-C359-C594-B8115D41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400" y="2411530"/>
            <a:ext cx="2572246" cy="4072723"/>
          </a:xfrm>
          <a:prstGeom prst="rect">
            <a:avLst/>
          </a:prstGeom>
        </p:spPr>
      </p:pic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0AC34DD-C796-8B55-D8D2-2986EBFCCED2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4845084" y="4121643"/>
            <a:ext cx="3118892" cy="652498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7">
            <a:extLst>
              <a:ext uri="{FF2B5EF4-FFF2-40B4-BE49-F238E27FC236}">
                <a16:creationId xmlns:a16="http://schemas.microsoft.com/office/drawing/2014/main" id="{B73275F1-97B2-4A1B-C677-9E3449ACA3EC}"/>
              </a:ext>
            </a:extLst>
          </p:cNvPr>
          <p:cNvSpPr/>
          <p:nvPr/>
        </p:nvSpPr>
        <p:spPr>
          <a:xfrm>
            <a:off x="289687" y="699500"/>
            <a:ext cx="5760000" cy="5898524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6" name="Rectángulo redondeado 7">
            <a:extLst>
              <a:ext uri="{FF2B5EF4-FFF2-40B4-BE49-F238E27FC236}">
                <a16:creationId xmlns:a16="http://schemas.microsoft.com/office/drawing/2014/main" id="{2CB775A5-DA53-EF6F-D66F-C1E0E64B88D7}"/>
              </a:ext>
            </a:extLst>
          </p:cNvPr>
          <p:cNvSpPr/>
          <p:nvPr/>
        </p:nvSpPr>
        <p:spPr>
          <a:xfrm>
            <a:off x="6160294" y="718882"/>
            <a:ext cx="5760000" cy="5879142"/>
          </a:xfrm>
          <a:prstGeom prst="roundRect">
            <a:avLst>
              <a:gd name="adj" fmla="val 4090"/>
            </a:avLst>
          </a:prstGeom>
          <a:noFill/>
          <a:ln w="12700">
            <a:solidFill>
              <a:srgbClr val="001E5F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+mn-cs"/>
            </a:endParaRP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1693916-947A-B098-2697-F6E2363C2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05" y="136628"/>
            <a:ext cx="11808005" cy="56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28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Diseño de Piloto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471F5121-C45B-DEA3-F30B-04CDE83FD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28" y="1337847"/>
            <a:ext cx="5165767" cy="100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 Cliente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con alertas automáticas</a:t>
            </a:r>
          </a:p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1800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 En Abril - 26</a:t>
            </a: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FA16BC4A-25AD-B76C-7293-71DF1DD64860}"/>
              </a:ext>
            </a:extLst>
          </p:cNvPr>
          <p:cNvSpPr/>
          <p:nvPr/>
        </p:nvSpPr>
        <p:spPr>
          <a:xfrm>
            <a:off x="7623914" y="4020504"/>
            <a:ext cx="1572328" cy="13274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90E49F5-FF47-2ACE-F14F-5662D25E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861" t="5270" b="8177"/>
          <a:stretch>
            <a:fillRect/>
          </a:stretch>
        </p:blipFill>
        <p:spPr>
          <a:xfrm>
            <a:off x="7988605" y="3998554"/>
            <a:ext cx="974550" cy="643595"/>
          </a:xfrm>
          <a:prstGeom prst="rect">
            <a:avLst/>
          </a:prstGeom>
        </p:spPr>
      </p:pic>
      <p:pic>
        <p:nvPicPr>
          <p:cNvPr id="22" name="Picture 6" descr="Iconos Verdes de Inteligencia artificial - Descarga SVG, PNG, GIF Gratis">
            <a:extLst>
              <a:ext uri="{FF2B5EF4-FFF2-40B4-BE49-F238E27FC236}">
                <a16:creationId xmlns:a16="http://schemas.microsoft.com/office/drawing/2014/main" id="{2FB08F42-92C1-60C5-F836-F68479B68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369" y="3606485"/>
            <a:ext cx="392070" cy="3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13F79D8-FB5D-A884-50E1-BCFF258E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5" t="44059" r="-505" b="30543"/>
          <a:stretch>
            <a:fillRect/>
          </a:stretch>
        </p:blipFill>
        <p:spPr>
          <a:xfrm>
            <a:off x="7632303" y="4684217"/>
            <a:ext cx="1572904" cy="337552"/>
          </a:xfrm>
          <a:prstGeom prst="rect">
            <a:avLst/>
          </a:prstGeom>
        </p:spPr>
      </p:pic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DDF55-0258-4C02-4496-DD33E2463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477" y="3076178"/>
            <a:ext cx="3360658" cy="8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Oportunidad de nueva base potencial con riesgo</a:t>
            </a:r>
          </a:p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PE" altLang="es-PE" sz="1400" b="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 SemiBold"/>
              <a:ea typeface="Geometria" panose="020B0503020204020204" pitchFamily="34" charset="0"/>
              <a:cs typeface="Poppins SemiBold"/>
            </a:endParaRP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93176618-40D7-AD21-5858-C8E1FD339E53}"/>
              </a:ext>
            </a:extLst>
          </p:cNvPr>
          <p:cNvSpPr/>
          <p:nvPr/>
        </p:nvSpPr>
        <p:spPr>
          <a:xfrm rot="5400000">
            <a:off x="8931480" y="3982220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765A62C1-F748-AEE8-D90D-7FA764DD0B10}"/>
              </a:ext>
            </a:extLst>
          </p:cNvPr>
          <p:cNvSpPr/>
          <p:nvPr/>
        </p:nvSpPr>
        <p:spPr>
          <a:xfrm rot="5400000">
            <a:off x="9092848" y="4343583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4E3681DF-41C1-BF08-0CAC-9439AF432AFC}"/>
              </a:ext>
            </a:extLst>
          </p:cNvPr>
          <p:cNvSpPr txBox="1"/>
          <p:nvPr/>
        </p:nvSpPr>
        <p:spPr>
          <a:xfrm>
            <a:off x="8945803" y="4360026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0</a:t>
            </a:r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A75501D5-EABC-FC28-013C-B8BF8C85ED92}"/>
              </a:ext>
            </a:extLst>
          </p:cNvPr>
          <p:cNvSpPr/>
          <p:nvPr/>
        </p:nvSpPr>
        <p:spPr>
          <a:xfrm rot="5400000">
            <a:off x="9257116" y="4658798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610BE978-A79B-9870-7051-8C5A8589708B}"/>
              </a:ext>
            </a:extLst>
          </p:cNvPr>
          <p:cNvSpPr txBox="1"/>
          <p:nvPr/>
        </p:nvSpPr>
        <p:spPr>
          <a:xfrm>
            <a:off x="9110071" y="4675241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noProof="0" dirty="0">
                <a:solidFill>
                  <a:srgbClr val="005F1E"/>
                </a:solidFill>
                <a:latin typeface="Poppins"/>
                <a:cs typeface="Poppins"/>
              </a:rPr>
              <a:t>0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0D0A043-9088-6167-C231-7E715EFBA8F3}"/>
              </a:ext>
            </a:extLst>
          </p:cNvPr>
          <p:cNvSpPr txBox="1"/>
          <p:nvPr/>
        </p:nvSpPr>
        <p:spPr>
          <a:xfrm>
            <a:off x="6962115" y="1366729"/>
            <a:ext cx="4461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3M </a:t>
            </a:r>
            <a:r>
              <a:rPr lang="es-PE" altLang="es-PE" dirty="0">
                <a:solidFill>
                  <a:srgbClr val="005F1E"/>
                </a:solidFill>
                <a:latin typeface="Poppins SemiBold"/>
                <a:ea typeface="Geometria" panose="020B0503020204020204" pitchFamily="34" charset="0"/>
                <a:cs typeface="Poppins SemiBold"/>
              </a:rPr>
              <a:t>Clientes</a:t>
            </a: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 totales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55692AA8-8161-5634-7F04-5FF7F35B4E8C}"/>
              </a:ext>
            </a:extLst>
          </p:cNvPr>
          <p:cNvSpPr/>
          <p:nvPr/>
        </p:nvSpPr>
        <p:spPr>
          <a:xfrm rot="5400000">
            <a:off x="9481725" y="4992082"/>
            <a:ext cx="206786" cy="4933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0A8F51C3-8237-BF86-1DC8-1F2080D2D9D2}"/>
              </a:ext>
            </a:extLst>
          </p:cNvPr>
          <p:cNvSpPr txBox="1"/>
          <p:nvPr/>
        </p:nvSpPr>
        <p:spPr>
          <a:xfrm>
            <a:off x="9334680" y="5008525"/>
            <a:ext cx="1795432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+3 </a:t>
            </a:r>
            <a:r>
              <a:rPr lang="es-ES" sz="1600" b="1" dirty="0">
                <a:solidFill>
                  <a:srgbClr val="005F1E"/>
                </a:solidFill>
                <a:latin typeface="Poppins"/>
                <a:cs typeface="Poppins"/>
              </a:rPr>
              <a:t>M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F3C4B968-EDB9-C877-202B-E37E582DBDC9}"/>
              </a:ext>
            </a:extLst>
          </p:cNvPr>
          <p:cNvSpPr txBox="1"/>
          <p:nvPr/>
        </p:nvSpPr>
        <p:spPr>
          <a:xfrm>
            <a:off x="10202488" y="4667384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(corte por score</a:t>
            </a:r>
            <a:r>
              <a:rPr lang="es-ES" sz="9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  <a:endParaRPr kumimoji="0" lang="es-ES" sz="900" i="0" u="none" strike="noStrike" kern="1200" cap="none" spc="0" normalizeH="0" baseline="0" noProof="0" dirty="0">
              <a:ln>
                <a:noFill/>
              </a:ln>
              <a:solidFill>
                <a:srgbClr val="005F1E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E6C0AF9F-29DE-6E7B-4285-1261D6B95DC7}"/>
              </a:ext>
            </a:extLst>
          </p:cNvPr>
          <p:cNvSpPr/>
          <p:nvPr/>
        </p:nvSpPr>
        <p:spPr>
          <a:xfrm rot="3359464">
            <a:off x="4435521" y="4668576"/>
            <a:ext cx="421973" cy="47910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6CB50C23-D1FC-3ABB-869B-9FFEEE8140C4}"/>
              </a:ext>
            </a:extLst>
          </p:cNvPr>
          <p:cNvSpPr/>
          <p:nvPr/>
        </p:nvSpPr>
        <p:spPr>
          <a:xfrm>
            <a:off x="8076358" y="3882406"/>
            <a:ext cx="598711" cy="392070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redondeado 29">
            <a:extLst>
              <a:ext uri="{FF2B5EF4-FFF2-40B4-BE49-F238E27FC236}">
                <a16:creationId xmlns:a16="http://schemas.microsoft.com/office/drawing/2014/main" id="{BB82FBDE-A8AC-D7C2-A84C-9CB01CFA6588}"/>
              </a:ext>
            </a:extLst>
          </p:cNvPr>
          <p:cNvSpPr/>
          <p:nvPr/>
        </p:nvSpPr>
        <p:spPr>
          <a:xfrm>
            <a:off x="289687" y="689738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A</a:t>
            </a: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cs typeface="Poppins SemiBold" panose="00000700000000000000" pitchFamily="2" charset="0"/>
              </a:rPr>
              <a:t>lertas Generadas por el Sistema de Monitoreo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41ACFD8-9066-DFC0-1786-F503E9314308}"/>
              </a:ext>
            </a:extLst>
          </p:cNvPr>
          <p:cNvSpPr/>
          <p:nvPr/>
        </p:nvSpPr>
        <p:spPr>
          <a:xfrm>
            <a:off x="1699430" y="4447891"/>
            <a:ext cx="2919128" cy="1218967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59C1233-2613-428E-0354-507DA2DF075C}"/>
              </a:ext>
            </a:extLst>
          </p:cNvPr>
          <p:cNvSpPr txBox="1"/>
          <p:nvPr/>
        </p:nvSpPr>
        <p:spPr>
          <a:xfrm>
            <a:off x="9892871" y="4341957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algn="ctr">
              <a:lnSpc>
                <a:spcPts val="3000"/>
              </a:lnSpc>
              <a:spcBef>
                <a:spcPts val="1090"/>
              </a:spcBef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(P1 riesgo)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09C0DAE-419B-CB25-AB15-F1672DD9E54B}"/>
              </a:ext>
            </a:extLst>
          </p:cNvPr>
          <p:cNvSpPr txBox="1"/>
          <p:nvPr/>
        </p:nvSpPr>
        <p:spPr>
          <a:xfrm>
            <a:off x="8805501" y="3994831"/>
            <a:ext cx="1664976" cy="355504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defTabSz="914400" rtl="0" eaLnBrk="1" fontAlgn="auto" latinLnBrk="0" hangingPunct="1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0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34D4A28-BE05-5794-6010-EC267CB8C2B5}"/>
              </a:ext>
            </a:extLst>
          </p:cNvPr>
          <p:cNvSpPr txBox="1"/>
          <p:nvPr/>
        </p:nvSpPr>
        <p:spPr>
          <a:xfrm>
            <a:off x="9758645" y="3979210"/>
            <a:ext cx="1664976" cy="341141"/>
          </a:xfrm>
          <a:prstGeom prst="rect">
            <a:avLst/>
          </a:prstGeom>
        </p:spPr>
        <p:txBody>
          <a:bodyPr vert="horz" wrap="square" lIns="0" tIns="9420" rIns="0" bIns="0" rtlCol="0" anchor="t">
            <a:spAutoFit/>
          </a:bodyPr>
          <a:lstStyle/>
          <a:p>
            <a:pPr marL="24765" marR="3175" lvl="0" indent="0" algn="ctr" fontAlgn="auto">
              <a:lnSpc>
                <a:spcPts val="30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(</a:t>
            </a:r>
            <a:r>
              <a:rPr lang="es-PE" sz="1200" dirty="0" err="1">
                <a:solidFill>
                  <a:srgbClr val="005F1E"/>
                </a:solidFill>
                <a:latin typeface="Poppins"/>
                <a:cs typeface="Poppins"/>
              </a:rPr>
              <a:t>Thresholds</a:t>
            </a:r>
            <a:r>
              <a:rPr lang="es-PE" sz="1200" dirty="0">
                <a:solidFill>
                  <a:srgbClr val="005F1E"/>
                </a:solidFill>
                <a:latin typeface="Poppins"/>
                <a:cs typeface="Poppins"/>
              </a:rPr>
              <a:t> óptimo</a:t>
            </a:r>
            <a:r>
              <a:rPr lang="es-ES" sz="1200" dirty="0">
                <a:solidFill>
                  <a:srgbClr val="005F1E"/>
                </a:solidFill>
                <a:latin typeface="Poppins"/>
                <a:cs typeface="Poppins"/>
              </a:rPr>
              <a:t>)</a:t>
            </a:r>
          </a:p>
        </p:txBody>
      </p:sp>
      <p:sp>
        <p:nvSpPr>
          <p:cNvPr id="5" name="Rectángulo redondeado 29">
            <a:extLst>
              <a:ext uri="{FF2B5EF4-FFF2-40B4-BE49-F238E27FC236}">
                <a16:creationId xmlns:a16="http://schemas.microsoft.com/office/drawing/2014/main" id="{D10F5E71-3838-65CA-3C99-6F9C97160538}"/>
              </a:ext>
            </a:extLst>
          </p:cNvPr>
          <p:cNvSpPr/>
          <p:nvPr/>
        </p:nvSpPr>
        <p:spPr>
          <a:xfrm>
            <a:off x="6160294" y="689737"/>
            <a:ext cx="5760000" cy="453327"/>
          </a:xfrm>
          <a:prstGeom prst="roundRect">
            <a:avLst/>
          </a:prstGeom>
          <a:solidFill>
            <a:srgbClr val="1F459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s-PE" sz="1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Clientes sin alertas</a:t>
            </a:r>
            <a:endParaRPr kumimoji="0" lang="es-PE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EDEE6D-D17F-076F-B681-BC9DD8C3B494}"/>
              </a:ext>
            </a:extLst>
          </p:cNvPr>
          <p:cNvSpPr txBox="1"/>
          <p:nvPr/>
        </p:nvSpPr>
        <p:spPr>
          <a:xfrm>
            <a:off x="8302029" y="60468"/>
            <a:ext cx="3822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alt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/>
                <a:ea typeface="Geometria" panose="020B0503020204020204" pitchFamily="34" charset="0"/>
                <a:cs typeface="Poppins SemiBold"/>
              </a:rPr>
              <a:t>Mediana Empresa y Corporativo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D758CC6-8963-247C-8AFC-E3EFBE176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813" y="3863341"/>
            <a:ext cx="1209675" cy="31432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3427FB6-85ED-BF0C-B15F-E129CE856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19" y="4599243"/>
            <a:ext cx="609600" cy="31432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E77CFBE1-4BD5-8DA1-46BB-14C40C3DA2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277" y="5270021"/>
            <a:ext cx="5715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7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/>
      <p:bldP spid="28" grpId="0" animBg="1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41" grpId="0"/>
      <p:bldP spid="45" grpId="0" animBg="1"/>
      <p:bldP spid="15" grpId="0" animBg="1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6101</TotalTime>
  <Words>578</Words>
  <Application>Microsoft Office PowerPoint</Application>
  <PresentationFormat>Panorámica</PresentationFormat>
  <Paragraphs>201</Paragraphs>
  <Slides>10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Modelo predictivo PLAFT  </vt:lpstr>
      <vt:lpstr>Presentación de PowerPoint</vt:lpstr>
      <vt:lpstr>Presentación de PowerPoint</vt:lpstr>
      <vt:lpstr>Presentación de PowerPoint</vt:lpstr>
      <vt:lpstr>Presentación de PowerPoint</vt:lpstr>
      <vt:lpstr>Modelo predictivo PLAFT 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Reyes Obispo, Angel De Jesus Francisco</dc:creator>
  <cp:lastModifiedBy>DA TALENT.Matteucci , Nadina Daiana</cp:lastModifiedBy>
  <cp:revision>21</cp:revision>
  <dcterms:created xsi:type="dcterms:W3CDTF">2026-06-05T13:24:54Z</dcterms:created>
  <dcterms:modified xsi:type="dcterms:W3CDTF">2026-06-18T20:23:04Z</dcterms:modified>
</cp:coreProperties>
</file>